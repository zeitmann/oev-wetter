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Begrüssung, Thema in einem Satz: Wir untersuchen, ob und wie stark Niederschlag, Schnee und Frost die Pünktlichkeit von Bahn und Bus in der Ostschweiz beeinflussen. Danach stellen wir die drei Teile der Reihe nach vor.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30 Sekunden. Kurz den Ablauf nennen: Jede Person präsentiert einen eigenständigen Teil. Danach Diskussion im Plenum.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Warum ist das Thema relevant? Drei Nutzergruppen nennen. Die Ostschweiz mischt Flachland, Voralpen und Hügelland, deshalb ist sie für eine Wetteranalyse interessant. Das Wetter wirkt je nach Verkehrsmittel und Tageszeit vermutlich unterschiedlich.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Forschungsfrage vorlesen, dann die drei Hypothesen. H1 fragt, ob es einen Effekt gibt, H2 und H3 fragen, ob er je nach Verkehrsmittel und Tageszeit unterschiedlich stark ist. Zu H1: Der Test vergleicht starken Niederschlag mit allen übrigen Stunden. Schnee ist keine eigene Hypothese, er wird ergänzend nach demselben Vorgehen ausgewertet (Schneedecke oder Niederschlag bei Frost), weil SwissMetNet keinen einheitlichen Schneefall misst.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Wie messen wir? Verspätungen sind rechtsschief, deshalb rangbasierte Tests statt t-Test. Bei Millionen von Halten wird fast alles signifikant, darum immer auch die Effektstärke. Für H2 und H3 prüfen wir mit einer Wechselwirkung, ob der Effekt je nach Verkehrsmittel oder Tageszeit unterschiedlich ist. Quelle der 3-Minuten-Schwelle: SBB AG (o. 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90 Sekunden. Der Lifecycle nach den Kursfolien (Reis &amp; Housley). Wir besitzen keine Quellsysteme, alle Daten sind offene Daten. Ingestion läuft als Batch, weil historische Archive. Storage ist DuckDB, Begründung im Teil von Aladin. Als Unterströmungen: Security (nur offene Daten, Rohdaten nur mit ZHAW-Konto), Data Management (Quellenprofile, Schema-Absprache), DataOps (idempotente Ingestion, Log), Data Architecture (skalierbar, PostgreSQL als nächste Stufe), Orchestration (manuell, feste Reihenfolge der Skripte), Software Engineering (Python, SQL, Git). Serving: Web-Dashboard in Teil 2. Details in docs/lifecycle.md.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Ausblick, ca. 30 Sekunden. Das Ergebnis soll als Web-Dashboard dargestellt werden (Serving-Option A). Danach Überleitung zur Diskussion.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Links sind anklickbar.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chive.opentransportdata.swiss/actual_data_archive.htm" TargetMode="External"/><Relationship Id="rId4" Type="http://schemas.openxmlformats.org/officeDocument/2006/relationships/hyperlink" Target="https://archive.opentransportdata.swiss/timetable_gtfs.htm" TargetMode="External"/><Relationship Id="rId5" Type="http://schemas.openxmlformats.org/officeDocument/2006/relationships/hyperlink" Target="https://www.swisstopo.admin.ch" TargetMode="External"/><Relationship Id="rId6" Type="http://schemas.openxmlformats.org/officeDocument/2006/relationships/hyperlink" Target="https://company.sbb.ch/de/unternehmen/verantwortung/kunden/puenktlichkeit.html" TargetMode="External"/><Relationship Id="rId7" Type="http://schemas.openxmlformats.org/officeDocument/2006/relationships/hyperlink" Target="https://duckdb.org/doc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4" name="TextBox 3"/>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a:t>
            </a:r>
          </a:p>
        </p:txBody>
      </p:sp>
      <p:sp>
        <p:nvSpPr>
          <p:cNvPr id="5" name="TextBox 4"/>
          <p:cNvSpPr txBox="1"/>
          <p:nvPr/>
        </p:nvSpPr>
        <p:spPr>
          <a:xfrm>
            <a:off x="502920" y="1188720"/>
            <a:ext cx="6583680" cy="457200"/>
          </a:xfrm>
          <a:prstGeom prst="rect">
            <a:avLst/>
          </a:prstGeom>
          <a:noFill/>
        </p:spPr>
        <p:txBody>
          <a:bodyPr wrap="square">
            <a:spAutoFit/>
          </a:bodyPr>
          <a:lstStyle/>
          <a:p>
            <a:pPr>
              <a:spcAft>
                <a:spcPts val="1200"/>
              </a:spcAft>
              <a:defRPr sz="1800" b="1" i="0">
                <a:solidFill>
                  <a:srgbClr val="167D8D"/>
                </a:solidFill>
                <a:latin typeface="Aptos"/>
              </a:defRPr>
            </a:pPr>
            <a:r>
              <a:t>PROJEKTARBEIT TEIL 1 · DATA ENGINEERING HS26</a:t>
            </a:r>
          </a:p>
        </p:txBody>
      </p:sp>
      <p:sp>
        <p:nvSpPr>
          <p:cNvPr id="6" name="TextBox 5"/>
          <p:cNvSpPr txBox="1"/>
          <p:nvPr/>
        </p:nvSpPr>
        <p:spPr>
          <a:xfrm>
            <a:off x="502920" y="1691640"/>
            <a:ext cx="6949440" cy="2194560"/>
          </a:xfrm>
          <a:prstGeom prst="rect">
            <a:avLst/>
          </a:prstGeom>
          <a:noFill/>
        </p:spPr>
        <p:txBody>
          <a:bodyPr wrap="square">
            <a:spAutoFit/>
          </a:bodyPr>
          <a:lstStyle/>
          <a:p>
            <a:pPr>
              <a:spcAft>
                <a:spcPts val="0"/>
              </a:spcAft>
              <a:defRPr sz="4000" b="1" i="0">
                <a:solidFill>
                  <a:srgbClr val="17364A"/>
                </a:solidFill>
                <a:latin typeface="Aptos"/>
              </a:defRPr>
            </a:pPr>
            <a:r>
              <a:t>Beeinflusst das Wetter die Pünktlichkeit des öV?</a:t>
            </a:r>
          </a:p>
        </p:txBody>
      </p:sp>
      <p:sp>
        <p:nvSpPr>
          <p:cNvPr id="7" name="TextBox 6"/>
          <p:cNvSpPr txBox="1"/>
          <p:nvPr/>
        </p:nvSpPr>
        <p:spPr>
          <a:xfrm>
            <a:off x="502920" y="3429000"/>
            <a:ext cx="7772400" cy="548640"/>
          </a:xfrm>
          <a:prstGeom prst="rect">
            <a:avLst/>
          </a:prstGeom>
          <a:noFill/>
        </p:spPr>
        <p:txBody>
          <a:bodyPr wrap="square">
            <a:spAutoFit/>
          </a:bodyPr>
          <a:lstStyle/>
          <a:p>
            <a:pPr>
              <a:spcAft>
                <a:spcPts val="1200"/>
              </a:spcAft>
              <a:defRPr sz="2400" b="1" i="0">
                <a:solidFill>
                  <a:srgbClr val="167D8D"/>
                </a:solidFill>
                <a:latin typeface="Aptos"/>
              </a:defRPr>
            </a:pPr>
            <a:r>
              <a:t>Bahn und Bus in der Ostschweiz, Winter 2026</a:t>
            </a:r>
          </a:p>
        </p:txBody>
      </p:sp>
      <p:sp>
        <p:nvSpPr>
          <p:cNvPr id="8" name="TextBox 7"/>
          <p:cNvSpPr txBox="1"/>
          <p:nvPr/>
        </p:nvSpPr>
        <p:spPr>
          <a:xfrm>
            <a:off x="502920" y="4114800"/>
            <a:ext cx="7772400" cy="457200"/>
          </a:xfrm>
          <a:prstGeom prst="rect">
            <a:avLst/>
          </a:prstGeom>
          <a:noFill/>
        </p:spPr>
        <p:txBody>
          <a:bodyPr wrap="square">
            <a:spAutoFit/>
          </a:bodyPr>
          <a:lstStyle/>
          <a:p>
            <a:pPr>
              <a:spcAft>
                <a:spcPts val="1200"/>
              </a:spcAft>
              <a:defRPr sz="2000" b="0" i="0">
                <a:solidFill>
                  <a:srgbClr val="17364A"/>
                </a:solidFill>
                <a:latin typeface="Aptos"/>
              </a:defRPr>
            </a:pPr>
            <a:r>
              <a:t>Gruppe 4: Farizi Enis, Kermo Aladin, Wallroth Timon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Aufbau des Referats</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2</a:t>
            </a:r>
          </a:p>
        </p:txBody>
      </p:sp>
      <p:sp>
        <p:nvSpPr>
          <p:cNvPr id="6" name="Rounded Rectangle 5"/>
          <p:cNvSpPr/>
          <p:nvPr/>
        </p:nvSpPr>
        <p:spPr>
          <a:xfrm>
            <a:off x="50292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A · Timon</a:t>
            </a:r>
          </a:p>
        </p:txBody>
      </p:sp>
      <p:sp>
        <p:nvSpPr>
          <p:cNvPr id="8" name="TextBox 7"/>
          <p:cNvSpPr txBox="1"/>
          <p:nvPr/>
        </p:nvSpPr>
        <p:spPr>
          <a:xfrm>
            <a:off x="73152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Konzept und Rahmen</a:t>
            </a:r>
          </a:p>
        </p:txBody>
      </p:sp>
      <p:sp>
        <p:nvSpPr>
          <p:cNvPr id="9" name="TextBox 8"/>
          <p:cNvSpPr txBox="1"/>
          <p:nvPr/>
        </p:nvSpPr>
        <p:spPr>
          <a:xfrm>
            <a:off x="73152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Problemstellung, Forschungsfrage, Hypothesen, Methodik, Lifecycle</a:t>
            </a:r>
          </a:p>
        </p:txBody>
      </p:sp>
      <p:sp>
        <p:nvSpPr>
          <p:cNvPr id="10" name="Rounded Rectangle 9"/>
          <p:cNvSpPr/>
          <p:nvPr/>
        </p:nvSpPr>
        <p:spPr>
          <a:xfrm>
            <a:off x="429768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B · Aladin</a:t>
            </a:r>
          </a:p>
        </p:txBody>
      </p:sp>
      <p:sp>
        <p:nvSpPr>
          <p:cNvPr id="12" name="TextBox 11"/>
          <p:cNvSpPr txBox="1"/>
          <p:nvPr/>
        </p:nvSpPr>
        <p:spPr>
          <a:xfrm>
            <a:off x="452628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Datenbeschaffung und Speicherung</a:t>
            </a:r>
          </a:p>
        </p:txBody>
      </p:sp>
      <p:sp>
        <p:nvSpPr>
          <p:cNvPr id="13" name="TextBox 12"/>
          <p:cNvSpPr txBox="1"/>
          <p:nvPr/>
        </p:nvSpPr>
        <p:spPr>
          <a:xfrm>
            <a:off x="452628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Ist-Daten, Ingestion, Storage-Entscheid, Datenmodell</a:t>
            </a:r>
          </a:p>
        </p:txBody>
      </p:sp>
      <p:sp>
        <p:nvSpPr>
          <p:cNvPr id="14" name="Rounded Rectangle 13"/>
          <p:cNvSpPr/>
          <p:nvPr/>
        </p:nvSpPr>
        <p:spPr>
          <a:xfrm>
            <a:off x="809244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C · Enis</a:t>
            </a:r>
          </a:p>
        </p:txBody>
      </p:sp>
      <p:sp>
        <p:nvSpPr>
          <p:cNvPr id="16" name="TextBox 15"/>
          <p:cNvSpPr txBox="1"/>
          <p:nvPr/>
        </p:nvSpPr>
        <p:spPr>
          <a:xfrm>
            <a:off x="832104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verknüpfen</a:t>
            </a:r>
          </a:p>
        </p:txBody>
      </p:sp>
      <p:sp>
        <p:nvSpPr>
          <p:cNvPr id="17" name="TextBox 16"/>
          <p:cNvSpPr txBox="1"/>
          <p:nvPr/>
        </p:nvSpPr>
        <p:spPr>
          <a:xfrm>
            <a:off x="832104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Wetterdaten, Bereinigung, Join, Resultate, Limitationen</a:t>
            </a:r>
          </a:p>
        </p:txBody>
      </p:sp>
      <p:sp>
        <p:nvSpPr>
          <p:cNvPr id="18" name="TextBox 17"/>
          <p:cNvSpPr txBox="1"/>
          <p:nvPr/>
        </p:nvSpPr>
        <p:spPr>
          <a:xfrm>
            <a:off x="502920" y="5120640"/>
            <a:ext cx="10972800" cy="457200"/>
          </a:xfrm>
          <a:prstGeom prst="rect">
            <a:avLst/>
          </a:prstGeom>
          <a:noFill/>
        </p:spPr>
        <p:txBody>
          <a:bodyPr wrap="square">
            <a:spAutoFit/>
          </a:bodyPr>
          <a:lstStyle/>
          <a:p>
            <a:pPr>
              <a:spcAft>
                <a:spcPts val="1200"/>
              </a:spcAft>
              <a:defRPr sz="2200" b="1" i="0">
                <a:solidFill>
                  <a:srgbClr val="167D8D"/>
                </a:solidFill>
                <a:latin typeface="Aptos"/>
              </a:defRPr>
            </a:pPr>
            <a:r>
              <a:t>Danach: Fragen und Diskussion im Plenum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Problemstellung: Wetter und Pünktlichkeit im öV</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3</a:t>
            </a:r>
          </a:p>
        </p:txBody>
      </p:sp>
      <p:sp>
        <p:nvSpPr>
          <p:cNvPr id="6" name="TextBox 5"/>
          <p:cNvSpPr txBox="1"/>
          <p:nvPr/>
        </p:nvSpPr>
        <p:spPr>
          <a:xfrm>
            <a:off x="502920" y="1188720"/>
            <a:ext cx="11155680" cy="1097280"/>
          </a:xfrm>
          <a:prstGeom prst="rect">
            <a:avLst/>
          </a:prstGeom>
          <a:noFill/>
        </p:spPr>
        <p:txBody>
          <a:bodyPr wrap="square">
            <a:spAutoFit/>
          </a:bodyPr>
          <a:lstStyle/>
          <a:p>
            <a:pPr>
              <a:spcAft>
                <a:spcPts val="1200"/>
              </a:spcAft>
              <a:defRPr sz="2300" b="0" i="0">
                <a:solidFill>
                  <a:srgbClr val="17364A"/>
                </a:solidFill>
                <a:latin typeface="Aptos"/>
              </a:defRPr>
            </a:pPr>
            <a:r>
              <a:t>Verspätungen kosten Anschlüsse, Geld und Vertrauen. Im Winter kommen Niederschlag, Schnee und Frost dazu, die niemand steuern, aber berücksichtigen kann.</a:t>
            </a:r>
          </a:p>
        </p:txBody>
      </p:sp>
      <p:sp>
        <p:nvSpPr>
          <p:cNvPr id="7" name="Rounded Rectangle 6"/>
          <p:cNvSpPr/>
          <p:nvPr/>
        </p:nvSpPr>
        <p:spPr>
          <a:xfrm>
            <a:off x="50292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Pendlerinnen und Pendler</a:t>
            </a:r>
          </a:p>
        </p:txBody>
      </p:sp>
      <p:sp>
        <p:nvSpPr>
          <p:cNvPr id="9" name="TextBox 8"/>
          <p:cNvSpPr txBox="1"/>
          <p:nvPr/>
        </p:nvSpPr>
        <p:spPr>
          <a:xfrm>
            <a:off x="73152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Wann ist mit Verspätungen zu rechnen?</a:t>
            </a:r>
          </a:p>
        </p:txBody>
      </p:sp>
      <p:sp>
        <p:nvSpPr>
          <p:cNvPr id="10" name="Rounded Rectangle 9"/>
          <p:cNvSpPr/>
          <p:nvPr/>
        </p:nvSpPr>
        <p:spPr>
          <a:xfrm>
            <a:off x="429768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ÖV-Betreiber</a:t>
            </a:r>
          </a:p>
        </p:txBody>
      </p:sp>
      <p:sp>
        <p:nvSpPr>
          <p:cNvPr id="12" name="TextBox 11"/>
          <p:cNvSpPr txBox="1"/>
          <p:nvPr/>
        </p:nvSpPr>
        <p:spPr>
          <a:xfrm>
            <a:off x="452628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Ist Bus oder Bahn stärker betroffen?</a:t>
            </a:r>
          </a:p>
        </p:txBody>
      </p:sp>
      <p:sp>
        <p:nvSpPr>
          <p:cNvPr id="13" name="Rounded Rectangle 12"/>
          <p:cNvSpPr/>
          <p:nvPr/>
        </p:nvSpPr>
        <p:spPr>
          <a:xfrm>
            <a:off x="809244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Planerinnen und Planer</a:t>
            </a:r>
          </a:p>
        </p:txBody>
      </p:sp>
      <p:sp>
        <p:nvSpPr>
          <p:cNvPr id="15" name="TextBox 14"/>
          <p:cNvSpPr txBox="1"/>
          <p:nvPr/>
        </p:nvSpPr>
        <p:spPr>
          <a:xfrm>
            <a:off x="832104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Wo lohnen sich Reserven im Fahrplan?</a:t>
            </a:r>
          </a:p>
        </p:txBody>
      </p:sp>
      <p:sp>
        <p:nvSpPr>
          <p:cNvPr id="16" name="TextBox 15"/>
          <p:cNvSpPr txBox="1"/>
          <p:nvPr/>
        </p:nvSpPr>
        <p:spPr>
          <a:xfrm>
            <a:off x="502920" y="5257800"/>
            <a:ext cx="11155680" cy="731520"/>
          </a:xfrm>
          <a:prstGeom prst="rect">
            <a:avLst/>
          </a:prstGeom>
          <a:noFill/>
        </p:spPr>
        <p:txBody>
          <a:bodyPr wrap="square">
            <a:spAutoFit/>
          </a:bodyPr>
          <a:lstStyle/>
          <a:p>
            <a:pPr>
              <a:spcAft>
                <a:spcPts val="400"/>
              </a:spcAft>
              <a:defRPr sz="2000" b="1" i="0">
                <a:solidFill>
                  <a:srgbClr val="167D8D"/>
                </a:solidFill>
                <a:latin typeface="Aptos"/>
              </a:defRPr>
            </a:pPr>
            <a:r>
              <a:t>Untersuchungsgebiet: Thurgau, St. Gallen, Appenzell</a:t>
            </a:r>
          </a:p>
          <a:p>
            <a:pPr>
              <a:spcAft>
                <a:spcPts val="400"/>
              </a:spcAft>
              <a:defRPr sz="2000" b="1" i="0">
                <a:solidFill>
                  <a:srgbClr val="167D8D"/>
                </a:solidFill>
                <a:latin typeface="Aptos"/>
              </a:defRPr>
            </a:pPr>
            <a:r>
              <a:t>Bahn und Bus · 1.1.–31.3.2026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Forschungsfrage und Hypothesen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4</a:t>
            </a:r>
          </a:p>
        </p:txBody>
      </p:sp>
      <p:sp>
        <p:nvSpPr>
          <p:cNvPr id="6" name="TextBox 5"/>
          <p:cNvSpPr txBox="1"/>
          <p:nvPr/>
        </p:nvSpPr>
        <p:spPr>
          <a:xfrm>
            <a:off x="502920" y="1188720"/>
            <a:ext cx="11155680" cy="1280160"/>
          </a:xfrm>
          <a:prstGeom prst="rect">
            <a:avLst/>
          </a:prstGeom>
          <a:noFill/>
        </p:spPr>
        <p:txBody>
          <a:bodyPr wrap="square">
            <a:spAutoFit/>
          </a:bodyPr>
          <a:lstStyle/>
          <a:p>
            <a:pPr>
              <a:spcAft>
                <a:spcPts val="1200"/>
              </a:spcAft>
              <a:defRPr sz="2400" b="1" i="1">
                <a:solidFill>
                  <a:srgbClr val="167D8D"/>
                </a:solidFill>
                <a:latin typeface="Aptos"/>
              </a:defRPr>
            </a:pPr>
            <a:r>
              <a:t>Wie stark beeinflusst das Wetter die Pünktlichkeit des öffentlichen Verkehrs in der Ostschweiz, und unterscheidet sich der Effekt nach Verkehrsmittel und Tageszeit?</a:t>
            </a:r>
          </a:p>
        </p:txBody>
      </p:sp>
      <p:sp>
        <p:nvSpPr>
          <p:cNvPr id="7" name="Rounded Rectangle 6"/>
          <p:cNvSpPr/>
          <p:nvPr/>
        </p:nvSpPr>
        <p:spPr>
          <a:xfrm>
            <a:off x="502920" y="2743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71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H1</a:t>
            </a:r>
          </a:p>
        </p:txBody>
      </p:sp>
      <p:sp>
        <p:nvSpPr>
          <p:cNvPr id="9" name="TextBox 8"/>
          <p:cNvSpPr txBox="1"/>
          <p:nvPr/>
        </p:nvSpPr>
        <p:spPr>
          <a:xfrm>
            <a:off x="1828800" y="2907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Bei starkem Niederschlag ist die mittlere Verspätung höher als sonst.</a:t>
            </a:r>
          </a:p>
        </p:txBody>
      </p:sp>
      <p:sp>
        <p:nvSpPr>
          <p:cNvPr id="10" name="Rounded Rectangle 9"/>
          <p:cNvSpPr/>
          <p:nvPr/>
        </p:nvSpPr>
        <p:spPr>
          <a:xfrm>
            <a:off x="502920" y="3886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114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H2</a:t>
            </a:r>
          </a:p>
        </p:txBody>
      </p:sp>
      <p:sp>
        <p:nvSpPr>
          <p:cNvPr id="12" name="TextBox 11"/>
          <p:cNvSpPr txBox="1"/>
          <p:nvPr/>
        </p:nvSpPr>
        <p:spPr>
          <a:xfrm>
            <a:off x="1828800" y="4050791"/>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beim Bus stärker als bei der Bahn.</a:t>
            </a:r>
          </a:p>
        </p:txBody>
      </p:sp>
      <p:sp>
        <p:nvSpPr>
          <p:cNvPr id="13" name="Rounded Rectangle 12"/>
          <p:cNvSpPr/>
          <p:nvPr/>
        </p:nvSpPr>
        <p:spPr>
          <a:xfrm>
            <a:off x="502920" y="5029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57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H3</a:t>
            </a:r>
          </a:p>
        </p:txBody>
      </p:sp>
      <p:sp>
        <p:nvSpPr>
          <p:cNvPr id="15" name="TextBox 14"/>
          <p:cNvSpPr txBox="1"/>
          <p:nvPr/>
        </p:nvSpPr>
        <p:spPr>
          <a:xfrm>
            <a:off x="1828800" y="5193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in der Hauptverkehrszeit stärker als ausserhalb.</a:t>
            </a:r>
          </a:p>
        </p:txBody>
      </p:sp>
      <p:sp>
        <p:nvSpPr>
          <p:cNvPr id="16" name="TextBox 15"/>
          <p:cNvSpPr txBox="1"/>
          <p:nvPr/>
        </p:nvSpPr>
        <p:spPr>
          <a:xfrm>
            <a:off x="502920" y="6053328"/>
            <a:ext cx="11155680" cy="365760"/>
          </a:xfrm>
          <a:prstGeom prst="rect">
            <a:avLst/>
          </a:prstGeom>
          <a:noFill/>
        </p:spPr>
        <p:txBody>
          <a:bodyPr wrap="square">
            <a:spAutoFit/>
          </a:bodyPr>
          <a:lstStyle/>
          <a:p>
            <a:pPr>
              <a:spcAft>
                <a:spcPts val="1200"/>
              </a:spcAft>
              <a:defRPr sz="1400" b="0" i="0">
                <a:solidFill>
                  <a:srgbClr val="53616B"/>
                </a:solidFill>
                <a:latin typeface="Aptos"/>
              </a:defRPr>
            </a:pPr>
            <a:r>
              <a:t>Ergänzend: Schnee/Frost (Schneedecke oder Niederschlag bei Frost), gleiches Vorgehen wie H1.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Operationalisierung und Methodik</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5</a:t>
            </a:r>
          </a:p>
        </p:txBody>
      </p:sp>
      <p:sp>
        <p:nvSpPr>
          <p:cNvPr id="6" name="TextBox 5"/>
          <p:cNvSpPr txBox="1"/>
          <p:nvPr/>
        </p:nvSpPr>
        <p:spPr>
          <a:xfrm>
            <a:off x="502920" y="1234440"/>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Verspätung</a:t>
            </a:r>
          </a:p>
        </p:txBody>
      </p:sp>
      <p:sp>
        <p:nvSpPr>
          <p:cNvPr id="7" name="TextBox 6"/>
          <p:cNvSpPr txBox="1"/>
          <p:nvPr/>
        </p:nvSpPr>
        <p:spPr>
          <a:xfrm>
            <a:off x="4114800" y="1234440"/>
            <a:ext cx="7589520" cy="548640"/>
          </a:xfrm>
          <a:prstGeom prst="rect">
            <a:avLst/>
          </a:prstGeom>
          <a:noFill/>
        </p:spPr>
        <p:txBody>
          <a:bodyPr wrap="square">
            <a:spAutoFit/>
          </a:bodyPr>
          <a:lstStyle/>
          <a:p>
            <a:pPr>
              <a:spcAft>
                <a:spcPts val="1200"/>
              </a:spcAft>
              <a:defRPr sz="2000" b="0" i="0">
                <a:solidFill>
                  <a:srgbClr val="17364A"/>
                </a:solidFill>
                <a:latin typeface="Aptos"/>
              </a:defRPr>
            </a:pPr>
            <a:r>
              <a:t>Ankunft: Ist minus Soll in Minuten, nur gemessene Werte</a:t>
            </a:r>
          </a:p>
        </p:txBody>
      </p:sp>
      <p:sp>
        <p:nvSpPr>
          <p:cNvPr id="8" name="TextBox 7"/>
          <p:cNvSpPr txBox="1"/>
          <p:nvPr/>
        </p:nvSpPr>
        <p:spPr>
          <a:xfrm>
            <a:off x="502920" y="1984248"/>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Verspätet</a:t>
            </a:r>
          </a:p>
        </p:txBody>
      </p:sp>
      <p:sp>
        <p:nvSpPr>
          <p:cNvPr id="9" name="TextBox 8"/>
          <p:cNvSpPr txBox="1"/>
          <p:nvPr/>
        </p:nvSpPr>
        <p:spPr>
          <a:xfrm>
            <a:off x="4114800" y="1984248"/>
            <a:ext cx="7589520" cy="548640"/>
          </a:xfrm>
          <a:prstGeom prst="rect">
            <a:avLst/>
          </a:prstGeom>
          <a:noFill/>
        </p:spPr>
        <p:txBody>
          <a:bodyPr wrap="square">
            <a:spAutoFit/>
          </a:bodyPr>
          <a:lstStyle/>
          <a:p>
            <a:pPr>
              <a:spcAft>
                <a:spcPts val="1200"/>
              </a:spcAft>
              <a:defRPr sz="2000" b="0" i="0">
                <a:solidFill>
                  <a:srgbClr val="17364A"/>
                </a:solidFill>
                <a:latin typeface="Aptos"/>
              </a:defRPr>
            </a:pPr>
            <a:r>
              <a:t>ab 3 Minuten (Definition SBB AG, o. J.)</a:t>
            </a:r>
          </a:p>
        </p:txBody>
      </p:sp>
      <p:sp>
        <p:nvSpPr>
          <p:cNvPr id="10" name="TextBox 9"/>
          <p:cNvSpPr txBox="1"/>
          <p:nvPr/>
        </p:nvSpPr>
        <p:spPr>
          <a:xfrm>
            <a:off x="502920" y="2734056"/>
            <a:ext cx="3566160" cy="548640"/>
          </a:xfrm>
          <a:prstGeom prst="rect">
            <a:avLst/>
          </a:prstGeom>
          <a:noFill/>
        </p:spPr>
        <p:txBody>
          <a:bodyPr wrap="square">
            <a:spAutoFit/>
          </a:bodyPr>
          <a:lstStyle/>
          <a:p>
            <a:pPr>
              <a:spcAft>
                <a:spcPts val="1200"/>
              </a:spcAft>
              <a:defRPr sz="2000" b="1" i="0">
                <a:solidFill>
                  <a:srgbClr val="167D8D"/>
                </a:solidFill>
                <a:latin typeface="Aptos"/>
              </a:defRPr>
            </a:pPr>
            <a:r>
              <a:t>Starker Niederschlag</a:t>
            </a:r>
          </a:p>
        </p:txBody>
      </p:sp>
      <p:sp>
        <p:nvSpPr>
          <p:cNvPr id="11" name="TextBox 10"/>
          <p:cNvSpPr txBox="1"/>
          <p:nvPr/>
        </p:nvSpPr>
        <p:spPr>
          <a:xfrm>
            <a:off x="4114800" y="2734056"/>
            <a:ext cx="7589520" cy="548640"/>
          </a:xfrm>
          <a:prstGeom prst="rect">
            <a:avLst/>
          </a:prstGeom>
          <a:noFill/>
        </p:spPr>
        <p:txBody>
          <a:bodyPr wrap="square">
            <a:spAutoFit/>
          </a:bodyPr>
          <a:lstStyle/>
          <a:p>
            <a:pPr>
              <a:spcAft>
                <a:spcPts val="1200"/>
              </a:spcAft>
              <a:defRPr sz="2000" b="0" i="0">
                <a:solidFill>
                  <a:srgbClr val="17364A"/>
                </a:solidFill>
                <a:latin typeface="Aptos"/>
              </a:defRPr>
            </a:pPr>
            <a:r>
              <a:t>Stundensumme über dem 90. Perzentil der Regenstunden</a:t>
            </a:r>
          </a:p>
        </p:txBody>
      </p:sp>
      <p:sp>
        <p:nvSpPr>
          <p:cNvPr id="12" name="TextBox 11"/>
          <p:cNvSpPr txBox="1"/>
          <p:nvPr/>
        </p:nvSpPr>
        <p:spPr>
          <a:xfrm>
            <a:off x="502920" y="3483864"/>
            <a:ext cx="3566160" cy="548640"/>
          </a:xfrm>
          <a:prstGeom prst="rect">
            <a:avLst/>
          </a:prstGeom>
          <a:noFill/>
        </p:spPr>
        <p:txBody>
          <a:bodyPr wrap="square">
            <a:spAutoFit/>
          </a:bodyPr>
          <a:lstStyle/>
          <a:p>
            <a:pPr>
              <a:spcAft>
                <a:spcPts val="1200"/>
              </a:spcAft>
              <a:defRPr sz="2000" b="1" i="0">
                <a:solidFill>
                  <a:srgbClr val="167D8D"/>
                </a:solidFill>
                <a:latin typeface="Aptos"/>
              </a:defRPr>
            </a:pPr>
            <a:r>
              <a:t>Hauptverkehrszeit</a:t>
            </a:r>
          </a:p>
        </p:txBody>
      </p:sp>
      <p:sp>
        <p:nvSpPr>
          <p:cNvPr id="13" name="TextBox 12"/>
          <p:cNvSpPr txBox="1"/>
          <p:nvPr/>
        </p:nvSpPr>
        <p:spPr>
          <a:xfrm>
            <a:off x="4114800" y="3483864"/>
            <a:ext cx="7589520" cy="548640"/>
          </a:xfrm>
          <a:prstGeom prst="rect">
            <a:avLst/>
          </a:prstGeom>
          <a:noFill/>
        </p:spPr>
        <p:txBody>
          <a:bodyPr wrap="square">
            <a:spAutoFit/>
          </a:bodyPr>
          <a:lstStyle/>
          <a:p>
            <a:pPr>
              <a:spcAft>
                <a:spcPts val="1200"/>
              </a:spcAft>
              <a:defRPr sz="2000" b="0" i="0">
                <a:solidFill>
                  <a:srgbClr val="17364A"/>
                </a:solidFill>
                <a:latin typeface="Aptos"/>
              </a:defRPr>
            </a:pPr>
            <a:r>
              <a:t>Mo–Fr, 6–9 und 16–19 Uhr (Lokalzeit)</a:t>
            </a:r>
          </a:p>
        </p:txBody>
      </p:sp>
      <p:sp>
        <p:nvSpPr>
          <p:cNvPr id="14" name="TextBox 13"/>
          <p:cNvSpPr txBox="1"/>
          <p:nvPr/>
        </p:nvSpPr>
        <p:spPr>
          <a:xfrm>
            <a:off x="502920" y="4233672"/>
            <a:ext cx="3566160" cy="548640"/>
          </a:xfrm>
          <a:prstGeom prst="rect">
            <a:avLst/>
          </a:prstGeom>
          <a:noFill/>
        </p:spPr>
        <p:txBody>
          <a:bodyPr wrap="square">
            <a:spAutoFit/>
          </a:bodyPr>
          <a:lstStyle/>
          <a:p>
            <a:pPr>
              <a:spcAft>
                <a:spcPts val="1200"/>
              </a:spcAft>
              <a:defRPr sz="2000" b="1" i="0">
                <a:solidFill>
                  <a:srgbClr val="167D8D"/>
                </a:solidFill>
                <a:latin typeface="Aptos"/>
              </a:defRPr>
            </a:pPr>
            <a:r>
              <a:t>Plausibilität</a:t>
            </a:r>
          </a:p>
        </p:txBody>
      </p:sp>
      <p:sp>
        <p:nvSpPr>
          <p:cNvPr id="15" name="TextBox 14"/>
          <p:cNvSpPr txBox="1"/>
          <p:nvPr/>
        </p:nvSpPr>
        <p:spPr>
          <a:xfrm>
            <a:off x="4114800" y="4233672"/>
            <a:ext cx="7589520" cy="548640"/>
          </a:xfrm>
          <a:prstGeom prst="rect">
            <a:avLst/>
          </a:prstGeom>
          <a:noFill/>
        </p:spPr>
        <p:txBody>
          <a:bodyPr wrap="square">
            <a:spAutoFit/>
          </a:bodyPr>
          <a:lstStyle/>
          <a:p>
            <a:pPr>
              <a:spcAft>
                <a:spcPts val="1200"/>
              </a:spcAft>
              <a:defRPr sz="2000" b="0" i="0">
                <a:solidFill>
                  <a:srgbClr val="17364A"/>
                </a:solidFill>
                <a:latin typeface="Aptos"/>
              </a:defRPr>
            </a:pPr>
            <a:r>
              <a:t>−10 bis +60 Minuten, Ausfälle und Durchfahrten ausgeschlossen</a:t>
            </a:r>
          </a:p>
        </p:txBody>
      </p:sp>
      <p:sp>
        <p:nvSpPr>
          <p:cNvPr id="16" name="TextBox 15"/>
          <p:cNvSpPr txBox="1"/>
          <p:nvPr/>
        </p:nvSpPr>
        <p:spPr>
          <a:xfrm>
            <a:off x="502920" y="5120640"/>
            <a:ext cx="11155680" cy="1005840"/>
          </a:xfrm>
          <a:prstGeom prst="rect">
            <a:avLst/>
          </a:prstGeom>
          <a:noFill/>
        </p:spPr>
        <p:txBody>
          <a:bodyPr wrap="square">
            <a:spAutoFit/>
          </a:bodyPr>
          <a:lstStyle/>
          <a:p>
            <a:pPr>
              <a:spcAft>
                <a:spcPts val="400"/>
              </a:spcAft>
              <a:defRPr sz="1900" b="1" i="0">
                <a:solidFill>
                  <a:srgbClr val="167D8D"/>
                </a:solidFill>
                <a:latin typeface="Aptos"/>
              </a:defRPr>
            </a:pPr>
            <a:r>
              <a:t>Tests: H1 Mann-Whitney-U · H2 und H3 Regression mit Wechselwirkung</a:t>
            </a:r>
          </a:p>
          <a:p>
            <a:pPr>
              <a:spcAft>
                <a:spcPts val="400"/>
              </a:spcAft>
              <a:defRPr sz="1900" b="1" i="0">
                <a:solidFill>
                  <a:srgbClr val="167D8D"/>
                </a:solidFill>
                <a:latin typeface="Aptos"/>
              </a:defRPr>
            </a:pPr>
            <a:r>
              <a:t>α = 0,05 · Effektstärke immer mit angegeben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Lifecycle und Unterströmungen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6</a:t>
            </a:r>
          </a:p>
        </p:txBody>
      </p:sp>
      <p:sp>
        <p:nvSpPr>
          <p:cNvPr id="6" name="Rounded Rectangle 5"/>
          <p:cNvSpPr/>
          <p:nvPr/>
        </p:nvSpPr>
        <p:spPr>
          <a:xfrm>
            <a:off x="502920"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Generation</a:t>
            </a:r>
          </a:p>
        </p:txBody>
      </p:sp>
      <p:sp>
        <p:nvSpPr>
          <p:cNvPr id="8" name="TextBox 7"/>
          <p:cNvSpPr txBox="1"/>
          <p:nvPr/>
        </p:nvSpPr>
        <p:spPr>
          <a:xfrm>
            <a:off x="594360"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Ist-Daten v2</a:t>
            </a:r>
          </a:p>
          <a:p>
            <a:pPr>
              <a:spcAft>
                <a:spcPts val="500"/>
              </a:spcAft>
              <a:defRPr sz="1300" b="0" i="0">
                <a:solidFill>
                  <a:srgbClr val="17364A"/>
                </a:solidFill>
                <a:latin typeface="Aptos"/>
              </a:defRPr>
            </a:pPr>
            <a:r>
              <a:t>GTFS</a:t>
            </a:r>
          </a:p>
          <a:p>
            <a:pPr>
              <a:spcAft>
                <a:spcPts val="500"/>
              </a:spcAft>
              <a:defRPr sz="1300" b="0" i="0">
                <a:solidFill>
                  <a:srgbClr val="17364A"/>
                </a:solidFill>
                <a:latin typeface="Aptos"/>
              </a:defRPr>
            </a:pPr>
            <a:r>
              <a:t>swissBOUNDARIES3D</a:t>
            </a:r>
          </a:p>
          <a:p>
            <a:pPr>
              <a:spcAft>
                <a:spcPts val="500"/>
              </a:spcAft>
              <a:defRPr sz="1300" b="0" i="0">
                <a:solidFill>
                  <a:srgbClr val="17364A"/>
                </a:solidFill>
                <a:latin typeface="Aptos"/>
              </a:defRPr>
            </a:pPr>
            <a:r>
              <a:t>MeteoSchweiz</a:t>
            </a:r>
          </a:p>
        </p:txBody>
      </p:sp>
      <p:sp>
        <p:nvSpPr>
          <p:cNvPr id="9" name="TextBox 8"/>
          <p:cNvSpPr txBox="1"/>
          <p:nvPr/>
        </p:nvSpPr>
        <p:spPr>
          <a:xfrm>
            <a:off x="594360"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0" name="Rounded Rectangle 9"/>
          <p:cNvSpPr/>
          <p:nvPr/>
        </p:nvSpPr>
        <p:spPr>
          <a:xfrm>
            <a:off x="2761488"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Ingestion</a:t>
            </a:r>
          </a:p>
        </p:txBody>
      </p:sp>
      <p:sp>
        <p:nvSpPr>
          <p:cNvPr id="12" name="TextBox 11"/>
          <p:cNvSpPr txBox="1"/>
          <p:nvPr/>
        </p:nvSpPr>
        <p:spPr>
          <a:xfrm>
            <a:off x="2852928"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Python-Skripte, Batch</a:t>
            </a:r>
          </a:p>
          <a:p>
            <a:pPr>
              <a:spcAft>
                <a:spcPts val="500"/>
              </a:spcAft>
              <a:defRPr sz="1300" b="0" i="0">
                <a:solidFill>
                  <a:srgbClr val="17364A"/>
                </a:solidFill>
                <a:latin typeface="Aptos"/>
              </a:defRPr>
            </a:pPr>
            <a:r>
              <a:t>ÖV: Monats-Zip</a:t>
            </a:r>
          </a:p>
          <a:p>
            <a:pPr>
              <a:spcAft>
                <a:spcPts val="500"/>
              </a:spcAft>
              <a:defRPr sz="1300" b="0" i="0">
                <a:solidFill>
                  <a:srgbClr val="17364A"/>
                </a:solidFill>
                <a:latin typeface="Aptos"/>
              </a:defRPr>
            </a:pPr>
            <a:r>
              <a:t>Wetter: STAC-CSV</a:t>
            </a:r>
          </a:p>
          <a:p>
            <a:pPr>
              <a:spcAft>
                <a:spcPts val="500"/>
              </a:spcAft>
              <a:defRPr sz="1300" b="0" i="0">
                <a:solidFill>
                  <a:srgbClr val="17364A"/>
                </a:solidFill>
                <a:latin typeface="Aptos"/>
              </a:defRPr>
            </a:pPr>
            <a:r>
              <a:t>idempotent</a:t>
            </a:r>
          </a:p>
        </p:txBody>
      </p:sp>
      <p:sp>
        <p:nvSpPr>
          <p:cNvPr id="13" name="TextBox 12"/>
          <p:cNvSpPr txBox="1"/>
          <p:nvPr/>
        </p:nvSpPr>
        <p:spPr>
          <a:xfrm>
            <a:off x="2852928"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4" name="Rounded Rectangle 13"/>
          <p:cNvSpPr/>
          <p:nvPr/>
        </p:nvSpPr>
        <p:spPr>
          <a:xfrm>
            <a:off x="5020056"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Storage</a:t>
            </a:r>
          </a:p>
        </p:txBody>
      </p:sp>
      <p:sp>
        <p:nvSpPr>
          <p:cNvPr id="16" name="TextBox 15"/>
          <p:cNvSpPr txBox="1"/>
          <p:nvPr/>
        </p:nvSpPr>
        <p:spPr>
          <a:xfrm>
            <a:off x="5111496"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DuckDB und Parquet</a:t>
            </a:r>
          </a:p>
          <a:p>
            <a:pPr>
              <a:spcAft>
                <a:spcPts val="500"/>
              </a:spcAft>
              <a:defRPr sz="1300" b="0" i="0">
                <a:solidFill>
                  <a:srgbClr val="17364A"/>
                </a:solidFill>
                <a:latin typeface="Aptos"/>
              </a:defRPr>
            </a:pPr>
            <a:r>
              <a:t>Daten auf OneDrive</a:t>
            </a:r>
          </a:p>
        </p:txBody>
      </p:sp>
      <p:sp>
        <p:nvSpPr>
          <p:cNvPr id="17" name="TextBox 16"/>
          <p:cNvSpPr txBox="1"/>
          <p:nvPr/>
        </p:nvSpPr>
        <p:spPr>
          <a:xfrm>
            <a:off x="5111496"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8" name="Rounded Rectangle 17"/>
          <p:cNvSpPr/>
          <p:nvPr/>
        </p:nvSpPr>
        <p:spPr>
          <a:xfrm>
            <a:off x="7278624"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0064"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Transformation</a:t>
            </a:r>
          </a:p>
        </p:txBody>
      </p:sp>
      <p:sp>
        <p:nvSpPr>
          <p:cNvPr id="20" name="TextBox 19"/>
          <p:cNvSpPr txBox="1"/>
          <p:nvPr/>
        </p:nvSpPr>
        <p:spPr>
          <a:xfrm>
            <a:off x="7370064"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Bereinigung</a:t>
            </a:r>
          </a:p>
          <a:p>
            <a:pPr>
              <a:spcAft>
                <a:spcPts val="500"/>
              </a:spcAft>
              <a:defRPr sz="1300" b="0" i="0">
                <a:solidFill>
                  <a:srgbClr val="17364A"/>
                </a:solidFill>
                <a:latin typeface="Aptos"/>
              </a:defRPr>
            </a:pPr>
            <a:r>
              <a:t>räumlicher und zeitlicher Join</a:t>
            </a:r>
          </a:p>
          <a:p>
            <a:pPr>
              <a:spcAft>
                <a:spcPts val="500"/>
              </a:spcAft>
              <a:defRPr sz="1300" b="0" i="0">
                <a:solidFill>
                  <a:srgbClr val="17364A"/>
                </a:solidFill>
                <a:latin typeface="Aptos"/>
              </a:defRPr>
            </a:pPr>
            <a:r>
              <a:t>Hypothesentests</a:t>
            </a:r>
          </a:p>
        </p:txBody>
      </p:sp>
      <p:sp>
        <p:nvSpPr>
          <p:cNvPr id="21" name="TextBox 20"/>
          <p:cNvSpPr txBox="1"/>
          <p:nvPr/>
        </p:nvSpPr>
        <p:spPr>
          <a:xfrm>
            <a:off x="7370064"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22" name="Rounded Rectangle 21"/>
          <p:cNvSpPr/>
          <p:nvPr/>
        </p:nvSpPr>
        <p:spPr>
          <a:xfrm>
            <a:off x="9537192"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28632"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Serving</a:t>
            </a:r>
          </a:p>
        </p:txBody>
      </p:sp>
      <p:sp>
        <p:nvSpPr>
          <p:cNvPr id="24" name="TextBox 23"/>
          <p:cNvSpPr txBox="1"/>
          <p:nvPr/>
        </p:nvSpPr>
        <p:spPr>
          <a:xfrm>
            <a:off x="9628632"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Web-Dashboard</a:t>
            </a:r>
          </a:p>
          <a:p>
            <a:pPr>
              <a:spcAft>
                <a:spcPts val="500"/>
              </a:spcAft>
              <a:defRPr sz="1300" b="0" i="0">
                <a:solidFill>
                  <a:srgbClr val="17364A"/>
                </a:solidFill>
                <a:latin typeface="Aptos"/>
              </a:defRPr>
            </a:pPr>
            <a:r>
              <a:t>Karte, Zeitreihen, Wetterfilter</a:t>
            </a:r>
          </a:p>
        </p:txBody>
      </p:sp>
      <p:sp>
        <p:nvSpPr>
          <p:cNvPr id="25" name="TextBox 24"/>
          <p:cNvSpPr txBox="1"/>
          <p:nvPr/>
        </p:nvSpPr>
        <p:spPr>
          <a:xfrm>
            <a:off x="9628632" y="3703320"/>
            <a:ext cx="2011680" cy="365760"/>
          </a:xfrm>
          <a:prstGeom prst="rect">
            <a:avLst/>
          </a:prstGeom>
          <a:noFill/>
        </p:spPr>
        <p:txBody>
          <a:bodyPr wrap="square">
            <a:spAutoFit/>
          </a:bodyPr>
          <a:lstStyle/>
          <a:p>
            <a:pPr>
              <a:spcAft>
                <a:spcPts val="1200"/>
              </a:spcAft>
              <a:defRPr sz="1200" b="1" i="0">
                <a:solidFill>
                  <a:srgbClr val="53616B"/>
                </a:solidFill>
                <a:latin typeface="Aptos"/>
              </a:defRPr>
            </a:pPr>
            <a:r>
              <a:t>Entwurf für Teil 2</a:t>
            </a:r>
          </a:p>
        </p:txBody>
      </p:sp>
      <p:sp>
        <p:nvSpPr>
          <p:cNvPr id="26" name="Rounded Rectangle 25"/>
          <p:cNvSpPr/>
          <p:nvPr/>
        </p:nvSpPr>
        <p:spPr>
          <a:xfrm>
            <a:off x="502920" y="4434840"/>
            <a:ext cx="11155680" cy="9144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72000"/>
            <a:ext cx="10698480" cy="731520"/>
          </a:xfrm>
          <a:prstGeom prst="rect">
            <a:avLst/>
          </a:prstGeom>
          <a:noFill/>
        </p:spPr>
        <p:txBody>
          <a:bodyPr wrap="square">
            <a:spAutoFit/>
          </a:bodyPr>
          <a:lstStyle/>
          <a:p>
            <a:pPr>
              <a:spcAft>
                <a:spcPts val="1200"/>
              </a:spcAft>
              <a:defRPr sz="1700" b="1" i="0">
                <a:solidFill>
                  <a:srgbClr val="FFFFFF"/>
                </a:solidFill>
                <a:latin typeface="Aptos"/>
              </a:defRPr>
            </a:pPr>
            <a:r>
              <a:t>Unterströmungen: Security · Data Management · DataOps · Data Architecture · Orchestration · Software Engineering</a:t>
            </a:r>
          </a:p>
        </p:txBody>
      </p:sp>
      <p:sp>
        <p:nvSpPr>
          <p:cNvPr id="28" name="TextBox 27"/>
          <p:cNvSpPr txBox="1"/>
          <p:nvPr/>
        </p:nvSpPr>
        <p:spPr>
          <a:xfrm>
            <a:off x="502920" y="5577840"/>
            <a:ext cx="11155680" cy="548640"/>
          </a:xfrm>
          <a:prstGeom prst="rect">
            <a:avLst/>
          </a:prstGeom>
          <a:noFill/>
        </p:spPr>
        <p:txBody>
          <a:bodyPr wrap="square">
            <a:spAutoFit/>
          </a:bodyPr>
          <a:lstStyle/>
          <a:p>
            <a:pPr>
              <a:spcAft>
                <a:spcPts val="1200"/>
              </a:spcAft>
              <a:defRPr sz="1600" b="1" i="0">
                <a:solidFill>
                  <a:srgbClr val="167D8D"/>
                </a:solidFill>
                <a:latin typeface="Aptos"/>
              </a:defRPr>
            </a:pPr>
            <a:r>
              <a:t>Stand: Generation bis Transformation sind umgesetzt, Serving ist der Entwurf für Teil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Ausblick: Teil 2</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7</a:t>
            </a:r>
          </a:p>
        </p:txBody>
      </p:sp>
      <p:sp>
        <p:nvSpPr>
          <p:cNvPr id="6" name="Rounded Rectangle 5"/>
          <p:cNvSpPr/>
          <p:nvPr/>
        </p:nvSpPr>
        <p:spPr>
          <a:xfrm>
            <a:off x="50292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Transformation</a:t>
            </a:r>
          </a:p>
        </p:txBody>
      </p:sp>
      <p:sp>
        <p:nvSpPr>
          <p:cNvPr id="8" name="TextBox 7"/>
          <p:cNvSpPr txBox="1"/>
          <p:nvPr/>
        </p:nvSpPr>
        <p:spPr>
          <a:xfrm>
            <a:off x="73152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Feedback aus Teil 1 einarbeiten, finale Antwort auf die Forschungsfrage</a:t>
            </a:r>
          </a:p>
        </p:txBody>
      </p:sp>
      <p:sp>
        <p:nvSpPr>
          <p:cNvPr id="9" name="Rounded Rectangle 8"/>
          <p:cNvSpPr/>
          <p:nvPr/>
        </p:nvSpPr>
        <p:spPr>
          <a:xfrm>
            <a:off x="429768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Serving</a:t>
            </a:r>
          </a:p>
        </p:txBody>
      </p:sp>
      <p:sp>
        <p:nvSpPr>
          <p:cNvPr id="11" name="TextBox 10"/>
          <p:cNvSpPr txBox="1"/>
          <p:nvPr/>
        </p:nvSpPr>
        <p:spPr>
          <a:xfrm>
            <a:off x="452628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Web-Dashboard mit Karte, Zeitreihen und Wetterfiltern</a:t>
            </a:r>
          </a:p>
        </p:txBody>
      </p:sp>
      <p:sp>
        <p:nvSpPr>
          <p:cNvPr id="12" name="Rounded Rectangle 11"/>
          <p:cNvSpPr/>
          <p:nvPr/>
        </p:nvSpPr>
        <p:spPr>
          <a:xfrm>
            <a:off x="809244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Skalierung</a:t>
            </a:r>
          </a:p>
        </p:txBody>
      </p:sp>
      <p:sp>
        <p:nvSpPr>
          <p:cNvPr id="14" name="TextBox 13"/>
          <p:cNvSpPr txBox="1"/>
          <p:nvPr/>
        </p:nvSpPr>
        <p:spPr>
          <a:xfrm>
            <a:off x="832104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Mehr Kantone, Deutschschweiz oder ganze Schweiz, falls die Pipeline stabil läuft</a:t>
            </a:r>
          </a:p>
        </p:txBody>
      </p:sp>
      <p:sp>
        <p:nvSpPr>
          <p:cNvPr id="15" name="TextBox 14"/>
          <p:cNvSpPr txBox="1"/>
          <p:nvPr/>
        </p:nvSpPr>
        <p:spPr>
          <a:xfrm>
            <a:off x="502920" y="4937760"/>
            <a:ext cx="11155680" cy="548640"/>
          </a:xfrm>
          <a:prstGeom prst="rect">
            <a:avLst/>
          </a:prstGeom>
          <a:noFill/>
        </p:spPr>
        <p:txBody>
          <a:bodyPr wrap="square">
            <a:spAutoFit/>
          </a:bodyPr>
          <a:lstStyle/>
          <a:p>
            <a:pPr>
              <a:spcAft>
                <a:spcPts val="1200"/>
              </a:spcAft>
              <a:defRPr sz="1900" b="1" i="0">
                <a:solidFill>
                  <a:srgbClr val="167D8D"/>
                </a:solidFill>
                <a:latin typeface="Aptos"/>
              </a:defRPr>
            </a:pPr>
            <a:r>
              <a:t>Fragen und Diskussion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8</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Ist-Daten v2 [Datensatz]. Open-Data-Plattform Mobilität Schweiz.</a:t>
            </a:r>
          </a:p>
          <a:p>
            <a:pPr>
              <a:spcAft>
                <a:spcPts val="200"/>
              </a:spcAft>
              <a:defRPr sz="1400" b="0" i="0">
                <a:solidFill>
                  <a:srgbClr val="17364A"/>
                </a:solidFill>
                <a:latin typeface="Aptos"/>
              </a:defRPr>
            </a:pPr>
            <a:r>
              <a:rPr>
                <a:hlinkClick r:id="rId3"/>
              </a:rPr>
              <a:t>https://archive.opentransportdata.swiss/actual_data_archive.htm</a:t>
            </a:r>
          </a:p>
        </p:txBody>
      </p:sp>
      <p:sp>
        <p:nvSpPr>
          <p:cNvPr id="7" name="TextBox 6"/>
          <p:cNvSpPr txBox="1"/>
          <p:nvPr/>
        </p:nvSpPr>
        <p:spPr>
          <a:xfrm>
            <a:off x="502920" y="19202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Fahrplan 2026 (GTFS) [Datensatz]. Open-Data-Plattform Mobilität Schweiz.</a:t>
            </a:r>
          </a:p>
          <a:p>
            <a:pPr>
              <a:spcAft>
                <a:spcPts val="200"/>
              </a:spcAft>
              <a:defRPr sz="1400" b="0" i="0">
                <a:solidFill>
                  <a:srgbClr val="17364A"/>
                </a:solidFill>
                <a:latin typeface="Aptos"/>
              </a:defRPr>
            </a:pPr>
            <a:r>
              <a:rPr>
                <a:hlinkClick r:id="rId4"/>
              </a:rPr>
              <a:t>https://archive.opentransportdata.swiss/timetable_gtfs.htm</a:t>
            </a:r>
          </a:p>
        </p:txBody>
      </p:sp>
      <p:sp>
        <p:nvSpPr>
          <p:cNvPr id="8" name="TextBox 7"/>
          <p:cNvSpPr txBox="1"/>
          <p:nvPr/>
        </p:nvSpPr>
        <p:spPr>
          <a:xfrm>
            <a:off x="502920" y="2651760"/>
            <a:ext cx="11155680" cy="685800"/>
          </a:xfrm>
          <a:prstGeom prst="rect">
            <a:avLst/>
          </a:prstGeom>
          <a:noFill/>
        </p:spPr>
        <p:txBody>
          <a:bodyPr wrap="square">
            <a:spAutoFit/>
          </a:bodyPr>
          <a:lstStyle/>
          <a:p>
            <a:pPr>
              <a:spcAft>
                <a:spcPts val="200"/>
              </a:spcAft>
              <a:defRPr sz="1400" b="0" i="0">
                <a:solidFill>
                  <a:srgbClr val="17364A"/>
                </a:solidFill>
                <a:latin typeface="Aptos"/>
              </a:defRPr>
            </a:pPr>
            <a:r>
              <a:t>Bundesamt für Landestopografie swisstopo. (2026). swissBOUNDARIES3D [Datensatz].</a:t>
            </a:r>
          </a:p>
          <a:p>
            <a:pPr>
              <a:spcAft>
                <a:spcPts val="200"/>
              </a:spcAft>
              <a:defRPr sz="1400" b="0" i="0">
                <a:solidFill>
                  <a:srgbClr val="17364A"/>
                </a:solidFill>
                <a:latin typeface="Aptos"/>
              </a:defRPr>
            </a:pPr>
            <a:r>
              <a:rPr>
                <a:hlinkClick r:id="rId5"/>
              </a:rPr>
              <a:t>https://www.swisstopo.admin.ch</a:t>
            </a:r>
          </a:p>
        </p:txBody>
      </p:sp>
      <p:sp>
        <p:nvSpPr>
          <p:cNvPr id="9" name="TextBox 8"/>
          <p:cNvSpPr txBox="1"/>
          <p:nvPr/>
        </p:nvSpPr>
        <p:spPr>
          <a:xfrm>
            <a:off x="502920" y="338328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(o. J.). So misst die SBB die Pünktlichkeit [Webseite].</a:t>
            </a:r>
          </a:p>
          <a:p>
            <a:pPr>
              <a:spcAft>
                <a:spcPts val="200"/>
              </a:spcAft>
              <a:defRPr sz="1400" b="0" i="0">
                <a:solidFill>
                  <a:srgbClr val="17364A"/>
                </a:solidFill>
                <a:latin typeface="Aptos"/>
              </a:defRPr>
            </a:pPr>
            <a:r>
              <a:rPr>
                <a:hlinkClick r:id="rId6"/>
              </a:rPr>
              <a:t>https://company.sbb.ch/de/unternehmen/verantwortung/kunden/puenktlichkeit.html</a:t>
            </a:r>
          </a:p>
        </p:txBody>
      </p:sp>
      <p:sp>
        <p:nvSpPr>
          <p:cNvPr id="10" name="TextBox 9"/>
          <p:cNvSpPr txBox="1"/>
          <p:nvPr/>
        </p:nvSpPr>
        <p:spPr>
          <a:xfrm>
            <a:off x="502920" y="4114800"/>
            <a:ext cx="11155680" cy="685800"/>
          </a:xfrm>
          <a:prstGeom prst="rect">
            <a:avLst/>
          </a:prstGeom>
          <a:noFill/>
        </p:spPr>
        <p:txBody>
          <a:bodyPr wrap="square">
            <a:spAutoFit/>
          </a:bodyPr>
          <a:lstStyle/>
          <a:p>
            <a:pPr>
              <a:spcAft>
                <a:spcPts val="200"/>
              </a:spcAft>
              <a:defRPr sz="1400" b="0" i="0">
                <a:solidFill>
                  <a:srgbClr val="17364A"/>
                </a:solidFill>
                <a:latin typeface="Aptos"/>
              </a:defRPr>
            </a:pPr>
            <a:r>
              <a:t>DuckDB Foundation. (2026). DuckDB documentation.</a:t>
            </a:r>
          </a:p>
          <a:p>
            <a:pPr>
              <a:spcAft>
                <a:spcPts val="200"/>
              </a:spcAft>
              <a:defRPr sz="1400" b="0" i="0">
                <a:solidFill>
                  <a:srgbClr val="17364A"/>
                </a:solidFill>
                <a:latin typeface="Aptos"/>
              </a:defRPr>
            </a:pPr>
            <a:r>
              <a:rPr>
                <a:hlinkClick r:id="rId7"/>
              </a:rPr>
              <a:t>https://duckdb.org/docs/</a:t>
            </a:r>
          </a:p>
        </p:txBody>
      </p:sp>
      <p:sp>
        <p:nvSpPr>
          <p:cNvPr id="11" name="TextBox 10"/>
          <p:cNvSpPr txBox="1"/>
          <p:nvPr/>
        </p:nvSpPr>
        <p:spPr>
          <a:xfrm>
            <a:off x="502920" y="48463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Reis, J., &amp; Housley, M. (2022). Fundamentals of data engineering. O’Reilly Media.</a:t>
            </a:r>
          </a:p>
        </p:txBody>
      </p:sp>
      <p:sp>
        <p:nvSpPr>
          <p:cNvPr id="12" name="TextBox 11"/>
          <p:cNvSpPr txBox="1"/>
          <p:nvPr/>
        </p:nvSpPr>
        <p:spPr>
          <a:xfrm>
            <a:off x="502920" y="55778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Weitere Quellen (MeteoSchweiz, swisstopo Höhendienst, SciPy, statsmodels): siehe Folie Quellen von Paket C und README.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ÖV und Wetter: Paket A</dc:title>
  <dc:subject>Konzept, Hypothesen, Methodik und Lifecycle</dc:subject>
  <dc:creator>Timon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