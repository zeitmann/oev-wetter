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Sekunden. Die Ist-Daten enthalten für jeden Halt jeder Fahrt die Fahrplanzeit und die effektive Zeit oder die letzte Prognose. Version 2 gibt es ab Juli 2025, unser Zeitraum ist also vollständig abgedeckt. Die Zeiten sind Lokalzeit ohne Zeitzone, und die Sommerzeitumstellung am 29. März liegt im Zeitraum. Das behandeln wir beim Laden. Details: docs/quellenprofil_istdaten.md.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Das Skript lädt Tag für Tag. Die Datei wird nie ganz in den Speicher geladen: DuckDB liest sie streamend und filtert direkt per SQL. Die gefilterten Rohdaten legen wir unverändert ab, dann wird der Tag in einer Transaktion in der Datenbank ersetzt. Dadurch ist das Skript idempotent: Ein zweiter Lauf überspringt fertige Tage, getestet mit allen 90 Tagen. Downloads landen zuerst in einer Teildatei, Fehler stehen im Log und das Skript endet mit Fehlercode.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Ungefiltert wären es 215 Millionen Zeilen. Wir behalten nur Bahn und Bus an Haltestellen in den vier Kantonen. Die Haltestellenliste haben wir selbst gebaut: Koordinaten aus dem GTFS-Fahrplan, Kanton per Punkt-in-Polygon mit den Kantonsgrenzen von swisstopo. Übrig bleiben 17 Millionen Halte, fast 90 Prozent davon Bus. Beim Laden bereinigen wir nur Technisches (Duplikate, Haltestellennummer, Zeitzone). Inhaltliche Filter macht Paket C, damit nachvollziehbar bleibt, was wegfällt. Wichtig für die Analyse: Bei der Bahn sind knapp 90 Prozent der Ankünfte echt gemessen, beim Bus nur zwei Drittel.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Unsere Fragen sind analytisch: gruppieren und verknüpfen über Millionen Zeilen. Dafür ist eine spaltenorientierte Datenbank wie DuckDB gebaut. Sie liest die grossen CSV-Dateien direkt und streamend und ist eine einzige Datei ohne Server, also kann jedes Gruppenmitglied sie sofort nachbauen. Die Schwäche ist der Mehrbenutzerbetrieb. Falls das Dashboard in Teil 2 viele gleichzeitige Zugriffe braucht, wechseln wir auf PostgreSQL; das Schema ist Standard-SQL. Details: docs/storage_evaluation.md.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50 Sekunden. Die Tabelle halt ist das Herz: ein Eintrag pro Halt einer Fahrt, mit Soll, Ist, Status und Verspätung. Über die 7-stellige Haltestellennummer hängt sie an der Haltestelle. Paket C ordnet jeder Haltestelle die nächste Wetterstation zu, und über Station und Stunde kommen die Messwerte dazu. Das ingest_log protokolliert jeden Ladelauf. Schema und Spaltennamen haben B und C am Anfang gemeinsam festgelegt (docs/schema_absprache.md); Indizes auf Soll-Zeit und Haltestelle.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Sekunden. Die ersten zwei Zeilen haben wir gemessen, die letzte ist hochgerechnet. Für mehr Kantone braucht es nur eine längere Haltestellenliste, Code und Schema bleiben gleich. Bei der ganzen Schweiz könnte man die Daten als Parquet liegen lassen und DuckDB direkt darauf abfragen. Die echte Grenze ist der Mehrbenutzerbetrieb, dafür wäre PostgreSQL die nächste Stufe. Die gefilterten Daten liegen als Parquet (305 MB) auf OneDrive, Link im README. Damit übergebe ich an Enis.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Anhang, nicht Teil der fünf Minuten. Nur zeigen, falls gefragt.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Anhang, nicht Teil der fünf Minuten. Nur zeigen, falls gefragt.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Ist-Daten v2: jeder Halt mit Soll- und Ist-Zeit</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27.10.2026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a:t>
            </a:r>
          </a:p>
        </p:txBody>
      </p:sp>
      <p:graphicFrame>
        <p:nvGraphicFramePr>
          <p:cNvPr id="6" name="Table 5"/>
          <p:cNvGraphicFramePr>
            <a:graphicFrameLocks noGrp="1"/>
          </p:cNvGraphicFramePr>
          <p:nvPr/>
        </p:nvGraphicFramePr>
        <p:xfrm>
          <a:off x="502920" y="1234440"/>
          <a:ext cx="11155680" cy="2880360"/>
        </p:xfrm>
        <a:graphic>
          <a:graphicData uri="http://schemas.openxmlformats.org/drawingml/2006/table">
            <a:tbl>
              <a:tblPr firstRow="1" bandRow="1">
                <a:tableStyleId>{5C22544A-7EE6-4342-B048-85BDC9FD1C3A}</a:tableStyleId>
              </a:tblPr>
              <a:tblGrid>
                <a:gridCol w="2743200"/>
                <a:gridCol w="8412480"/>
              </a:tblGrid>
              <a:tr h="411480">
                <a:tc>
                  <a:txBody>
                    <a:bodyPr/>
                    <a:lstStyle/>
                    <a:p>
                      <a:pPr>
                        <a:defRPr sz="1700" b="1">
                          <a:solidFill>
                            <a:srgbClr val="FFFFFF"/>
                          </a:solidFill>
                          <a:latin typeface="Aptos"/>
                        </a:defRPr>
                      </a:pPr>
                      <a:r>
                        <a:t>Merkmal</a:t>
                      </a:r>
                    </a:p>
                  </a:txBody>
                  <a:tcPr>
                    <a:solidFill>
                      <a:srgbClr val="17364A"/>
                    </a:solidFill>
                  </a:tcPr>
                </a:tc>
                <a:tc>
                  <a:txBody>
                    <a:bodyPr/>
                    <a:lstStyle/>
                    <a:p>
                      <a:pPr>
                        <a:defRPr sz="1700" b="1">
                          <a:solidFill>
                            <a:srgbClr val="FFFFFF"/>
                          </a:solidFill>
                          <a:latin typeface="Aptos"/>
                        </a:defRPr>
                      </a:pPr>
                      <a:r>
                        <a:t>Befund</a:t>
                      </a:r>
                    </a:p>
                  </a:txBody>
                  <a:tcPr>
                    <a:solidFill>
                      <a:srgbClr val="17364A"/>
                    </a:solidFill>
                  </a:tcPr>
                </a:tc>
              </a:tr>
              <a:tr h="411480">
                <a:tc>
                  <a:txBody>
                    <a:bodyPr/>
                    <a:lstStyle/>
                    <a:p>
                      <a:pPr>
                        <a:defRPr sz="1700" b="0">
                          <a:solidFill>
                            <a:srgbClr val="17364A"/>
                          </a:solidFill>
                          <a:latin typeface="Aptos"/>
                        </a:defRPr>
                      </a:pPr>
                      <a:r>
                        <a:t>Herkunft</a:t>
                      </a:r>
                    </a:p>
                  </a:txBody>
                  <a:tcPr>
                    <a:solidFill>
                      <a:srgbClr val="FFFFFF"/>
                    </a:solidFill>
                  </a:tcPr>
                </a:tc>
                <a:tc>
                  <a:txBody>
                    <a:bodyPr/>
                    <a:lstStyle/>
                    <a:p>
                      <a:pPr>
                        <a:defRPr sz="1700" b="0">
                          <a:solidFill>
                            <a:srgbClr val="17364A"/>
                          </a:solidFill>
                          <a:latin typeface="Aptos"/>
                        </a:defRPr>
                      </a:pPr>
                      <a:r>
                        <a:t>Geschäftsstelle SKI (SBB AG) im Auftrag des BAV, opentransportdata.swiss</a:t>
                      </a:r>
                    </a:p>
                  </a:txBody>
                  <a:tcPr>
                    <a:solidFill>
                      <a:srgbClr val="FFFFFF"/>
                    </a:solidFill>
                  </a:tcPr>
                </a:tc>
              </a:tr>
              <a:tr h="411480">
                <a:tc>
                  <a:txBody>
                    <a:bodyPr/>
                    <a:lstStyle/>
                    <a:p>
                      <a:pPr>
                        <a:defRPr sz="1700" b="0">
                          <a:solidFill>
                            <a:srgbClr val="17364A"/>
                          </a:solidFill>
                          <a:latin typeface="Aptos"/>
                        </a:defRPr>
                      </a:pPr>
                      <a:r>
                        <a:t>Zugang und Lizenz</a:t>
                      </a:r>
                    </a:p>
                  </a:txBody>
                  <a:tcPr>
                    <a:solidFill>
                      <a:srgbClr val="EEF4F6"/>
                    </a:solidFill>
                  </a:tcPr>
                </a:tc>
                <a:tc>
                  <a:txBody>
                    <a:bodyPr/>
                    <a:lstStyle/>
                    <a:p>
                      <a:pPr>
                        <a:defRPr sz="1700" b="0">
                          <a:solidFill>
                            <a:srgbClr val="17364A"/>
                          </a:solidFill>
                          <a:latin typeface="Aptos"/>
                        </a:defRPr>
                      </a:pPr>
                      <a:r>
                        <a:t>Monatsarchiv als Zip, frei ohne Login, Quellenangabe Pflicht</a:t>
                      </a:r>
                    </a:p>
                  </a:txBody>
                  <a:tcPr>
                    <a:solidFill>
                      <a:srgbClr val="EEF4F6"/>
                    </a:solidFill>
                  </a:tcPr>
                </a:tc>
              </a:tr>
              <a:tr h="411480">
                <a:tc>
                  <a:txBody>
                    <a:bodyPr/>
                    <a:lstStyle/>
                    <a:p>
                      <a:pPr>
                        <a:defRPr sz="1700" b="0">
                          <a:solidFill>
                            <a:srgbClr val="17364A"/>
                          </a:solidFill>
                          <a:latin typeface="Aptos"/>
                        </a:defRPr>
                      </a:pPr>
                      <a:r>
                        <a:t>Abdeckung</a:t>
                      </a:r>
                    </a:p>
                  </a:txBody>
                  <a:tcPr>
                    <a:solidFill>
                      <a:srgbClr val="FFFFFF"/>
                    </a:solidFill>
                  </a:tcPr>
                </a:tc>
                <a:tc>
                  <a:txBody>
                    <a:bodyPr/>
                    <a:lstStyle/>
                    <a:p>
                      <a:pPr>
                        <a:defRPr sz="1700" b="0">
                          <a:solidFill>
                            <a:srgbClr val="17364A"/>
                          </a:solidFill>
                          <a:latin typeface="Aptos"/>
                        </a:defRPr>
                      </a:pPr>
                      <a:r>
                        <a:t>v2 ab Juli 2025, 1.1. bis 31.3.2026 vollständig (90 Tage)</a:t>
                      </a:r>
                    </a:p>
                  </a:txBody>
                  <a:tcPr>
                    <a:solidFill>
                      <a:srgbClr val="FFFFFF"/>
                    </a:solidFill>
                  </a:tcPr>
                </a:tc>
              </a:tr>
              <a:tr h="411480">
                <a:tc>
                  <a:txBody>
                    <a:bodyPr/>
                    <a:lstStyle/>
                    <a:p>
                      <a:pPr>
                        <a:defRPr sz="1700" b="0">
                          <a:solidFill>
                            <a:srgbClr val="17364A"/>
                          </a:solidFill>
                          <a:latin typeface="Aptos"/>
                        </a:defRPr>
                      </a:pPr>
                      <a:r>
                        <a:t>Format</a:t>
                      </a:r>
                    </a:p>
                  </a:txBody>
                  <a:tcPr>
                    <a:solidFill>
                      <a:srgbClr val="EEF4F6"/>
                    </a:solidFill>
                  </a:tcPr>
                </a:tc>
                <a:tc>
                  <a:txBody>
                    <a:bodyPr/>
                    <a:lstStyle/>
                    <a:p>
                      <a:pPr>
                        <a:defRPr sz="1700" b="0">
                          <a:solidFill>
                            <a:srgbClr val="17364A"/>
                          </a:solidFill>
                          <a:latin typeface="Aptos"/>
                        </a:defRPr>
                      </a:pPr>
                      <a:r>
                        <a:t>CSV mit Trennzeichen «;», UTF-8, 22 Spalten, eine Datei pro Tag</a:t>
                      </a:r>
                    </a:p>
                  </a:txBody>
                  <a:tcPr>
                    <a:solidFill>
                      <a:srgbClr val="EEF4F6"/>
                    </a:solidFill>
                  </a:tcPr>
                </a:tc>
              </a:tr>
              <a:tr h="411480">
                <a:tc>
                  <a:txBody>
                    <a:bodyPr/>
                    <a:lstStyle/>
                    <a:p>
                      <a:pPr>
                        <a:defRPr sz="1700" b="0">
                          <a:solidFill>
                            <a:srgbClr val="17364A"/>
                          </a:solidFill>
                          <a:latin typeface="Aptos"/>
                        </a:defRPr>
                      </a:pPr>
                      <a:r>
                        <a:t>Grösse</a:t>
                      </a:r>
                    </a:p>
                  </a:txBody>
                  <a:tcPr>
                    <a:solidFill>
                      <a:srgbClr val="FFFFFF"/>
                    </a:solidFill>
                  </a:tcPr>
                </a:tc>
                <a:tc>
                  <a:txBody>
                    <a:bodyPr/>
                    <a:lstStyle/>
                    <a:p>
                      <a:pPr>
                        <a:defRPr sz="1700" b="0">
                          <a:solidFill>
                            <a:srgbClr val="17364A"/>
                          </a:solidFill>
                          <a:latin typeface="Aptos"/>
                        </a:defRPr>
                      </a:pPr>
                      <a:r>
                        <a:t>420 bis 650 MB pro Tag, ca. 2,4 Mio. Zeilen (ganze Schweiz)</a:t>
                      </a:r>
                    </a:p>
                  </a:txBody>
                  <a:tcPr>
                    <a:solidFill>
                      <a:srgbClr val="FFFFFF"/>
                    </a:solidFill>
                  </a:tcPr>
                </a:tc>
              </a:tr>
              <a:tr h="411480">
                <a:tc>
                  <a:txBody>
                    <a:bodyPr/>
                    <a:lstStyle/>
                    <a:p>
                      <a:pPr>
                        <a:defRPr sz="1700" b="0">
                          <a:solidFill>
                            <a:srgbClr val="17364A"/>
                          </a:solidFill>
                          <a:latin typeface="Aptos"/>
                        </a:defRPr>
                      </a:pPr>
                      <a:r>
                        <a:t>Zeitformat</a:t>
                      </a:r>
                    </a:p>
                  </a:txBody>
                  <a:tcPr>
                    <a:solidFill>
                      <a:srgbClr val="EEF4F6"/>
                    </a:solidFill>
                  </a:tcPr>
                </a:tc>
                <a:tc>
                  <a:txBody>
                    <a:bodyPr/>
                    <a:lstStyle/>
                    <a:p>
                      <a:pPr>
                        <a:defRPr sz="1700" b="0">
                          <a:solidFill>
                            <a:srgbClr val="17364A"/>
                          </a:solidFill>
                          <a:latin typeface="Aptos"/>
                        </a:defRPr>
                      </a:pPr>
                      <a:r>
                        <a:t>Lokalzeit ohne Zeitzone, Sommerzeit am 29.3.2026 im Zeitraum</a:t>
                      </a:r>
                    </a:p>
                  </a:txBody>
                  <a:tcPr>
                    <a:solidFill>
                      <a:srgbClr val="EEF4F6"/>
                    </a:solidFill>
                  </a:tcPr>
                </a:tc>
              </a:tr>
            </a:tbl>
          </a:graphicData>
        </a:graphic>
      </p:graphicFrame>
      <p:sp>
        <p:nvSpPr>
          <p:cNvPr id="7" name="TextBox 6"/>
          <p:cNvSpPr txBox="1"/>
          <p:nvPr/>
        </p:nvSpPr>
        <p:spPr>
          <a:xfrm>
            <a:off x="502920" y="4754880"/>
            <a:ext cx="11155680" cy="822960"/>
          </a:xfrm>
          <a:prstGeom prst="rect">
            <a:avLst/>
          </a:prstGeom>
          <a:noFill/>
        </p:spPr>
        <p:txBody>
          <a:bodyPr wrap="square">
            <a:spAutoFit/>
          </a:bodyPr>
          <a:lstStyle/>
          <a:p>
            <a:pPr>
              <a:spcAft>
                <a:spcPts val="1200"/>
              </a:spcAft>
              <a:defRPr sz="1500" b="0">
                <a:solidFill>
                  <a:srgbClr val="53616B"/>
                </a:solidFill>
                <a:latin typeface="Consolas"/>
              </a:defRPr>
            </a:pPr>
            <a:r>
              <a:t>Wichtige Spalten: BETRIEBSTAG, PRODUKT_ID, LINIEN_TEXT, BPUIC, ANKUNFTSZEIT, AN_PROGNOSE, AN_PROGNOSE_STATUS, FAELLT_AUS_TF, DURCHFAHRT_TF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Ingestion: ein Tag nach dem anderen, wiederholbar</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27.10.2026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2</a:t>
            </a:r>
          </a:p>
        </p:txBody>
      </p:sp>
      <p:sp>
        <p:nvSpPr>
          <p:cNvPr id="6" name="Rounded Rectangle 5"/>
          <p:cNvSpPr/>
          <p:nvPr/>
        </p:nvSpPr>
        <p:spPr>
          <a:xfrm>
            <a:off x="502920" y="1280160"/>
            <a:ext cx="192024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417320"/>
            <a:ext cx="1737360" cy="457200"/>
          </a:xfrm>
          <a:prstGeom prst="rect">
            <a:avLst/>
          </a:prstGeom>
          <a:noFill/>
        </p:spPr>
        <p:txBody>
          <a:bodyPr wrap="square">
            <a:spAutoFit/>
          </a:bodyPr>
          <a:lstStyle/>
          <a:p>
            <a:pPr>
              <a:spcAft>
                <a:spcPts val="1200"/>
              </a:spcAft>
              <a:defRPr sz="1800" b="1">
                <a:solidFill>
                  <a:srgbClr val="167D8D"/>
                </a:solidFill>
                <a:latin typeface="Aptos"/>
              </a:defRPr>
            </a:pPr>
            <a:r>
              <a:t>1 Laden</a:t>
            </a:r>
          </a:p>
        </p:txBody>
      </p:sp>
      <p:sp>
        <p:nvSpPr>
          <p:cNvPr id="8" name="TextBox 7"/>
          <p:cNvSpPr txBox="1"/>
          <p:nvPr/>
        </p:nvSpPr>
        <p:spPr>
          <a:xfrm>
            <a:off x="612648" y="1920240"/>
            <a:ext cx="1737360" cy="1005840"/>
          </a:xfrm>
          <a:prstGeom prst="rect">
            <a:avLst/>
          </a:prstGeom>
          <a:noFill/>
        </p:spPr>
        <p:txBody>
          <a:bodyPr wrap="square">
            <a:spAutoFit/>
          </a:bodyPr>
          <a:lstStyle/>
          <a:p>
            <a:pPr>
              <a:spcAft>
                <a:spcPts val="400"/>
              </a:spcAft>
              <a:defRPr sz="1400" b="0">
                <a:solidFill>
                  <a:srgbClr val="17364A"/>
                </a:solidFill>
                <a:latin typeface="Aptos"/>
              </a:defRPr>
            </a:pPr>
            <a:r>
              <a:t>Monats-Zip aus dem Archiv, mit Wiederholung</a:t>
            </a:r>
          </a:p>
        </p:txBody>
      </p:sp>
      <p:cxnSp>
        <p:nvCxnSpPr>
          <p:cNvPr id="9" name="Connector 8"/>
          <p:cNvCxnSpPr/>
          <p:nvPr/>
        </p:nvCxnSpPr>
        <p:spPr>
          <a:xfrm>
            <a:off x="2441448" y="2148840"/>
            <a:ext cx="329184"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788920" y="1280160"/>
            <a:ext cx="192024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8648" y="1417320"/>
            <a:ext cx="1737360" cy="457200"/>
          </a:xfrm>
          <a:prstGeom prst="rect">
            <a:avLst/>
          </a:prstGeom>
          <a:noFill/>
        </p:spPr>
        <p:txBody>
          <a:bodyPr wrap="square">
            <a:spAutoFit/>
          </a:bodyPr>
          <a:lstStyle/>
          <a:p>
            <a:pPr>
              <a:spcAft>
                <a:spcPts val="1200"/>
              </a:spcAft>
              <a:defRPr sz="1800" b="1">
                <a:solidFill>
                  <a:srgbClr val="167D8D"/>
                </a:solidFill>
                <a:latin typeface="Aptos"/>
              </a:defRPr>
            </a:pPr>
            <a:r>
              <a:t>2 Lesen</a:t>
            </a:r>
          </a:p>
        </p:txBody>
      </p:sp>
      <p:sp>
        <p:nvSpPr>
          <p:cNvPr id="12" name="TextBox 11"/>
          <p:cNvSpPr txBox="1"/>
          <p:nvPr/>
        </p:nvSpPr>
        <p:spPr>
          <a:xfrm>
            <a:off x="2898648" y="1920240"/>
            <a:ext cx="1737360" cy="1005840"/>
          </a:xfrm>
          <a:prstGeom prst="rect">
            <a:avLst/>
          </a:prstGeom>
          <a:noFill/>
        </p:spPr>
        <p:txBody>
          <a:bodyPr wrap="square">
            <a:spAutoFit/>
          </a:bodyPr>
          <a:lstStyle/>
          <a:p>
            <a:pPr>
              <a:spcAft>
                <a:spcPts val="400"/>
              </a:spcAft>
              <a:defRPr sz="1400" b="0">
                <a:solidFill>
                  <a:srgbClr val="17364A"/>
                </a:solidFill>
                <a:latin typeface="Aptos"/>
              </a:defRPr>
            </a:pPr>
            <a:r>
              <a:t>Tagesdatei streamend mit DuckDB</a:t>
            </a:r>
          </a:p>
        </p:txBody>
      </p:sp>
      <p:cxnSp>
        <p:nvCxnSpPr>
          <p:cNvPr id="13" name="Connector 12"/>
          <p:cNvCxnSpPr/>
          <p:nvPr/>
        </p:nvCxnSpPr>
        <p:spPr>
          <a:xfrm>
            <a:off x="4727448" y="2148840"/>
            <a:ext cx="329183"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74920" y="1280160"/>
            <a:ext cx="192024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84648" y="1417320"/>
            <a:ext cx="1737360" cy="457200"/>
          </a:xfrm>
          <a:prstGeom prst="rect">
            <a:avLst/>
          </a:prstGeom>
          <a:noFill/>
        </p:spPr>
        <p:txBody>
          <a:bodyPr wrap="square">
            <a:spAutoFit/>
          </a:bodyPr>
          <a:lstStyle/>
          <a:p>
            <a:pPr>
              <a:spcAft>
                <a:spcPts val="1200"/>
              </a:spcAft>
              <a:defRPr sz="1800" b="1">
                <a:solidFill>
                  <a:srgbClr val="167D8D"/>
                </a:solidFill>
                <a:latin typeface="Aptos"/>
              </a:defRPr>
            </a:pPr>
            <a:r>
              <a:t>3 Filtern</a:t>
            </a:r>
          </a:p>
        </p:txBody>
      </p:sp>
      <p:sp>
        <p:nvSpPr>
          <p:cNvPr id="16" name="TextBox 15"/>
          <p:cNvSpPr txBox="1"/>
          <p:nvPr/>
        </p:nvSpPr>
        <p:spPr>
          <a:xfrm>
            <a:off x="5184648" y="1920240"/>
            <a:ext cx="1737360" cy="1005840"/>
          </a:xfrm>
          <a:prstGeom prst="rect">
            <a:avLst/>
          </a:prstGeom>
          <a:noFill/>
        </p:spPr>
        <p:txBody>
          <a:bodyPr wrap="square">
            <a:spAutoFit/>
          </a:bodyPr>
          <a:lstStyle/>
          <a:p>
            <a:pPr>
              <a:spcAft>
                <a:spcPts val="400"/>
              </a:spcAft>
              <a:defRPr sz="1400" b="0">
                <a:solidFill>
                  <a:srgbClr val="17364A"/>
                </a:solidFill>
                <a:latin typeface="Aptos"/>
              </a:defRPr>
            </a:pPr>
            <a:r>
              <a:t>Bahn und Bus, 2587 Haltestellen</a:t>
            </a:r>
          </a:p>
        </p:txBody>
      </p:sp>
      <p:cxnSp>
        <p:nvCxnSpPr>
          <p:cNvPr id="17" name="Connector 16"/>
          <p:cNvCxnSpPr/>
          <p:nvPr/>
        </p:nvCxnSpPr>
        <p:spPr>
          <a:xfrm>
            <a:off x="7013448" y="2148840"/>
            <a:ext cx="329183"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60920" y="1280160"/>
            <a:ext cx="192024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70648" y="1417320"/>
            <a:ext cx="1737360" cy="457200"/>
          </a:xfrm>
          <a:prstGeom prst="rect">
            <a:avLst/>
          </a:prstGeom>
          <a:noFill/>
        </p:spPr>
        <p:txBody>
          <a:bodyPr wrap="square">
            <a:spAutoFit/>
          </a:bodyPr>
          <a:lstStyle/>
          <a:p>
            <a:pPr>
              <a:spcAft>
                <a:spcPts val="1200"/>
              </a:spcAft>
              <a:defRPr sz="1800" b="1">
                <a:solidFill>
                  <a:srgbClr val="167D8D"/>
                </a:solidFill>
                <a:latin typeface="Aptos"/>
              </a:defRPr>
            </a:pPr>
            <a:r>
              <a:t>4 Ablegen</a:t>
            </a:r>
          </a:p>
        </p:txBody>
      </p:sp>
      <p:sp>
        <p:nvSpPr>
          <p:cNvPr id="20" name="TextBox 19"/>
          <p:cNvSpPr txBox="1"/>
          <p:nvPr/>
        </p:nvSpPr>
        <p:spPr>
          <a:xfrm>
            <a:off x="7470648" y="1920240"/>
            <a:ext cx="1737360" cy="1005840"/>
          </a:xfrm>
          <a:prstGeom prst="rect">
            <a:avLst/>
          </a:prstGeom>
          <a:noFill/>
        </p:spPr>
        <p:txBody>
          <a:bodyPr wrap="square">
            <a:spAutoFit/>
          </a:bodyPr>
          <a:lstStyle/>
          <a:p>
            <a:pPr>
              <a:spcAft>
                <a:spcPts val="400"/>
              </a:spcAft>
              <a:defRPr sz="1400" b="0">
                <a:solidFill>
                  <a:srgbClr val="17364A"/>
                </a:solidFill>
                <a:latin typeface="Aptos"/>
              </a:defRPr>
            </a:pPr>
            <a:r>
              <a:t>gefilterte Rohdaten als CSV</a:t>
            </a:r>
          </a:p>
        </p:txBody>
      </p:sp>
      <p:cxnSp>
        <p:nvCxnSpPr>
          <p:cNvPr id="21" name="Connector 20"/>
          <p:cNvCxnSpPr/>
          <p:nvPr/>
        </p:nvCxnSpPr>
        <p:spPr>
          <a:xfrm>
            <a:off x="9299448" y="2148840"/>
            <a:ext cx="329184"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646920" y="1280160"/>
            <a:ext cx="1920240" cy="1737360"/>
          </a:xfrm>
          <a:prstGeom prst="roundRect">
            <a:avLst>
              <a:gd name="adj" fmla="val 6000"/>
            </a:avLst>
          </a:prstGeom>
          <a:solidFill>
            <a:srgbClr val="173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56648" y="1417320"/>
            <a:ext cx="1737360" cy="457200"/>
          </a:xfrm>
          <a:prstGeom prst="rect">
            <a:avLst/>
          </a:prstGeom>
          <a:noFill/>
        </p:spPr>
        <p:txBody>
          <a:bodyPr wrap="square">
            <a:spAutoFit/>
          </a:bodyPr>
          <a:lstStyle/>
          <a:p>
            <a:pPr>
              <a:spcAft>
                <a:spcPts val="1200"/>
              </a:spcAft>
              <a:defRPr sz="1800" b="1">
                <a:solidFill>
                  <a:srgbClr val="FFFFFF"/>
                </a:solidFill>
                <a:latin typeface="Aptos"/>
              </a:defRPr>
            </a:pPr>
            <a:r>
              <a:t>5 Speichern</a:t>
            </a:r>
          </a:p>
        </p:txBody>
      </p:sp>
      <p:sp>
        <p:nvSpPr>
          <p:cNvPr id="24" name="TextBox 23"/>
          <p:cNvSpPr txBox="1"/>
          <p:nvPr/>
        </p:nvSpPr>
        <p:spPr>
          <a:xfrm>
            <a:off x="9756648" y="1920240"/>
            <a:ext cx="1737360" cy="1005840"/>
          </a:xfrm>
          <a:prstGeom prst="rect">
            <a:avLst/>
          </a:prstGeom>
          <a:noFill/>
        </p:spPr>
        <p:txBody>
          <a:bodyPr wrap="square">
            <a:spAutoFit/>
          </a:bodyPr>
          <a:lstStyle/>
          <a:p>
            <a:pPr>
              <a:spcAft>
                <a:spcPts val="400"/>
              </a:spcAft>
              <a:defRPr sz="1400" b="0">
                <a:solidFill>
                  <a:srgbClr val="FFFFFF"/>
                </a:solidFill>
                <a:latin typeface="Aptos"/>
              </a:defRPr>
            </a:pPr>
            <a:r>
              <a:t>Tag in DuckDB ersetzen, eine Transaktion</a:t>
            </a:r>
          </a:p>
        </p:txBody>
      </p:sp>
      <p:sp>
        <p:nvSpPr>
          <p:cNvPr id="25" name="TextBox 24"/>
          <p:cNvSpPr txBox="1"/>
          <p:nvPr/>
        </p:nvSpPr>
        <p:spPr>
          <a:xfrm>
            <a:off x="502920" y="3429000"/>
            <a:ext cx="3566160" cy="457200"/>
          </a:xfrm>
          <a:prstGeom prst="rect">
            <a:avLst/>
          </a:prstGeom>
          <a:noFill/>
        </p:spPr>
        <p:txBody>
          <a:bodyPr wrap="square">
            <a:spAutoFit/>
          </a:bodyPr>
          <a:lstStyle/>
          <a:p>
            <a:pPr>
              <a:spcAft>
                <a:spcPts val="1200"/>
              </a:spcAft>
              <a:defRPr sz="2000" b="1">
                <a:solidFill>
                  <a:srgbClr val="167D8D"/>
                </a:solidFill>
                <a:latin typeface="Aptos"/>
              </a:defRPr>
            </a:pPr>
            <a:r>
              <a:t>Idempotent</a:t>
            </a:r>
          </a:p>
        </p:txBody>
      </p:sp>
      <p:sp>
        <p:nvSpPr>
          <p:cNvPr id="26" name="TextBox 25"/>
          <p:cNvSpPr txBox="1"/>
          <p:nvPr/>
        </p:nvSpPr>
        <p:spPr>
          <a:xfrm>
            <a:off x="502920" y="3931920"/>
            <a:ext cx="3566160" cy="1280160"/>
          </a:xfrm>
          <a:prstGeom prst="rect">
            <a:avLst/>
          </a:prstGeom>
          <a:noFill/>
        </p:spPr>
        <p:txBody>
          <a:bodyPr wrap="square">
            <a:spAutoFit/>
          </a:bodyPr>
          <a:lstStyle/>
          <a:p>
            <a:pPr>
              <a:spcAft>
                <a:spcPts val="1200"/>
              </a:spcAft>
              <a:defRPr sz="1600" b="0">
                <a:solidFill>
                  <a:srgbClr val="17364A"/>
                </a:solidFill>
                <a:latin typeface="Aptos"/>
              </a:defRPr>
            </a:pPr>
            <a:r>
              <a:t>Geladene Tage werden übersprungen, ein neuer Lauf erzeugt keine Duplikate.</a:t>
            </a:r>
          </a:p>
        </p:txBody>
      </p:sp>
      <p:sp>
        <p:nvSpPr>
          <p:cNvPr id="27" name="TextBox 26"/>
          <p:cNvSpPr txBox="1"/>
          <p:nvPr/>
        </p:nvSpPr>
        <p:spPr>
          <a:xfrm>
            <a:off x="4297680" y="3429000"/>
            <a:ext cx="3566160" cy="457200"/>
          </a:xfrm>
          <a:prstGeom prst="rect">
            <a:avLst/>
          </a:prstGeom>
          <a:noFill/>
        </p:spPr>
        <p:txBody>
          <a:bodyPr wrap="square">
            <a:spAutoFit/>
          </a:bodyPr>
          <a:lstStyle/>
          <a:p>
            <a:pPr>
              <a:spcAft>
                <a:spcPts val="1200"/>
              </a:spcAft>
              <a:defRPr sz="2000" b="1">
                <a:solidFill>
                  <a:srgbClr val="167D8D"/>
                </a:solidFill>
                <a:latin typeface="Aptos"/>
              </a:defRPr>
            </a:pPr>
            <a:r>
              <a:t>Protokolliert</a:t>
            </a:r>
          </a:p>
        </p:txBody>
      </p:sp>
      <p:sp>
        <p:nvSpPr>
          <p:cNvPr id="28" name="TextBox 27"/>
          <p:cNvSpPr txBox="1"/>
          <p:nvPr/>
        </p:nvSpPr>
        <p:spPr>
          <a:xfrm>
            <a:off x="4297680" y="3931920"/>
            <a:ext cx="3566160" cy="1280160"/>
          </a:xfrm>
          <a:prstGeom prst="rect">
            <a:avLst/>
          </a:prstGeom>
          <a:noFill/>
        </p:spPr>
        <p:txBody>
          <a:bodyPr wrap="square">
            <a:spAutoFit/>
          </a:bodyPr>
          <a:lstStyle/>
          <a:p>
            <a:pPr>
              <a:spcAft>
                <a:spcPts val="1200"/>
              </a:spcAft>
              <a:defRPr sz="1600" b="0">
                <a:solidFill>
                  <a:srgbClr val="17364A"/>
                </a:solidFill>
                <a:latin typeface="Aptos"/>
              </a:defRPr>
            </a:pPr>
            <a:r>
              <a:t>Pro Tag Zeilen vor und nach dem Filter, Dauer und Fehler in Logfile und Tabelle ingest_log.</a:t>
            </a:r>
          </a:p>
        </p:txBody>
      </p:sp>
      <p:sp>
        <p:nvSpPr>
          <p:cNvPr id="29" name="TextBox 28"/>
          <p:cNvSpPr txBox="1"/>
          <p:nvPr/>
        </p:nvSpPr>
        <p:spPr>
          <a:xfrm>
            <a:off x="8092440" y="3429000"/>
            <a:ext cx="3566160" cy="457200"/>
          </a:xfrm>
          <a:prstGeom prst="rect">
            <a:avLst/>
          </a:prstGeom>
          <a:noFill/>
        </p:spPr>
        <p:txBody>
          <a:bodyPr wrap="square">
            <a:spAutoFit/>
          </a:bodyPr>
          <a:lstStyle/>
          <a:p>
            <a:pPr>
              <a:spcAft>
                <a:spcPts val="1200"/>
              </a:spcAft>
              <a:defRPr sz="2000" b="1">
                <a:solidFill>
                  <a:srgbClr val="167D8D"/>
                </a:solidFill>
                <a:latin typeface="Aptos"/>
              </a:defRPr>
            </a:pPr>
            <a:r>
              <a:t>Zeitzonen-sicher</a:t>
            </a:r>
          </a:p>
        </p:txBody>
      </p:sp>
      <p:sp>
        <p:nvSpPr>
          <p:cNvPr id="30" name="TextBox 29"/>
          <p:cNvSpPr txBox="1"/>
          <p:nvPr/>
        </p:nvSpPr>
        <p:spPr>
          <a:xfrm>
            <a:off x="8092440" y="3931920"/>
            <a:ext cx="3566160" cy="1280160"/>
          </a:xfrm>
          <a:prstGeom prst="rect">
            <a:avLst/>
          </a:prstGeom>
          <a:noFill/>
        </p:spPr>
        <p:txBody>
          <a:bodyPr wrap="square">
            <a:spAutoFit/>
          </a:bodyPr>
          <a:lstStyle/>
          <a:p>
            <a:pPr>
              <a:spcAft>
                <a:spcPts val="1200"/>
              </a:spcAft>
              <a:defRPr sz="1600" b="0">
                <a:solidFill>
                  <a:srgbClr val="17364A"/>
                </a:solidFill>
                <a:latin typeface="Aptos"/>
              </a:defRPr>
            </a:pPr>
            <a:r>
              <a:t>Alle Zeiten als TIMESTAMPTZ (ISO 8601 mit Zeitzone), Sommerzeit korrekt.</a:t>
            </a:r>
          </a:p>
        </p:txBody>
      </p:sp>
      <p:sp>
        <p:nvSpPr>
          <p:cNvPr id="31" name="TextBox 30"/>
          <p:cNvSpPr txBox="1"/>
          <p:nvPr/>
        </p:nvSpPr>
        <p:spPr>
          <a:xfrm>
            <a:off x="502920" y="5577840"/>
            <a:ext cx="11155680" cy="457200"/>
          </a:xfrm>
          <a:prstGeom prst="rect">
            <a:avLst/>
          </a:prstGeom>
          <a:noFill/>
        </p:spPr>
        <p:txBody>
          <a:bodyPr wrap="square">
            <a:spAutoFit/>
          </a:bodyPr>
          <a:lstStyle/>
          <a:p>
            <a:pPr>
              <a:spcAft>
                <a:spcPts val="1200"/>
              </a:spcAft>
              <a:defRPr sz="1300" b="0">
                <a:solidFill>
                  <a:srgbClr val="53616B"/>
                </a:solidFill>
                <a:latin typeface="Consolas"/>
              </a:defRPr>
            </a:pPr>
            <a:r>
              <a:t>python src/ingest_istdaten.py --start 2026-01-01 --end 2026-03-31 --stops data/stammdaten/haltestellen_ostschweiz.csv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Von 215 Mio. auf 17 Mio. Zeilen</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27.10.2026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3</a:t>
            </a:r>
          </a:p>
        </p:txBody>
      </p:sp>
      <p:sp>
        <p:nvSpPr>
          <p:cNvPr id="6" name="Rounded Rectangle 5"/>
          <p:cNvSpPr/>
          <p:nvPr/>
        </p:nvSpPr>
        <p:spPr>
          <a:xfrm>
            <a:off x="502920" y="1234440"/>
            <a:ext cx="3611880" cy="18288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3200400" cy="822960"/>
          </a:xfrm>
          <a:prstGeom prst="rect">
            <a:avLst/>
          </a:prstGeom>
          <a:noFill/>
        </p:spPr>
        <p:txBody>
          <a:bodyPr wrap="square">
            <a:spAutoFit/>
          </a:bodyPr>
          <a:lstStyle/>
          <a:p>
            <a:pPr>
              <a:spcAft>
                <a:spcPts val="1200"/>
              </a:spcAft>
              <a:defRPr sz="4000" b="1">
                <a:solidFill>
                  <a:srgbClr val="17364A"/>
                </a:solidFill>
                <a:latin typeface="Aptos"/>
              </a:defRPr>
            </a:pPr>
            <a:r>
              <a:t>215 Mio.</a:t>
            </a:r>
          </a:p>
        </p:txBody>
      </p:sp>
      <p:sp>
        <p:nvSpPr>
          <p:cNvPr id="8" name="TextBox 7"/>
          <p:cNvSpPr txBox="1"/>
          <p:nvPr/>
        </p:nvSpPr>
        <p:spPr>
          <a:xfrm>
            <a:off x="731520" y="2240280"/>
            <a:ext cx="3200400" cy="731520"/>
          </a:xfrm>
          <a:prstGeom prst="rect">
            <a:avLst/>
          </a:prstGeom>
          <a:noFill/>
        </p:spPr>
        <p:txBody>
          <a:bodyPr wrap="square">
            <a:spAutoFit/>
          </a:bodyPr>
          <a:lstStyle/>
          <a:p>
            <a:pPr>
              <a:spcAft>
                <a:spcPts val="1200"/>
              </a:spcAft>
              <a:defRPr sz="1600" b="0">
                <a:solidFill>
                  <a:srgbClr val="53616B"/>
                </a:solidFill>
                <a:latin typeface="Aptos"/>
              </a:defRPr>
            </a:pPr>
            <a:r>
              <a:t>Zeilen roh, 90 Tage, ganze Schweiz</a:t>
            </a:r>
          </a:p>
        </p:txBody>
      </p:sp>
      <p:sp>
        <p:nvSpPr>
          <p:cNvPr id="9" name="Rounded Rectangle 8"/>
          <p:cNvSpPr/>
          <p:nvPr/>
        </p:nvSpPr>
        <p:spPr>
          <a:xfrm>
            <a:off x="4297680" y="1234440"/>
            <a:ext cx="3611880" cy="18288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371600"/>
            <a:ext cx="3200400" cy="822960"/>
          </a:xfrm>
          <a:prstGeom prst="rect">
            <a:avLst/>
          </a:prstGeom>
          <a:noFill/>
        </p:spPr>
        <p:txBody>
          <a:bodyPr wrap="square">
            <a:spAutoFit/>
          </a:bodyPr>
          <a:lstStyle/>
          <a:p>
            <a:pPr>
              <a:spcAft>
                <a:spcPts val="1200"/>
              </a:spcAft>
              <a:defRPr sz="4000" b="1">
                <a:solidFill>
                  <a:srgbClr val="17364A"/>
                </a:solidFill>
                <a:latin typeface="Aptos"/>
              </a:defRPr>
            </a:pPr>
            <a:r>
              <a:t>2587</a:t>
            </a:r>
          </a:p>
        </p:txBody>
      </p:sp>
      <p:sp>
        <p:nvSpPr>
          <p:cNvPr id="11" name="TextBox 10"/>
          <p:cNvSpPr txBox="1"/>
          <p:nvPr/>
        </p:nvSpPr>
        <p:spPr>
          <a:xfrm>
            <a:off x="4526280" y="2240280"/>
            <a:ext cx="3200400" cy="731520"/>
          </a:xfrm>
          <a:prstGeom prst="rect">
            <a:avLst/>
          </a:prstGeom>
          <a:noFill/>
        </p:spPr>
        <p:txBody>
          <a:bodyPr wrap="square">
            <a:spAutoFit/>
          </a:bodyPr>
          <a:lstStyle/>
          <a:p>
            <a:pPr>
              <a:spcAft>
                <a:spcPts val="1200"/>
              </a:spcAft>
              <a:defRPr sz="1600" b="0">
                <a:solidFill>
                  <a:srgbClr val="53616B"/>
                </a:solidFill>
                <a:latin typeface="Aptos"/>
              </a:defRPr>
            </a:pPr>
            <a:r>
              <a:t>Haltestellen in SG, TG, AR und AI</a:t>
            </a:r>
          </a:p>
        </p:txBody>
      </p:sp>
      <p:sp>
        <p:nvSpPr>
          <p:cNvPr id="12" name="Rounded Rectangle 11"/>
          <p:cNvSpPr/>
          <p:nvPr/>
        </p:nvSpPr>
        <p:spPr>
          <a:xfrm>
            <a:off x="8092440" y="1234440"/>
            <a:ext cx="3611880" cy="1828800"/>
          </a:xfrm>
          <a:prstGeom prst="roundRect">
            <a:avLst>
              <a:gd name="adj" fmla="val 6000"/>
            </a:avLst>
          </a:prstGeom>
          <a:solidFill>
            <a:srgbClr val="173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371600"/>
            <a:ext cx="3200400" cy="822960"/>
          </a:xfrm>
          <a:prstGeom prst="rect">
            <a:avLst/>
          </a:prstGeom>
          <a:noFill/>
        </p:spPr>
        <p:txBody>
          <a:bodyPr wrap="square">
            <a:spAutoFit/>
          </a:bodyPr>
          <a:lstStyle/>
          <a:p>
            <a:pPr>
              <a:spcAft>
                <a:spcPts val="1200"/>
              </a:spcAft>
              <a:defRPr sz="4000" b="1">
                <a:solidFill>
                  <a:srgbClr val="FFFFFF"/>
                </a:solidFill>
                <a:latin typeface="Aptos"/>
              </a:defRPr>
            </a:pPr>
            <a:r>
              <a:t>17,07 Mio.</a:t>
            </a:r>
          </a:p>
        </p:txBody>
      </p:sp>
      <p:sp>
        <p:nvSpPr>
          <p:cNvPr id="14" name="TextBox 13"/>
          <p:cNvSpPr txBox="1"/>
          <p:nvPr/>
        </p:nvSpPr>
        <p:spPr>
          <a:xfrm>
            <a:off x="8321040" y="2240280"/>
            <a:ext cx="3200400" cy="731520"/>
          </a:xfrm>
          <a:prstGeom prst="rect">
            <a:avLst/>
          </a:prstGeom>
          <a:noFill/>
        </p:spPr>
        <p:txBody>
          <a:bodyPr wrap="square">
            <a:spAutoFit/>
          </a:bodyPr>
          <a:lstStyle/>
          <a:p>
            <a:pPr>
              <a:spcAft>
                <a:spcPts val="1200"/>
              </a:spcAft>
              <a:defRPr sz="1600" b="0">
                <a:solidFill>
                  <a:srgbClr val="FFFFFF"/>
                </a:solidFill>
                <a:latin typeface="Aptos"/>
              </a:defRPr>
            </a:pPr>
            <a:r>
              <a:t>Halte in der Datenbank (Bahn 1,75, Bus 15,32)</a:t>
            </a:r>
          </a:p>
        </p:txBody>
      </p:sp>
      <p:sp>
        <p:nvSpPr>
          <p:cNvPr id="15" name="TextBox 14"/>
          <p:cNvSpPr txBox="1"/>
          <p:nvPr/>
        </p:nvSpPr>
        <p:spPr>
          <a:xfrm>
            <a:off x="502920" y="3291840"/>
            <a:ext cx="5486400" cy="457200"/>
          </a:xfrm>
          <a:prstGeom prst="rect">
            <a:avLst/>
          </a:prstGeom>
          <a:noFill/>
        </p:spPr>
        <p:txBody>
          <a:bodyPr wrap="square">
            <a:spAutoFit/>
          </a:bodyPr>
          <a:lstStyle/>
          <a:p>
            <a:pPr>
              <a:spcAft>
                <a:spcPts val="1200"/>
              </a:spcAft>
              <a:defRPr sz="2000" b="1">
                <a:solidFill>
                  <a:srgbClr val="167D8D"/>
                </a:solidFill>
                <a:latin typeface="Aptos"/>
              </a:defRPr>
            </a:pPr>
            <a:r>
              <a:t>Beim Laden bereinigt</a:t>
            </a:r>
          </a:p>
        </p:txBody>
      </p:sp>
      <p:sp>
        <p:nvSpPr>
          <p:cNvPr id="16" name="TextBox 15"/>
          <p:cNvSpPr txBox="1"/>
          <p:nvPr/>
        </p:nvSpPr>
        <p:spPr>
          <a:xfrm>
            <a:off x="502920" y="3794760"/>
            <a:ext cx="5486400" cy="2011680"/>
          </a:xfrm>
          <a:prstGeom prst="rect">
            <a:avLst/>
          </a:prstGeom>
          <a:noFill/>
        </p:spPr>
        <p:txBody>
          <a:bodyPr wrap="square">
            <a:spAutoFit/>
          </a:bodyPr>
          <a:lstStyle/>
          <a:p>
            <a:pPr>
              <a:spcAft>
                <a:spcPts val="600"/>
              </a:spcAft>
              <a:defRPr sz="1600" b="0">
                <a:solidFill>
                  <a:srgbClr val="17364A"/>
                </a:solidFill>
                <a:latin typeface="Aptos"/>
              </a:defRPr>
            </a:pPr>
            <a:r>
              <a:t>• Exakte Duplikate entfernt, gemessener Wert vor Prognose</a:t>
            </a:r>
          </a:p>
          <a:p>
            <a:pPr>
              <a:spcAft>
                <a:spcPts val="600"/>
              </a:spcAft>
              <a:defRPr sz="1600" b="0">
                <a:solidFill>
                  <a:srgbClr val="17364A"/>
                </a:solidFill>
                <a:latin typeface="Aptos"/>
              </a:defRPr>
            </a:pPr>
            <a:r>
              <a:t>• 9-stellige BPUIC auf die 7-stellige Haltestelle gekürzt</a:t>
            </a:r>
          </a:p>
          <a:p>
            <a:pPr>
              <a:spcAft>
                <a:spcPts val="600"/>
              </a:spcAft>
              <a:defRPr sz="1600" b="0">
                <a:solidFill>
                  <a:srgbClr val="17364A"/>
                </a:solidFill>
                <a:latin typeface="Aptos"/>
              </a:defRPr>
            </a:pPr>
            <a:r>
              <a:t>• Lokalzeit in TIMESTAMPTZ (Europe/Zurich) umgewandelt</a:t>
            </a:r>
          </a:p>
        </p:txBody>
      </p:sp>
      <p:sp>
        <p:nvSpPr>
          <p:cNvPr id="17" name="TextBox 16"/>
          <p:cNvSpPr txBox="1"/>
          <p:nvPr/>
        </p:nvSpPr>
        <p:spPr>
          <a:xfrm>
            <a:off x="6263640" y="3291840"/>
            <a:ext cx="5486400" cy="457200"/>
          </a:xfrm>
          <a:prstGeom prst="rect">
            <a:avLst/>
          </a:prstGeom>
          <a:noFill/>
        </p:spPr>
        <p:txBody>
          <a:bodyPr wrap="square">
            <a:spAutoFit/>
          </a:bodyPr>
          <a:lstStyle/>
          <a:p>
            <a:pPr>
              <a:spcAft>
                <a:spcPts val="1200"/>
              </a:spcAft>
              <a:defRPr sz="2000" b="1">
                <a:solidFill>
                  <a:srgbClr val="167D8D"/>
                </a:solidFill>
                <a:latin typeface="Aptos"/>
              </a:defRPr>
            </a:pPr>
            <a:r>
              <a:t>Offengelegt für Paket C</a:t>
            </a:r>
          </a:p>
        </p:txBody>
      </p:sp>
      <p:sp>
        <p:nvSpPr>
          <p:cNvPr id="18" name="TextBox 17"/>
          <p:cNvSpPr txBox="1"/>
          <p:nvPr/>
        </p:nvSpPr>
        <p:spPr>
          <a:xfrm>
            <a:off x="6263640" y="3794760"/>
            <a:ext cx="5486400" cy="2011680"/>
          </a:xfrm>
          <a:prstGeom prst="rect">
            <a:avLst/>
          </a:prstGeom>
          <a:noFill/>
        </p:spPr>
        <p:txBody>
          <a:bodyPr wrap="square">
            <a:spAutoFit/>
          </a:bodyPr>
          <a:lstStyle/>
          <a:p>
            <a:pPr>
              <a:spcAft>
                <a:spcPts val="600"/>
              </a:spcAft>
              <a:defRPr sz="1600" b="0">
                <a:solidFill>
                  <a:srgbClr val="17364A"/>
                </a:solidFill>
                <a:latin typeface="Aptos"/>
              </a:defRPr>
            </a:pPr>
            <a:r>
              <a:t>• Ankunft echt gemessen (REAL): Bahn 89,7 %, Bus 65,9 %</a:t>
            </a:r>
          </a:p>
          <a:p>
            <a:pPr>
              <a:spcAft>
                <a:spcPts val="600"/>
              </a:spcAft>
              <a:defRPr sz="1600" b="0">
                <a:solidFill>
                  <a:srgbClr val="17364A"/>
                </a:solidFill>
                <a:latin typeface="Aptos"/>
              </a:defRPr>
            </a:pPr>
            <a:r>
              <a:t>• Unplausible Ist-Zeiten (z. B. genau 1 Tag daneben) bleiben roh</a:t>
            </a:r>
          </a:p>
          <a:p>
            <a:pPr>
              <a:spcAft>
                <a:spcPts val="600"/>
              </a:spcAft>
              <a:defRPr sz="1600" b="0">
                <a:solidFill>
                  <a:srgbClr val="17364A"/>
                </a:solidFill>
                <a:latin typeface="Aptos"/>
              </a:defRPr>
            </a:pPr>
            <a:r>
              <a:t>• Status jeder Zeit (REAL, PROGNOSE, GESCHAETZT, UNBEKANNT, leer) wird mitgeführt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Storage: DuckDB – analytisch, eine Datei, kein Server</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27.10.2026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4</a:t>
            </a:r>
          </a:p>
        </p:txBody>
      </p:sp>
      <p:graphicFrame>
        <p:nvGraphicFramePr>
          <p:cNvPr id="6" name="Table 5"/>
          <p:cNvGraphicFramePr>
            <a:graphicFrameLocks noGrp="1"/>
          </p:cNvGraphicFramePr>
          <p:nvPr/>
        </p:nvGraphicFramePr>
        <p:xfrm>
          <a:off x="502920" y="1234440"/>
          <a:ext cx="11155680" cy="2880360"/>
        </p:xfrm>
        <a:graphic>
          <a:graphicData uri="http://schemas.openxmlformats.org/drawingml/2006/table">
            <a:tbl>
              <a:tblPr firstRow="1" bandRow="1">
                <a:tableStyleId>{5C22544A-7EE6-4342-B048-85BDC9FD1C3A}</a:tableStyleId>
              </a:tblPr>
              <a:tblGrid>
                <a:gridCol w="3840480"/>
                <a:gridCol w="1828800"/>
                <a:gridCol w="1828800"/>
                <a:gridCol w="1828800"/>
                <a:gridCol w="1828800"/>
              </a:tblGrid>
              <a:tr h="411480">
                <a:tc>
                  <a:txBody>
                    <a:bodyPr/>
                    <a:lstStyle/>
                    <a:p>
                      <a:pPr>
                        <a:defRPr sz="1600" b="1">
                          <a:solidFill>
                            <a:srgbClr val="FFFFFF"/>
                          </a:solidFill>
                          <a:latin typeface="Aptos"/>
                        </a:defRPr>
                      </a:pPr>
                      <a:r>
                        <a:t>Kriterium</a:t>
                      </a:r>
                    </a:p>
                  </a:txBody>
                  <a:tcPr>
                    <a:solidFill>
                      <a:srgbClr val="17364A"/>
                    </a:solidFill>
                  </a:tcPr>
                </a:tc>
                <a:tc>
                  <a:txBody>
                    <a:bodyPr/>
                    <a:lstStyle/>
                    <a:p>
                      <a:pPr>
                        <a:defRPr sz="1600" b="1">
                          <a:solidFill>
                            <a:srgbClr val="FFFFFF"/>
                          </a:solidFill>
                          <a:latin typeface="Aptos"/>
                        </a:defRPr>
                      </a:pPr>
                      <a:r>
                        <a:t>DuckDB</a:t>
                      </a:r>
                    </a:p>
                  </a:txBody>
                  <a:tcPr>
                    <a:solidFill>
                      <a:srgbClr val="17364A"/>
                    </a:solidFill>
                  </a:tcPr>
                </a:tc>
                <a:tc>
                  <a:txBody>
                    <a:bodyPr/>
                    <a:lstStyle/>
                    <a:p>
                      <a:pPr>
                        <a:defRPr sz="1600" b="1">
                          <a:solidFill>
                            <a:srgbClr val="FFFFFF"/>
                          </a:solidFill>
                          <a:latin typeface="Aptos"/>
                        </a:defRPr>
                      </a:pPr>
                      <a:r>
                        <a:t>SQLite</a:t>
                      </a:r>
                    </a:p>
                  </a:txBody>
                  <a:tcPr>
                    <a:solidFill>
                      <a:srgbClr val="17364A"/>
                    </a:solidFill>
                  </a:tcPr>
                </a:tc>
                <a:tc>
                  <a:txBody>
                    <a:bodyPr/>
                    <a:lstStyle/>
                    <a:p>
                      <a:pPr>
                        <a:defRPr sz="1600" b="1">
                          <a:solidFill>
                            <a:srgbClr val="FFFFFF"/>
                          </a:solidFill>
                          <a:latin typeface="Aptos"/>
                        </a:defRPr>
                      </a:pPr>
                      <a:r>
                        <a:t>PostgreSQL</a:t>
                      </a:r>
                    </a:p>
                  </a:txBody>
                  <a:tcPr>
                    <a:solidFill>
                      <a:srgbClr val="17364A"/>
                    </a:solidFill>
                  </a:tcPr>
                </a:tc>
                <a:tc>
                  <a:txBody>
                    <a:bodyPr/>
                    <a:lstStyle/>
                    <a:p>
                      <a:pPr>
                        <a:defRPr sz="1600" b="1">
                          <a:solidFill>
                            <a:srgbClr val="FFFFFF"/>
                          </a:solidFill>
                          <a:latin typeface="Aptos"/>
                        </a:defRPr>
                      </a:pPr>
                      <a:r>
                        <a:t>MongoDB</a:t>
                      </a:r>
                    </a:p>
                  </a:txBody>
                  <a:tcPr>
                    <a:solidFill>
                      <a:srgbClr val="17364A"/>
                    </a:solidFill>
                  </a:tcPr>
                </a:tc>
              </a:tr>
              <a:tr h="411480">
                <a:tc>
                  <a:txBody>
                    <a:bodyPr/>
                    <a:lstStyle/>
                    <a:p>
                      <a:pPr>
                        <a:defRPr sz="1600" b="0">
                          <a:solidFill>
                            <a:srgbClr val="17364A"/>
                          </a:solidFill>
                          <a:latin typeface="Aptos"/>
                        </a:defRPr>
                      </a:pPr>
                      <a:r>
                        <a:t>Analytische Abfragen (Joins, GROUP BY)</a:t>
                      </a:r>
                    </a:p>
                  </a:txBody>
                  <a:tcPr>
                    <a:solidFill>
                      <a:srgbClr val="FFFFFF"/>
                    </a:solidFill>
                  </a:tcPr>
                </a:tc>
                <a:tc>
                  <a:txBody>
                    <a:bodyPr/>
                    <a:lstStyle/>
                    <a:p>
                      <a:pPr>
                        <a:defRPr sz="1600" b="0">
                          <a:solidFill>
                            <a:srgbClr val="17364A"/>
                          </a:solidFill>
                          <a:latin typeface="Aptos"/>
                        </a:defRPr>
                      </a:pPr>
                      <a:r>
                        <a:t>sehr gut</a:t>
                      </a:r>
                    </a:p>
                  </a:txBody>
                  <a:tcPr>
                    <a:solidFill>
                      <a:srgbClr val="FFFFFF"/>
                    </a:solidFill>
                  </a:tcPr>
                </a:tc>
                <a:tc>
                  <a:txBody>
                    <a:bodyPr/>
                    <a:lstStyle/>
                    <a:p>
                      <a:pPr>
                        <a:defRPr sz="1600" b="0">
                          <a:solidFill>
                            <a:srgbClr val="17364A"/>
                          </a:solidFill>
                          <a:latin typeface="Aptos"/>
                        </a:defRPr>
                      </a:pPr>
                      <a:r>
                        <a:t>mässig</a:t>
                      </a:r>
                    </a:p>
                  </a:txBody>
                  <a:tcPr>
                    <a:solidFill>
                      <a:srgbClr val="FFFFFF"/>
                    </a:solidFill>
                  </a:tcPr>
                </a:tc>
                <a:tc>
                  <a:txBody>
                    <a:bodyPr/>
                    <a:lstStyle/>
                    <a:p>
                      <a:pPr>
                        <a:defRPr sz="1600" b="0">
                          <a:solidFill>
                            <a:srgbClr val="17364A"/>
                          </a:solidFill>
                          <a:latin typeface="Aptos"/>
                        </a:defRPr>
                      </a:pPr>
                      <a:r>
                        <a:t>gut</a:t>
                      </a:r>
                    </a:p>
                  </a:txBody>
                  <a:tcPr>
                    <a:solidFill>
                      <a:srgbClr val="FFFFFF"/>
                    </a:solidFill>
                  </a:tcPr>
                </a:tc>
                <a:tc>
                  <a:txBody>
                    <a:bodyPr/>
                    <a:lstStyle/>
                    <a:p>
                      <a:pPr>
                        <a:defRPr sz="1600" b="0">
                          <a:solidFill>
                            <a:srgbClr val="17364A"/>
                          </a:solidFill>
                          <a:latin typeface="Aptos"/>
                        </a:defRPr>
                      </a:pPr>
                      <a:r>
                        <a:t>mässig</a:t>
                      </a:r>
                    </a:p>
                  </a:txBody>
                  <a:tcPr>
                    <a:solidFill>
                      <a:srgbClr val="FFFFFF"/>
                    </a:solidFill>
                  </a:tcPr>
                </a:tc>
              </a:tr>
              <a:tr h="411480">
                <a:tc>
                  <a:txBody>
                    <a:bodyPr/>
                    <a:lstStyle/>
                    <a:p>
                      <a:pPr>
                        <a:defRPr sz="1600" b="0">
                          <a:solidFill>
                            <a:srgbClr val="17364A"/>
                          </a:solidFill>
                          <a:latin typeface="Aptos"/>
                        </a:defRPr>
                      </a:pPr>
                      <a:r>
                        <a:t>CSV streamend einlesen</a:t>
                      </a:r>
                    </a:p>
                  </a:txBody>
                  <a:tcPr>
                    <a:solidFill>
                      <a:srgbClr val="EEF4F6"/>
                    </a:solidFill>
                  </a:tcPr>
                </a:tc>
                <a:tc>
                  <a:txBody>
                    <a:bodyPr/>
                    <a:lstStyle/>
                    <a:p>
                      <a:pPr>
                        <a:defRPr sz="1600" b="0">
                          <a:solidFill>
                            <a:srgbClr val="17364A"/>
                          </a:solidFill>
                          <a:latin typeface="Aptos"/>
                        </a:defRPr>
                      </a:pPr>
                      <a:r>
                        <a:t>sehr gut</a:t>
                      </a:r>
                    </a:p>
                  </a:txBody>
                  <a:tcPr>
                    <a:solidFill>
                      <a:srgbClr val="EEF4F6"/>
                    </a:solidFill>
                  </a:tcPr>
                </a:tc>
                <a:tc>
                  <a:txBody>
                    <a:bodyPr/>
                    <a:lstStyle/>
                    <a:p>
                      <a:pPr>
                        <a:defRPr sz="1600" b="0">
                          <a:solidFill>
                            <a:srgbClr val="17364A"/>
                          </a:solidFill>
                          <a:latin typeface="Aptos"/>
                        </a:defRPr>
                      </a:pPr>
                      <a:r>
                        <a:t>mässig</a:t>
                      </a:r>
                    </a:p>
                  </a:txBody>
                  <a:tcPr>
                    <a:solidFill>
                      <a:srgbClr val="EEF4F6"/>
                    </a:solidFill>
                  </a:tcPr>
                </a:tc>
                <a:tc>
                  <a:txBody>
                    <a:bodyPr/>
                    <a:lstStyle/>
                    <a:p>
                      <a:pPr>
                        <a:defRPr sz="1600" b="0">
                          <a:solidFill>
                            <a:srgbClr val="17364A"/>
                          </a:solidFill>
                          <a:latin typeface="Aptos"/>
                        </a:defRPr>
                      </a:pPr>
                      <a:r>
                        <a:t>gut</a:t>
                      </a:r>
                    </a:p>
                  </a:txBody>
                  <a:tcPr>
                    <a:solidFill>
                      <a:srgbClr val="EEF4F6"/>
                    </a:solidFill>
                  </a:tcPr>
                </a:tc>
                <a:tc>
                  <a:txBody>
                    <a:bodyPr/>
                    <a:lstStyle/>
                    <a:p>
                      <a:pPr>
                        <a:defRPr sz="1600" b="0">
                          <a:solidFill>
                            <a:srgbClr val="17364A"/>
                          </a:solidFill>
                          <a:latin typeface="Aptos"/>
                        </a:defRPr>
                      </a:pPr>
                      <a:r>
                        <a:t>mässig</a:t>
                      </a:r>
                    </a:p>
                  </a:txBody>
                  <a:tcPr>
                    <a:solidFill>
                      <a:srgbClr val="EEF4F6"/>
                    </a:solidFill>
                  </a:tcPr>
                </a:tc>
              </a:tr>
              <a:tr h="411480">
                <a:tc>
                  <a:txBody>
                    <a:bodyPr/>
                    <a:lstStyle/>
                    <a:p>
                      <a:pPr>
                        <a:defRPr sz="1600" b="0">
                          <a:solidFill>
                            <a:srgbClr val="17364A"/>
                          </a:solidFill>
                          <a:latin typeface="Aptos"/>
                        </a:defRPr>
                      </a:pPr>
                      <a:r>
                        <a:t>Zeitzonen (TIMESTAMPTZ)</a:t>
                      </a:r>
                    </a:p>
                  </a:txBody>
                  <a:tcPr>
                    <a:solidFill>
                      <a:srgbClr val="FFFFFF"/>
                    </a:solidFill>
                  </a:tcPr>
                </a:tc>
                <a:tc>
                  <a:txBody>
                    <a:bodyPr/>
                    <a:lstStyle/>
                    <a:p>
                      <a:pPr>
                        <a:defRPr sz="1600" b="0">
                          <a:solidFill>
                            <a:srgbClr val="17364A"/>
                          </a:solidFill>
                          <a:latin typeface="Aptos"/>
                        </a:defRPr>
                      </a:pPr>
                      <a:r>
                        <a:t>gut</a:t>
                      </a:r>
                    </a:p>
                  </a:txBody>
                  <a:tcPr>
                    <a:solidFill>
                      <a:srgbClr val="FFFFFF"/>
                    </a:solidFill>
                  </a:tcPr>
                </a:tc>
                <a:tc>
                  <a:txBody>
                    <a:bodyPr/>
                    <a:lstStyle/>
                    <a:p>
                      <a:pPr>
                        <a:defRPr sz="1600" b="0">
                          <a:solidFill>
                            <a:srgbClr val="17364A"/>
                          </a:solidFill>
                          <a:latin typeface="Aptos"/>
                        </a:defRPr>
                      </a:pPr>
                      <a:r>
                        <a:t>schwach</a:t>
                      </a:r>
                    </a:p>
                  </a:txBody>
                  <a:tcPr>
                    <a:solidFill>
                      <a:srgbClr val="FFFFFF"/>
                    </a:solidFill>
                  </a:tcPr>
                </a:tc>
                <a:tc>
                  <a:txBody>
                    <a:bodyPr/>
                    <a:lstStyle/>
                    <a:p>
                      <a:pPr>
                        <a:defRPr sz="1600" b="0">
                          <a:solidFill>
                            <a:srgbClr val="17364A"/>
                          </a:solidFill>
                          <a:latin typeface="Aptos"/>
                        </a:defRPr>
                      </a:pPr>
                      <a:r>
                        <a:t>sehr gut</a:t>
                      </a:r>
                    </a:p>
                  </a:txBody>
                  <a:tcPr>
                    <a:solidFill>
                      <a:srgbClr val="FFFFFF"/>
                    </a:solidFill>
                  </a:tcPr>
                </a:tc>
                <a:tc>
                  <a:txBody>
                    <a:bodyPr/>
                    <a:lstStyle/>
                    <a:p>
                      <a:pPr>
                        <a:defRPr sz="1600" b="0">
                          <a:solidFill>
                            <a:srgbClr val="17364A"/>
                          </a:solidFill>
                          <a:latin typeface="Aptos"/>
                        </a:defRPr>
                      </a:pPr>
                      <a:r>
                        <a:t>mässig</a:t>
                      </a:r>
                    </a:p>
                  </a:txBody>
                  <a:tcPr>
                    <a:solidFill>
                      <a:srgbClr val="FFFFFF"/>
                    </a:solidFill>
                  </a:tcPr>
                </a:tc>
              </a:tr>
              <a:tr h="411480">
                <a:tc>
                  <a:txBody>
                    <a:bodyPr/>
                    <a:lstStyle/>
                    <a:p>
                      <a:pPr>
                        <a:defRPr sz="1600" b="0">
                          <a:solidFill>
                            <a:srgbClr val="17364A"/>
                          </a:solidFill>
                          <a:latin typeface="Aptos"/>
                        </a:defRPr>
                      </a:pPr>
                      <a:r>
                        <a:t>Skalierung auf mehr Kantone</a:t>
                      </a:r>
                    </a:p>
                  </a:txBody>
                  <a:tcPr>
                    <a:solidFill>
                      <a:srgbClr val="EEF4F6"/>
                    </a:solidFill>
                  </a:tcPr>
                </a:tc>
                <a:tc>
                  <a:txBody>
                    <a:bodyPr/>
                    <a:lstStyle/>
                    <a:p>
                      <a:pPr>
                        <a:defRPr sz="1600" b="0">
                          <a:solidFill>
                            <a:srgbClr val="17364A"/>
                          </a:solidFill>
                          <a:latin typeface="Aptos"/>
                        </a:defRPr>
                      </a:pPr>
                      <a:r>
                        <a:t>gut</a:t>
                      </a:r>
                    </a:p>
                  </a:txBody>
                  <a:tcPr>
                    <a:solidFill>
                      <a:srgbClr val="EEF4F6"/>
                    </a:solidFill>
                  </a:tcPr>
                </a:tc>
                <a:tc>
                  <a:txBody>
                    <a:bodyPr/>
                    <a:lstStyle/>
                    <a:p>
                      <a:pPr>
                        <a:defRPr sz="1600" b="0">
                          <a:solidFill>
                            <a:srgbClr val="17364A"/>
                          </a:solidFill>
                          <a:latin typeface="Aptos"/>
                        </a:defRPr>
                      </a:pPr>
                      <a:r>
                        <a:t>schwach</a:t>
                      </a:r>
                    </a:p>
                  </a:txBody>
                  <a:tcPr>
                    <a:solidFill>
                      <a:srgbClr val="EEF4F6"/>
                    </a:solidFill>
                  </a:tcPr>
                </a:tc>
                <a:tc>
                  <a:txBody>
                    <a:bodyPr/>
                    <a:lstStyle/>
                    <a:p>
                      <a:pPr>
                        <a:defRPr sz="1600" b="0">
                          <a:solidFill>
                            <a:srgbClr val="17364A"/>
                          </a:solidFill>
                          <a:latin typeface="Aptos"/>
                        </a:defRPr>
                      </a:pPr>
                      <a:r>
                        <a:t>sehr gut</a:t>
                      </a:r>
                    </a:p>
                  </a:txBody>
                  <a:tcPr>
                    <a:solidFill>
                      <a:srgbClr val="EEF4F6"/>
                    </a:solidFill>
                  </a:tcPr>
                </a:tc>
                <a:tc>
                  <a:txBody>
                    <a:bodyPr/>
                    <a:lstStyle/>
                    <a:p>
                      <a:pPr>
                        <a:defRPr sz="1600" b="0">
                          <a:solidFill>
                            <a:srgbClr val="17364A"/>
                          </a:solidFill>
                          <a:latin typeface="Aptos"/>
                        </a:defRPr>
                      </a:pPr>
                      <a:r>
                        <a:t>gut</a:t>
                      </a:r>
                    </a:p>
                  </a:txBody>
                  <a:tcPr>
                    <a:solidFill>
                      <a:srgbClr val="EEF4F6"/>
                    </a:solidFill>
                  </a:tcPr>
                </a:tc>
              </a:tr>
              <a:tr h="411480">
                <a:tc>
                  <a:txBody>
                    <a:bodyPr/>
                    <a:lstStyle/>
                    <a:p>
                      <a:pPr>
                        <a:defRPr sz="1600" b="0">
                          <a:solidFill>
                            <a:srgbClr val="17364A"/>
                          </a:solidFill>
                          <a:latin typeface="Aptos"/>
                        </a:defRPr>
                      </a:pPr>
                      <a:r>
                        <a:t>Setup für die Gruppe</a:t>
                      </a:r>
                    </a:p>
                  </a:txBody>
                  <a:tcPr>
                    <a:solidFill>
                      <a:srgbClr val="FFFFFF"/>
                    </a:solidFill>
                  </a:tcPr>
                </a:tc>
                <a:tc>
                  <a:txBody>
                    <a:bodyPr/>
                    <a:lstStyle/>
                    <a:p>
                      <a:pPr>
                        <a:defRPr sz="1600" b="0">
                          <a:solidFill>
                            <a:srgbClr val="17364A"/>
                          </a:solidFill>
                          <a:latin typeface="Aptos"/>
                        </a:defRPr>
                      </a:pPr>
                      <a:r>
                        <a:t>sehr gering</a:t>
                      </a:r>
                    </a:p>
                  </a:txBody>
                  <a:tcPr>
                    <a:solidFill>
                      <a:srgbClr val="FFFFFF"/>
                    </a:solidFill>
                  </a:tcPr>
                </a:tc>
                <a:tc>
                  <a:txBody>
                    <a:bodyPr/>
                    <a:lstStyle/>
                    <a:p>
                      <a:pPr>
                        <a:defRPr sz="1600" b="0">
                          <a:solidFill>
                            <a:srgbClr val="17364A"/>
                          </a:solidFill>
                          <a:latin typeface="Aptos"/>
                        </a:defRPr>
                      </a:pPr>
                      <a:r>
                        <a:t>sehr gering</a:t>
                      </a:r>
                    </a:p>
                  </a:txBody>
                  <a:tcPr>
                    <a:solidFill>
                      <a:srgbClr val="FFFFFF"/>
                    </a:solidFill>
                  </a:tcPr>
                </a:tc>
                <a:tc>
                  <a:txBody>
                    <a:bodyPr/>
                    <a:lstStyle/>
                    <a:p>
                      <a:pPr>
                        <a:defRPr sz="1600" b="0">
                          <a:solidFill>
                            <a:srgbClr val="17364A"/>
                          </a:solidFill>
                          <a:latin typeface="Aptos"/>
                        </a:defRPr>
                      </a:pPr>
                      <a:r>
                        <a:t>hoch (Server)</a:t>
                      </a:r>
                    </a:p>
                  </a:txBody>
                  <a:tcPr>
                    <a:solidFill>
                      <a:srgbClr val="FFFFFF"/>
                    </a:solidFill>
                  </a:tcPr>
                </a:tc>
                <a:tc>
                  <a:txBody>
                    <a:bodyPr/>
                    <a:lstStyle/>
                    <a:p>
                      <a:pPr>
                        <a:defRPr sz="1600" b="0">
                          <a:solidFill>
                            <a:srgbClr val="17364A"/>
                          </a:solidFill>
                          <a:latin typeface="Aptos"/>
                        </a:defRPr>
                      </a:pPr>
                      <a:r>
                        <a:t>hoch (Server)</a:t>
                      </a:r>
                    </a:p>
                  </a:txBody>
                  <a:tcPr>
                    <a:solidFill>
                      <a:srgbClr val="FFFFFF"/>
                    </a:solidFill>
                  </a:tcPr>
                </a:tc>
              </a:tr>
              <a:tr h="411480">
                <a:tc>
                  <a:txBody>
                    <a:bodyPr/>
                    <a:lstStyle/>
                    <a:p>
                      <a:pPr>
                        <a:defRPr sz="1600" b="0">
                          <a:solidFill>
                            <a:srgbClr val="17364A"/>
                          </a:solidFill>
                          <a:latin typeface="Aptos"/>
                        </a:defRPr>
                      </a:pPr>
                      <a:r>
                        <a:t>Viele gleichzeitige Nutzer</a:t>
                      </a:r>
                    </a:p>
                  </a:txBody>
                  <a:tcPr>
                    <a:solidFill>
                      <a:srgbClr val="EEF4F6"/>
                    </a:solidFill>
                  </a:tcPr>
                </a:tc>
                <a:tc>
                  <a:txBody>
                    <a:bodyPr/>
                    <a:lstStyle/>
                    <a:p>
                      <a:pPr>
                        <a:defRPr sz="1600" b="0">
                          <a:solidFill>
                            <a:srgbClr val="17364A"/>
                          </a:solidFill>
                          <a:latin typeface="Aptos"/>
                        </a:defRPr>
                      </a:pPr>
                      <a:r>
                        <a:t>mässig</a:t>
                      </a:r>
                    </a:p>
                  </a:txBody>
                  <a:tcPr>
                    <a:solidFill>
                      <a:srgbClr val="EEF4F6"/>
                    </a:solidFill>
                  </a:tcPr>
                </a:tc>
                <a:tc>
                  <a:txBody>
                    <a:bodyPr/>
                    <a:lstStyle/>
                    <a:p>
                      <a:pPr>
                        <a:defRPr sz="1600" b="0">
                          <a:solidFill>
                            <a:srgbClr val="17364A"/>
                          </a:solidFill>
                          <a:latin typeface="Aptos"/>
                        </a:defRPr>
                      </a:pPr>
                      <a:r>
                        <a:t>mässig</a:t>
                      </a:r>
                    </a:p>
                  </a:txBody>
                  <a:tcPr>
                    <a:solidFill>
                      <a:srgbClr val="EEF4F6"/>
                    </a:solidFill>
                  </a:tcPr>
                </a:tc>
                <a:tc>
                  <a:txBody>
                    <a:bodyPr/>
                    <a:lstStyle/>
                    <a:p>
                      <a:pPr>
                        <a:defRPr sz="1600" b="0">
                          <a:solidFill>
                            <a:srgbClr val="17364A"/>
                          </a:solidFill>
                          <a:latin typeface="Aptos"/>
                        </a:defRPr>
                      </a:pPr>
                      <a:r>
                        <a:t>sehr gut</a:t>
                      </a:r>
                    </a:p>
                  </a:txBody>
                  <a:tcPr>
                    <a:solidFill>
                      <a:srgbClr val="EEF4F6"/>
                    </a:solidFill>
                  </a:tcPr>
                </a:tc>
                <a:tc>
                  <a:txBody>
                    <a:bodyPr/>
                    <a:lstStyle/>
                    <a:p>
                      <a:pPr>
                        <a:defRPr sz="1600" b="0">
                          <a:solidFill>
                            <a:srgbClr val="17364A"/>
                          </a:solidFill>
                          <a:latin typeface="Aptos"/>
                        </a:defRPr>
                      </a:pPr>
                      <a:r>
                        <a:t>gut</a:t>
                      </a:r>
                    </a:p>
                  </a:txBody>
                  <a:tcPr>
                    <a:solidFill>
                      <a:srgbClr val="EEF4F6"/>
                    </a:solidFill>
                  </a:tcPr>
                </a:tc>
              </a:tr>
            </a:tbl>
          </a:graphicData>
        </a:graphic>
      </p:graphicFrame>
      <p:sp>
        <p:nvSpPr>
          <p:cNvPr id="7" name="TextBox 6"/>
          <p:cNvSpPr txBox="1"/>
          <p:nvPr/>
        </p:nvSpPr>
        <p:spPr>
          <a:xfrm>
            <a:off x="502920" y="4572000"/>
            <a:ext cx="11155680" cy="1097280"/>
          </a:xfrm>
          <a:prstGeom prst="rect">
            <a:avLst/>
          </a:prstGeom>
          <a:noFill/>
        </p:spPr>
        <p:txBody>
          <a:bodyPr wrap="square">
            <a:spAutoFit/>
          </a:bodyPr>
          <a:lstStyle/>
          <a:p>
            <a:pPr>
              <a:spcAft>
                <a:spcPts val="1200"/>
              </a:spcAft>
              <a:defRPr sz="1900" b="1">
                <a:solidFill>
                  <a:srgbClr val="167D8D"/>
                </a:solidFill>
                <a:latin typeface="Aptos"/>
              </a:defRPr>
            </a:pPr>
            <a:r>
              <a:t>Entscheid: DuckDB für Teil 1. Für das Dashboard in Teil 2 ist ein Wechsel auf PostgreSQL möglich, weil das Schema Standard-SQL 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Datenmodell: Halt und Wetter über die Haltestelle verknüpft</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27.10.2026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5</a:t>
            </a:r>
          </a:p>
        </p:txBody>
      </p:sp>
      <p:sp>
        <p:nvSpPr>
          <p:cNvPr id="6" name="Rounded Rectangle 5"/>
          <p:cNvSpPr/>
          <p:nvPr/>
        </p:nvSpPr>
        <p:spPr>
          <a:xfrm>
            <a:off x="502920" y="1371600"/>
            <a:ext cx="2514600" cy="1737360"/>
          </a:xfrm>
          <a:prstGeom prst="roundRect">
            <a:avLst>
              <a:gd name="adj" fmla="val 6000"/>
            </a:avLst>
          </a:prstGeom>
          <a:solidFill>
            <a:srgbClr val="173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2286000" cy="457200"/>
          </a:xfrm>
          <a:prstGeom prst="rect">
            <a:avLst/>
          </a:prstGeom>
          <a:noFill/>
        </p:spPr>
        <p:txBody>
          <a:bodyPr wrap="square">
            <a:spAutoFit/>
          </a:bodyPr>
          <a:lstStyle/>
          <a:p>
            <a:pPr>
              <a:spcAft>
                <a:spcPts val="1200"/>
              </a:spcAft>
              <a:defRPr sz="1400" b="1">
                <a:solidFill>
                  <a:srgbClr val="FFFFFF"/>
                </a:solidFill>
                <a:latin typeface="Consolas"/>
              </a:defRPr>
            </a:pPr>
            <a:r>
              <a:t>halt</a:t>
            </a:r>
          </a:p>
        </p:txBody>
      </p:sp>
      <p:sp>
        <p:nvSpPr>
          <p:cNvPr id="8" name="TextBox 7"/>
          <p:cNvSpPr txBox="1"/>
          <p:nvPr/>
        </p:nvSpPr>
        <p:spPr>
          <a:xfrm>
            <a:off x="640080" y="2011680"/>
            <a:ext cx="2286000" cy="1005840"/>
          </a:xfrm>
          <a:prstGeom prst="rect">
            <a:avLst/>
          </a:prstGeom>
          <a:noFill/>
        </p:spPr>
        <p:txBody>
          <a:bodyPr wrap="square">
            <a:spAutoFit/>
          </a:bodyPr>
          <a:lstStyle/>
          <a:p>
            <a:pPr>
              <a:spcAft>
                <a:spcPts val="400"/>
              </a:spcAft>
              <a:defRPr sz="1400" b="0">
                <a:solidFill>
                  <a:srgbClr val="FFFFFF"/>
                </a:solidFill>
                <a:latin typeface="Aptos"/>
              </a:defRPr>
            </a:pPr>
            <a:r>
              <a:t>Halt einer Fahrt: Soll, Ist, Status, Verspätung · 17,07 Mio.</a:t>
            </a:r>
          </a:p>
        </p:txBody>
      </p:sp>
      <p:cxnSp>
        <p:nvCxnSpPr>
          <p:cNvPr id="9" name="Connector 8"/>
          <p:cNvCxnSpPr/>
          <p:nvPr/>
        </p:nvCxnSpPr>
        <p:spPr>
          <a:xfrm>
            <a:off x="3035808" y="2240280"/>
            <a:ext cx="329183"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83280" y="1371600"/>
            <a:ext cx="251460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508760"/>
            <a:ext cx="2286000" cy="457200"/>
          </a:xfrm>
          <a:prstGeom prst="rect">
            <a:avLst/>
          </a:prstGeom>
          <a:noFill/>
        </p:spPr>
        <p:txBody>
          <a:bodyPr wrap="square">
            <a:spAutoFit/>
          </a:bodyPr>
          <a:lstStyle/>
          <a:p>
            <a:pPr>
              <a:spcAft>
                <a:spcPts val="1200"/>
              </a:spcAft>
              <a:defRPr sz="1400" b="1">
                <a:solidFill>
                  <a:srgbClr val="167D8D"/>
                </a:solidFill>
                <a:latin typeface="Consolas"/>
              </a:defRPr>
            </a:pPr>
            <a:r>
              <a:t>haltestelle</a:t>
            </a:r>
          </a:p>
        </p:txBody>
      </p:sp>
      <p:sp>
        <p:nvSpPr>
          <p:cNvPr id="12" name="TextBox 11"/>
          <p:cNvSpPr txBox="1"/>
          <p:nvPr/>
        </p:nvSpPr>
        <p:spPr>
          <a:xfrm>
            <a:off x="3520440" y="2011680"/>
            <a:ext cx="2286000" cy="1005840"/>
          </a:xfrm>
          <a:prstGeom prst="rect">
            <a:avLst/>
          </a:prstGeom>
          <a:noFill/>
        </p:spPr>
        <p:txBody>
          <a:bodyPr wrap="square">
            <a:spAutoFit/>
          </a:bodyPr>
          <a:lstStyle/>
          <a:p>
            <a:pPr>
              <a:spcAft>
                <a:spcPts val="400"/>
              </a:spcAft>
              <a:defRPr sz="1400" b="0">
                <a:solidFill>
                  <a:srgbClr val="17364A"/>
                </a:solidFill>
                <a:latin typeface="Aptos"/>
              </a:defRPr>
            </a:pPr>
            <a:r>
              <a:t>2587 Haltestellen mit Kanton und Koordinaten</a:t>
            </a:r>
          </a:p>
        </p:txBody>
      </p:sp>
      <p:cxnSp>
        <p:nvCxnSpPr>
          <p:cNvPr id="13" name="Connector 12"/>
          <p:cNvCxnSpPr/>
          <p:nvPr/>
        </p:nvCxnSpPr>
        <p:spPr>
          <a:xfrm>
            <a:off x="5916168" y="2240280"/>
            <a:ext cx="329184"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63640" y="1371600"/>
            <a:ext cx="251460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2286000" cy="457200"/>
          </a:xfrm>
          <a:prstGeom prst="rect">
            <a:avLst/>
          </a:prstGeom>
          <a:noFill/>
        </p:spPr>
        <p:txBody>
          <a:bodyPr wrap="square">
            <a:spAutoFit/>
          </a:bodyPr>
          <a:lstStyle/>
          <a:p>
            <a:pPr>
              <a:spcAft>
                <a:spcPts val="1200"/>
              </a:spcAft>
              <a:defRPr sz="1400" b="1">
                <a:solidFill>
                  <a:srgbClr val="167D8D"/>
                </a:solidFill>
                <a:latin typeface="Consolas"/>
              </a:defRPr>
            </a:pPr>
            <a:r>
              <a:t>haltestelle_station</a:t>
            </a:r>
          </a:p>
        </p:txBody>
      </p:sp>
      <p:sp>
        <p:nvSpPr>
          <p:cNvPr id="16" name="TextBox 15"/>
          <p:cNvSpPr txBox="1"/>
          <p:nvPr/>
        </p:nvSpPr>
        <p:spPr>
          <a:xfrm>
            <a:off x="6400800" y="2011680"/>
            <a:ext cx="2286000" cy="1005840"/>
          </a:xfrm>
          <a:prstGeom prst="rect">
            <a:avLst/>
          </a:prstGeom>
          <a:noFill/>
        </p:spPr>
        <p:txBody>
          <a:bodyPr wrap="square">
            <a:spAutoFit/>
          </a:bodyPr>
          <a:lstStyle/>
          <a:p>
            <a:pPr>
              <a:spcAft>
                <a:spcPts val="400"/>
              </a:spcAft>
              <a:defRPr sz="1400" b="0">
                <a:solidFill>
                  <a:srgbClr val="17364A"/>
                </a:solidFill>
                <a:latin typeface="Aptos"/>
              </a:defRPr>
            </a:pPr>
            <a:r>
              <a:t>nächste Wetterstation pro Haltestelle (C)</a:t>
            </a:r>
          </a:p>
        </p:txBody>
      </p:sp>
      <p:cxnSp>
        <p:nvCxnSpPr>
          <p:cNvPr id="17" name="Connector 16"/>
          <p:cNvCxnSpPr/>
          <p:nvPr/>
        </p:nvCxnSpPr>
        <p:spPr>
          <a:xfrm>
            <a:off x="8796528" y="2240280"/>
            <a:ext cx="329184"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44000" y="1371600"/>
            <a:ext cx="251460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1508760"/>
            <a:ext cx="2286000" cy="457200"/>
          </a:xfrm>
          <a:prstGeom prst="rect">
            <a:avLst/>
          </a:prstGeom>
          <a:noFill/>
        </p:spPr>
        <p:txBody>
          <a:bodyPr wrap="square">
            <a:spAutoFit/>
          </a:bodyPr>
          <a:lstStyle/>
          <a:p>
            <a:pPr>
              <a:spcAft>
                <a:spcPts val="1200"/>
              </a:spcAft>
              <a:defRPr sz="1400" b="1">
                <a:solidFill>
                  <a:srgbClr val="167D8D"/>
                </a:solidFill>
                <a:latin typeface="Consolas"/>
              </a:defRPr>
            </a:pPr>
            <a:r>
              <a:t>wetterstation</a:t>
            </a:r>
          </a:p>
        </p:txBody>
      </p:sp>
      <p:sp>
        <p:nvSpPr>
          <p:cNvPr id="20" name="TextBox 19"/>
          <p:cNvSpPr txBox="1"/>
          <p:nvPr/>
        </p:nvSpPr>
        <p:spPr>
          <a:xfrm>
            <a:off x="9281160" y="2011680"/>
            <a:ext cx="2286000" cy="1005840"/>
          </a:xfrm>
          <a:prstGeom prst="rect">
            <a:avLst/>
          </a:prstGeom>
          <a:noFill/>
        </p:spPr>
        <p:txBody>
          <a:bodyPr wrap="square">
            <a:spAutoFit/>
          </a:bodyPr>
          <a:lstStyle/>
          <a:p>
            <a:pPr>
              <a:spcAft>
                <a:spcPts val="400"/>
              </a:spcAft>
              <a:defRPr sz="1400" b="0">
                <a:solidFill>
                  <a:srgbClr val="17364A"/>
                </a:solidFill>
                <a:latin typeface="Aptos"/>
              </a:defRPr>
            </a:pPr>
            <a:r>
              <a:t>MeteoSchweiz-Stationen mit Höhe (C)</a:t>
            </a:r>
          </a:p>
        </p:txBody>
      </p:sp>
      <p:sp>
        <p:nvSpPr>
          <p:cNvPr id="21" name="TextBox 20"/>
          <p:cNvSpPr txBox="1"/>
          <p:nvPr/>
        </p:nvSpPr>
        <p:spPr>
          <a:xfrm>
            <a:off x="1737360" y="3154680"/>
            <a:ext cx="2743200" cy="365760"/>
          </a:xfrm>
          <a:prstGeom prst="rect">
            <a:avLst/>
          </a:prstGeom>
          <a:noFill/>
        </p:spPr>
        <p:txBody>
          <a:bodyPr wrap="square">
            <a:spAutoFit/>
          </a:bodyPr>
          <a:lstStyle/>
          <a:p>
            <a:pPr>
              <a:spcAft>
                <a:spcPts val="1200"/>
              </a:spcAft>
              <a:defRPr sz="1200" b="0">
                <a:solidFill>
                  <a:srgbClr val="53616B"/>
                </a:solidFill>
                <a:latin typeface="Consolas"/>
              </a:defRPr>
            </a:pPr>
            <a:r>
              <a:t>bpuic_haltestelle = bpuic</a:t>
            </a:r>
          </a:p>
        </p:txBody>
      </p:sp>
      <p:sp>
        <p:nvSpPr>
          <p:cNvPr id="22" name="TextBox 21"/>
          <p:cNvSpPr txBox="1"/>
          <p:nvPr/>
        </p:nvSpPr>
        <p:spPr>
          <a:xfrm>
            <a:off x="5577840" y="3154680"/>
            <a:ext cx="2743200" cy="365760"/>
          </a:xfrm>
          <a:prstGeom prst="rect">
            <a:avLst/>
          </a:prstGeom>
          <a:noFill/>
        </p:spPr>
        <p:txBody>
          <a:bodyPr wrap="square">
            <a:spAutoFit/>
          </a:bodyPr>
          <a:lstStyle/>
          <a:p>
            <a:pPr>
              <a:spcAft>
                <a:spcPts val="1200"/>
              </a:spcAft>
              <a:defRPr sz="1200" b="0">
                <a:solidFill>
                  <a:srgbClr val="53616B"/>
                </a:solidFill>
                <a:latin typeface="Consolas"/>
              </a:defRPr>
            </a:pPr>
            <a:r>
              <a:t>bpuic</a:t>
            </a:r>
          </a:p>
        </p:txBody>
      </p:sp>
      <p:sp>
        <p:nvSpPr>
          <p:cNvPr id="23" name="TextBox 22"/>
          <p:cNvSpPr txBox="1"/>
          <p:nvPr/>
        </p:nvSpPr>
        <p:spPr>
          <a:xfrm>
            <a:off x="8458200" y="3154680"/>
            <a:ext cx="2743200" cy="365760"/>
          </a:xfrm>
          <a:prstGeom prst="rect">
            <a:avLst/>
          </a:prstGeom>
          <a:noFill/>
        </p:spPr>
        <p:txBody>
          <a:bodyPr wrap="square">
            <a:spAutoFit/>
          </a:bodyPr>
          <a:lstStyle/>
          <a:p>
            <a:pPr>
              <a:spcAft>
                <a:spcPts val="1200"/>
              </a:spcAft>
              <a:defRPr sz="1200" b="0">
                <a:solidFill>
                  <a:srgbClr val="53616B"/>
                </a:solidFill>
                <a:latin typeface="Consolas"/>
              </a:defRPr>
            </a:pPr>
            <a:r>
              <a:t>station_abk</a:t>
            </a:r>
          </a:p>
        </p:txBody>
      </p:sp>
      <p:sp>
        <p:nvSpPr>
          <p:cNvPr id="24" name="Rounded Rectangle 23"/>
          <p:cNvSpPr/>
          <p:nvPr/>
        </p:nvSpPr>
        <p:spPr>
          <a:xfrm>
            <a:off x="502920" y="3840480"/>
            <a:ext cx="2514600" cy="15544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977639"/>
            <a:ext cx="2286000" cy="457200"/>
          </a:xfrm>
          <a:prstGeom prst="rect">
            <a:avLst/>
          </a:prstGeom>
          <a:noFill/>
        </p:spPr>
        <p:txBody>
          <a:bodyPr wrap="square">
            <a:spAutoFit/>
          </a:bodyPr>
          <a:lstStyle/>
          <a:p>
            <a:pPr>
              <a:spcAft>
                <a:spcPts val="1200"/>
              </a:spcAft>
              <a:defRPr sz="1600" b="1">
                <a:solidFill>
                  <a:srgbClr val="167D8D"/>
                </a:solidFill>
                <a:latin typeface="Consolas"/>
              </a:defRPr>
            </a:pPr>
            <a:r>
              <a:t>ingest_log</a:t>
            </a:r>
          </a:p>
        </p:txBody>
      </p:sp>
      <p:sp>
        <p:nvSpPr>
          <p:cNvPr id="26" name="TextBox 25"/>
          <p:cNvSpPr txBox="1"/>
          <p:nvPr/>
        </p:nvSpPr>
        <p:spPr>
          <a:xfrm>
            <a:off x="640080" y="4480560"/>
            <a:ext cx="2286000" cy="914400"/>
          </a:xfrm>
          <a:prstGeom prst="rect">
            <a:avLst/>
          </a:prstGeom>
          <a:noFill/>
        </p:spPr>
        <p:txBody>
          <a:bodyPr wrap="square">
            <a:spAutoFit/>
          </a:bodyPr>
          <a:lstStyle/>
          <a:p>
            <a:pPr>
              <a:spcAft>
                <a:spcPts val="400"/>
              </a:spcAft>
              <a:defRPr sz="1400" b="0">
                <a:solidFill>
                  <a:srgbClr val="17364A"/>
                </a:solidFill>
                <a:latin typeface="Aptos"/>
              </a:defRPr>
            </a:pPr>
            <a:r>
              <a:t>Pro Tag: Status, Zeilen vor/nach Filter, Dauer, Fehler</a:t>
            </a:r>
          </a:p>
        </p:txBody>
      </p:sp>
      <p:sp>
        <p:nvSpPr>
          <p:cNvPr id="27" name="Rounded Rectangle 26"/>
          <p:cNvSpPr/>
          <p:nvPr/>
        </p:nvSpPr>
        <p:spPr>
          <a:xfrm>
            <a:off x="9098280" y="3840480"/>
            <a:ext cx="2514600" cy="15544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0" y="3977639"/>
            <a:ext cx="2286000" cy="457200"/>
          </a:xfrm>
          <a:prstGeom prst="rect">
            <a:avLst/>
          </a:prstGeom>
          <a:noFill/>
        </p:spPr>
        <p:txBody>
          <a:bodyPr wrap="square">
            <a:spAutoFit/>
          </a:bodyPr>
          <a:lstStyle/>
          <a:p>
            <a:pPr>
              <a:spcAft>
                <a:spcPts val="1200"/>
              </a:spcAft>
              <a:defRPr sz="1600" b="1">
                <a:solidFill>
                  <a:srgbClr val="167D8D"/>
                </a:solidFill>
                <a:latin typeface="Consolas"/>
              </a:defRPr>
            </a:pPr>
            <a:r>
              <a:t>wettermessung</a:t>
            </a:r>
          </a:p>
        </p:txBody>
      </p:sp>
      <p:sp>
        <p:nvSpPr>
          <p:cNvPr id="29" name="TextBox 28"/>
          <p:cNvSpPr txBox="1"/>
          <p:nvPr/>
        </p:nvSpPr>
        <p:spPr>
          <a:xfrm>
            <a:off x="9235440" y="4480560"/>
            <a:ext cx="2286000" cy="914400"/>
          </a:xfrm>
          <a:prstGeom prst="rect">
            <a:avLst/>
          </a:prstGeom>
          <a:noFill/>
        </p:spPr>
        <p:txBody>
          <a:bodyPr wrap="square">
            <a:spAutoFit/>
          </a:bodyPr>
          <a:lstStyle/>
          <a:p>
            <a:pPr>
              <a:spcAft>
                <a:spcPts val="400"/>
              </a:spcAft>
              <a:defRPr sz="1400" b="0">
                <a:solidFill>
                  <a:srgbClr val="17364A"/>
                </a:solidFill>
                <a:latin typeface="Aptos"/>
              </a:defRPr>
            </a:pPr>
            <a:r>
              <a:t>Messwert pro Station und Stunde (UTC) (C)</a:t>
            </a:r>
          </a:p>
        </p:txBody>
      </p:sp>
      <p:cxnSp>
        <p:nvCxnSpPr>
          <p:cNvPr id="30" name="Connector 29"/>
          <p:cNvCxnSpPr/>
          <p:nvPr/>
        </p:nvCxnSpPr>
        <p:spPr>
          <a:xfrm>
            <a:off x="10351008" y="3108960"/>
            <a:ext cx="0" cy="73152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291840" y="4114800"/>
            <a:ext cx="5577840" cy="1280160"/>
          </a:xfrm>
          <a:prstGeom prst="rect">
            <a:avLst/>
          </a:prstGeom>
          <a:noFill/>
        </p:spPr>
        <p:txBody>
          <a:bodyPr wrap="square">
            <a:spAutoFit/>
          </a:bodyPr>
          <a:lstStyle/>
          <a:p>
            <a:pPr>
              <a:spcAft>
                <a:spcPts val="1200"/>
              </a:spcAft>
              <a:defRPr sz="1600" b="0">
                <a:solidFill>
                  <a:srgbClr val="53616B"/>
                </a:solidFill>
                <a:latin typeface="Aptos"/>
              </a:defRPr>
            </a:pPr>
            <a:r>
              <a:t>Alle Zeiten TIMESTAMPTZ · Schlüssel und Spaltennamen mit Paket C abgestimmt · Indizes auf Soll-Zeit und Haltestelle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Skalierbarkeit: gleicher Code, längere Haltestellenliste</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27.10.2026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6</a:t>
            </a:r>
          </a:p>
        </p:txBody>
      </p:sp>
      <p:graphicFrame>
        <p:nvGraphicFramePr>
          <p:cNvPr id="6" name="Table 5"/>
          <p:cNvGraphicFramePr>
            <a:graphicFrameLocks noGrp="1"/>
          </p:cNvGraphicFramePr>
          <p:nvPr/>
        </p:nvGraphicFramePr>
        <p:xfrm>
          <a:off x="502920" y="1234440"/>
          <a:ext cx="11155680" cy="1645920"/>
        </p:xfrm>
        <a:graphic>
          <a:graphicData uri="http://schemas.openxmlformats.org/drawingml/2006/table">
            <a:tbl>
              <a:tblPr firstRow="1" bandRow="1">
                <a:tableStyleId>{5C22544A-7EE6-4342-B048-85BDC9FD1C3A}</a:tableStyleId>
              </a:tblPr>
              <a:tblGrid>
                <a:gridCol w="4206240"/>
                <a:gridCol w="1737360"/>
                <a:gridCol w="1737360"/>
                <a:gridCol w="1737360"/>
                <a:gridCol w="1737360"/>
              </a:tblGrid>
              <a:tr h="411480">
                <a:tc>
                  <a:txBody>
                    <a:bodyPr/>
                    <a:lstStyle/>
                    <a:p>
                      <a:pPr>
                        <a:defRPr sz="1700" b="1">
                          <a:solidFill>
                            <a:srgbClr val="FFFFFF"/>
                          </a:solidFill>
                          <a:latin typeface="Aptos"/>
                        </a:defRPr>
                      </a:pPr>
                      <a:r>
                        <a:t>Umfang</a:t>
                      </a:r>
                    </a:p>
                  </a:txBody>
                  <a:tcPr>
                    <a:solidFill>
                      <a:srgbClr val="17364A"/>
                    </a:solidFill>
                  </a:tcPr>
                </a:tc>
                <a:tc>
                  <a:txBody>
                    <a:bodyPr/>
                    <a:lstStyle/>
                    <a:p>
                      <a:pPr>
                        <a:defRPr sz="1700" b="1">
                          <a:solidFill>
                            <a:srgbClr val="FFFFFF"/>
                          </a:solidFill>
                          <a:latin typeface="Aptos"/>
                        </a:defRPr>
                      </a:pPr>
                      <a:r>
                        <a:t>Zeilen</a:t>
                      </a:r>
                    </a:p>
                  </a:txBody>
                  <a:tcPr>
                    <a:solidFill>
                      <a:srgbClr val="17364A"/>
                    </a:solidFill>
                  </a:tcPr>
                </a:tc>
                <a:tc>
                  <a:txBody>
                    <a:bodyPr/>
                    <a:lstStyle/>
                    <a:p>
                      <a:pPr>
                        <a:defRPr sz="1700" b="1">
                          <a:solidFill>
                            <a:srgbClr val="FFFFFF"/>
                          </a:solidFill>
                          <a:latin typeface="Aptos"/>
                        </a:defRPr>
                      </a:pPr>
                      <a:r>
                        <a:t>DuckDB</a:t>
                      </a:r>
                    </a:p>
                  </a:txBody>
                  <a:tcPr>
                    <a:solidFill>
                      <a:srgbClr val="17364A"/>
                    </a:solidFill>
                  </a:tcPr>
                </a:tc>
                <a:tc>
                  <a:txBody>
                    <a:bodyPr/>
                    <a:lstStyle/>
                    <a:p>
                      <a:pPr>
                        <a:defRPr sz="1700" b="1">
                          <a:solidFill>
                            <a:srgbClr val="FFFFFF"/>
                          </a:solidFill>
                          <a:latin typeface="Aptos"/>
                        </a:defRPr>
                      </a:pPr>
                      <a:r>
                        <a:t>Parquet</a:t>
                      </a:r>
                    </a:p>
                  </a:txBody>
                  <a:tcPr>
                    <a:solidFill>
                      <a:srgbClr val="17364A"/>
                    </a:solidFill>
                  </a:tcPr>
                </a:tc>
                <a:tc>
                  <a:txBody>
                    <a:bodyPr/>
                    <a:lstStyle/>
                    <a:p>
                      <a:pPr>
                        <a:defRPr sz="1700" b="1">
                          <a:solidFill>
                            <a:srgbClr val="FFFFFF"/>
                          </a:solidFill>
                          <a:latin typeface="Aptos"/>
                        </a:defRPr>
                      </a:pPr>
                      <a:r>
                        <a:t>Laufzeit</a:t>
                      </a:r>
                    </a:p>
                  </a:txBody>
                  <a:tcPr>
                    <a:solidFill>
                      <a:srgbClr val="17364A"/>
                    </a:solidFill>
                  </a:tcPr>
                </a:tc>
              </a:tr>
              <a:tr h="411480">
                <a:tc>
                  <a:txBody>
                    <a:bodyPr/>
                    <a:lstStyle/>
                    <a:p>
                      <a:pPr>
                        <a:defRPr sz="1700" b="0">
                          <a:solidFill>
                            <a:srgbClr val="17364A"/>
                          </a:solidFill>
                          <a:latin typeface="Aptos"/>
                        </a:defRPr>
                      </a:pPr>
                      <a:r>
                        <a:t>1 Tag, ganze Schweiz (gemessen)</a:t>
                      </a:r>
                    </a:p>
                  </a:txBody>
                  <a:tcPr>
                    <a:solidFill>
                      <a:srgbClr val="FFFFFF"/>
                    </a:solidFill>
                  </a:tcPr>
                </a:tc>
                <a:tc>
                  <a:txBody>
                    <a:bodyPr/>
                    <a:lstStyle/>
                    <a:p>
                      <a:pPr>
                        <a:defRPr sz="1700" b="0">
                          <a:solidFill>
                            <a:srgbClr val="17364A"/>
                          </a:solidFill>
                          <a:latin typeface="Aptos"/>
                        </a:defRPr>
                      </a:pPr>
                      <a:r>
                        <a:t>2,34 Mio.</a:t>
                      </a:r>
                    </a:p>
                  </a:txBody>
                  <a:tcPr>
                    <a:solidFill>
                      <a:srgbClr val="FFFFFF"/>
                    </a:solidFill>
                  </a:tcPr>
                </a:tc>
                <a:tc>
                  <a:txBody>
                    <a:bodyPr/>
                    <a:lstStyle/>
                    <a:p>
                      <a:pPr>
                        <a:defRPr sz="1700" b="0">
                          <a:solidFill>
                            <a:srgbClr val="17364A"/>
                          </a:solidFill>
                          <a:latin typeface="Aptos"/>
                        </a:defRPr>
                      </a:pPr>
                      <a:r>
                        <a:t>375 MB</a:t>
                      </a:r>
                    </a:p>
                  </a:txBody>
                  <a:tcPr>
                    <a:solidFill>
                      <a:srgbClr val="FFFFFF"/>
                    </a:solidFill>
                  </a:tcPr>
                </a:tc>
                <a:tc>
                  <a:txBody>
                    <a:bodyPr/>
                    <a:lstStyle/>
                    <a:p>
                      <a:pPr>
                        <a:defRPr sz="1700" b="0">
                          <a:solidFill>
                            <a:srgbClr val="17364A"/>
                          </a:solidFill>
                          <a:latin typeface="Aptos"/>
                        </a:defRPr>
                      </a:pPr>
                      <a:r>
                        <a:t>ca. 45 MB</a:t>
                      </a:r>
                    </a:p>
                  </a:txBody>
                  <a:tcPr>
                    <a:solidFill>
                      <a:srgbClr val="FFFFFF"/>
                    </a:solidFill>
                  </a:tcPr>
                </a:tc>
                <a:tc>
                  <a:txBody>
                    <a:bodyPr/>
                    <a:lstStyle/>
                    <a:p>
                      <a:pPr>
                        <a:defRPr sz="1700" b="0">
                          <a:solidFill>
                            <a:srgbClr val="17364A"/>
                          </a:solidFill>
                          <a:latin typeface="Aptos"/>
                        </a:defRPr>
                      </a:pPr>
                      <a:r>
                        <a:t>43 s</a:t>
                      </a:r>
                    </a:p>
                  </a:txBody>
                  <a:tcPr>
                    <a:solidFill>
                      <a:srgbClr val="FFFFFF"/>
                    </a:solidFill>
                  </a:tcPr>
                </a:tc>
              </a:tr>
              <a:tr h="411480">
                <a:tc>
                  <a:txBody>
                    <a:bodyPr/>
                    <a:lstStyle/>
                    <a:p>
                      <a:pPr>
                        <a:defRPr sz="1700" b="1">
                          <a:solidFill>
                            <a:srgbClr val="FFFFFF"/>
                          </a:solidFill>
                          <a:latin typeface="Aptos"/>
                        </a:defRPr>
                      </a:pPr>
                      <a:r>
                        <a:t>90 Tage, Ostschweiz (gemessen)</a:t>
                      </a:r>
                    </a:p>
                  </a:txBody>
                  <a:tcPr>
                    <a:solidFill>
                      <a:srgbClr val="167D8D"/>
                    </a:solidFill>
                  </a:tcPr>
                </a:tc>
                <a:tc>
                  <a:txBody>
                    <a:bodyPr/>
                    <a:lstStyle/>
                    <a:p>
                      <a:pPr>
                        <a:defRPr sz="1700" b="1">
                          <a:solidFill>
                            <a:srgbClr val="FFFFFF"/>
                          </a:solidFill>
                          <a:latin typeface="Aptos"/>
                        </a:defRPr>
                      </a:pPr>
                      <a:r>
                        <a:t>17,07 Mio.</a:t>
                      </a:r>
                    </a:p>
                  </a:txBody>
                  <a:tcPr>
                    <a:solidFill>
                      <a:srgbClr val="167D8D"/>
                    </a:solidFill>
                  </a:tcPr>
                </a:tc>
                <a:tc>
                  <a:txBody>
                    <a:bodyPr/>
                    <a:lstStyle/>
                    <a:p>
                      <a:pPr>
                        <a:defRPr sz="1700" b="1">
                          <a:solidFill>
                            <a:srgbClr val="FFFFFF"/>
                          </a:solidFill>
                          <a:latin typeface="Aptos"/>
                        </a:defRPr>
                      </a:pPr>
                      <a:r>
                        <a:t>2,6 GB</a:t>
                      </a:r>
                    </a:p>
                  </a:txBody>
                  <a:tcPr>
                    <a:solidFill>
                      <a:srgbClr val="167D8D"/>
                    </a:solidFill>
                  </a:tcPr>
                </a:tc>
                <a:tc>
                  <a:txBody>
                    <a:bodyPr/>
                    <a:lstStyle/>
                    <a:p>
                      <a:pPr>
                        <a:defRPr sz="1700" b="1">
                          <a:solidFill>
                            <a:srgbClr val="FFFFFF"/>
                          </a:solidFill>
                          <a:latin typeface="Aptos"/>
                        </a:defRPr>
                      </a:pPr>
                      <a:r>
                        <a:t>305 MB</a:t>
                      </a:r>
                    </a:p>
                  </a:txBody>
                  <a:tcPr>
                    <a:solidFill>
                      <a:srgbClr val="167D8D"/>
                    </a:solidFill>
                  </a:tcPr>
                </a:tc>
                <a:tc>
                  <a:txBody>
                    <a:bodyPr/>
                    <a:lstStyle/>
                    <a:p>
                      <a:pPr>
                        <a:defRPr sz="1700" b="1">
                          <a:solidFill>
                            <a:srgbClr val="FFFFFF"/>
                          </a:solidFill>
                          <a:latin typeface="Aptos"/>
                        </a:defRPr>
                      </a:pPr>
                      <a:r>
                        <a:t>ca. 16 Min.</a:t>
                      </a:r>
                    </a:p>
                  </a:txBody>
                  <a:tcPr>
                    <a:solidFill>
                      <a:srgbClr val="167D8D"/>
                    </a:solidFill>
                  </a:tcPr>
                </a:tc>
              </a:tr>
              <a:tr h="411480">
                <a:tc>
                  <a:txBody>
                    <a:bodyPr/>
                    <a:lstStyle/>
                    <a:p>
                      <a:pPr>
                        <a:defRPr sz="1700" b="0">
                          <a:solidFill>
                            <a:srgbClr val="17364A"/>
                          </a:solidFill>
                          <a:latin typeface="Aptos"/>
                        </a:defRPr>
                      </a:pPr>
                      <a:r>
                        <a:t>90 Tage, ganze Schweiz (hochgerechnet)</a:t>
                      </a:r>
                    </a:p>
                  </a:txBody>
                  <a:tcPr>
                    <a:solidFill>
                      <a:srgbClr val="FFFFFF"/>
                    </a:solidFill>
                  </a:tcPr>
                </a:tc>
                <a:tc>
                  <a:txBody>
                    <a:bodyPr/>
                    <a:lstStyle/>
                    <a:p>
                      <a:pPr>
                        <a:defRPr sz="1700" b="0">
                          <a:solidFill>
                            <a:srgbClr val="17364A"/>
                          </a:solidFill>
                          <a:latin typeface="Aptos"/>
                        </a:defRPr>
                      </a:pPr>
                      <a:r>
                        <a:t>ca. 210 Mio.</a:t>
                      </a:r>
                    </a:p>
                  </a:txBody>
                  <a:tcPr>
                    <a:solidFill>
                      <a:srgbClr val="FFFFFF"/>
                    </a:solidFill>
                  </a:tcPr>
                </a:tc>
                <a:tc>
                  <a:txBody>
                    <a:bodyPr/>
                    <a:lstStyle/>
                    <a:p>
                      <a:pPr>
                        <a:defRPr sz="1700" b="0">
                          <a:solidFill>
                            <a:srgbClr val="17364A"/>
                          </a:solidFill>
                          <a:latin typeface="Aptos"/>
                        </a:defRPr>
                      </a:pPr>
                      <a:r>
                        <a:t>ca. 34 GB</a:t>
                      </a:r>
                    </a:p>
                  </a:txBody>
                  <a:tcPr>
                    <a:solidFill>
                      <a:srgbClr val="FFFFFF"/>
                    </a:solidFill>
                  </a:tcPr>
                </a:tc>
                <a:tc>
                  <a:txBody>
                    <a:bodyPr/>
                    <a:lstStyle/>
                    <a:p>
                      <a:pPr>
                        <a:defRPr sz="1700" b="0">
                          <a:solidFill>
                            <a:srgbClr val="17364A"/>
                          </a:solidFill>
                          <a:latin typeface="Aptos"/>
                        </a:defRPr>
                      </a:pPr>
                      <a:r>
                        <a:t>ca. 4 GB</a:t>
                      </a:r>
                    </a:p>
                  </a:txBody>
                  <a:tcPr>
                    <a:solidFill>
                      <a:srgbClr val="FFFFFF"/>
                    </a:solidFill>
                  </a:tcPr>
                </a:tc>
                <a:tc>
                  <a:txBody>
                    <a:bodyPr/>
                    <a:lstStyle/>
                    <a:p>
                      <a:pPr>
                        <a:defRPr sz="1700" b="0">
                          <a:solidFill>
                            <a:srgbClr val="17364A"/>
                          </a:solidFill>
                          <a:latin typeface="Aptos"/>
                        </a:defRPr>
                      </a:pPr>
                      <a:r>
                        <a:t>ca. 1 h</a:t>
                      </a:r>
                    </a:p>
                  </a:txBody>
                  <a:tcPr>
                    <a:solidFill>
                      <a:srgbClr val="FFFFFF"/>
                    </a:solidFill>
                  </a:tcPr>
                </a:tc>
              </a:tr>
            </a:tbl>
          </a:graphicData>
        </a:graphic>
      </p:graphicFrame>
      <p:sp>
        <p:nvSpPr>
          <p:cNvPr id="7" name="TextBox 6"/>
          <p:cNvSpPr txBox="1"/>
          <p:nvPr/>
        </p:nvSpPr>
        <p:spPr>
          <a:xfrm>
            <a:off x="502920" y="3383280"/>
            <a:ext cx="11155680" cy="2194560"/>
          </a:xfrm>
          <a:prstGeom prst="rect">
            <a:avLst/>
          </a:prstGeom>
          <a:noFill/>
        </p:spPr>
        <p:txBody>
          <a:bodyPr wrap="square">
            <a:spAutoFit/>
          </a:bodyPr>
          <a:lstStyle/>
          <a:p>
            <a:pPr>
              <a:spcAft>
                <a:spcPts val="1000"/>
              </a:spcAft>
              <a:defRPr sz="1800" b="0">
                <a:solidFill>
                  <a:srgbClr val="17364A"/>
                </a:solidFill>
                <a:latin typeface="Aptos"/>
              </a:defRPr>
            </a:pPr>
            <a:r>
              <a:t>• Speicherbedarf beim Laden hängt nicht von der Dateigrösse ab, weil streamend gelesen wird.</a:t>
            </a:r>
          </a:p>
          <a:p>
            <a:pPr>
              <a:spcAft>
                <a:spcPts val="1000"/>
              </a:spcAft>
              <a:defRPr sz="1800" b="0">
                <a:solidFill>
                  <a:srgbClr val="17364A"/>
                </a:solidFill>
                <a:latin typeface="Aptos"/>
              </a:defRPr>
            </a:pPr>
            <a:r>
              <a:t>• Mehr Kantone: nur die Haltestellenliste erweitern, Code und Schema bleiben gleich.</a:t>
            </a:r>
          </a:p>
          <a:p>
            <a:pPr>
              <a:spcAft>
                <a:spcPts val="1000"/>
              </a:spcAft>
              <a:defRPr sz="1800" b="0">
                <a:solidFill>
                  <a:srgbClr val="17364A"/>
                </a:solidFill>
                <a:latin typeface="Aptos"/>
              </a:defRPr>
            </a:pPr>
            <a:r>
              <a:t>• Grenze: DuckDB erlaubt nur einen schreibenden Prozess; für Teil 2 ist PostgreSQL die nächste Stufe.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Paket B: mögliche Fragen 1/2 (Anhang)</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27.10.2026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7</a:t>
            </a:r>
          </a:p>
        </p:txBody>
      </p:sp>
      <p:sp>
        <p:nvSpPr>
          <p:cNvPr id="6" name="TextBox 5"/>
          <p:cNvSpPr txBox="1"/>
          <p:nvPr/>
        </p:nvSpPr>
        <p:spPr>
          <a:xfrm>
            <a:off x="502920" y="1234440"/>
            <a:ext cx="11155680" cy="457200"/>
          </a:xfrm>
          <a:prstGeom prst="rect">
            <a:avLst/>
          </a:prstGeom>
          <a:noFill/>
        </p:spPr>
        <p:txBody>
          <a:bodyPr wrap="square">
            <a:spAutoFit/>
          </a:bodyPr>
          <a:lstStyle/>
          <a:p>
            <a:pPr>
              <a:spcAft>
                <a:spcPts val="1200"/>
              </a:spcAft>
              <a:defRPr sz="2000" b="1">
                <a:solidFill>
                  <a:srgbClr val="167D8D"/>
                </a:solidFill>
                <a:latin typeface="Aptos"/>
              </a:defRPr>
            </a:pPr>
            <a:r>
              <a:t>Warum nicht PostgreSQL?</a:t>
            </a:r>
          </a:p>
        </p:txBody>
      </p:sp>
      <p:sp>
        <p:nvSpPr>
          <p:cNvPr id="7" name="TextBox 6"/>
          <p:cNvSpPr txBox="1"/>
          <p:nvPr/>
        </p:nvSpPr>
        <p:spPr>
          <a:xfrm>
            <a:off x="502920" y="1737360"/>
            <a:ext cx="11155680" cy="1097280"/>
          </a:xfrm>
          <a:prstGeom prst="rect">
            <a:avLst/>
          </a:prstGeom>
          <a:noFill/>
        </p:spPr>
        <p:txBody>
          <a:bodyPr wrap="square">
            <a:spAutoFit/>
          </a:bodyPr>
          <a:lstStyle/>
          <a:p>
            <a:pPr>
              <a:spcAft>
                <a:spcPts val="1200"/>
              </a:spcAft>
              <a:defRPr sz="1700" b="0">
                <a:solidFill>
                  <a:srgbClr val="17364A"/>
                </a:solidFill>
                <a:latin typeface="Aptos"/>
              </a:defRPr>
            </a:pPr>
            <a:r>
              <a:t>Für Teil 1 brauchen wir Analyse, keinen Mehrbenutzerbetrieb. DuckDB ist schneller aufgesetzt und spaltenorientiert; das Schema ist Standard-SQL, ein Wechsel ist einfach.</a:t>
            </a:r>
          </a:p>
        </p:txBody>
      </p:sp>
      <p:sp>
        <p:nvSpPr>
          <p:cNvPr id="8" name="TextBox 7"/>
          <p:cNvSpPr txBox="1"/>
          <p:nvPr/>
        </p:nvSpPr>
        <p:spPr>
          <a:xfrm>
            <a:off x="502920" y="2926080"/>
            <a:ext cx="11155680" cy="457200"/>
          </a:xfrm>
          <a:prstGeom prst="rect">
            <a:avLst/>
          </a:prstGeom>
          <a:noFill/>
        </p:spPr>
        <p:txBody>
          <a:bodyPr wrap="square">
            <a:spAutoFit/>
          </a:bodyPr>
          <a:lstStyle/>
          <a:p>
            <a:pPr>
              <a:spcAft>
                <a:spcPts val="1200"/>
              </a:spcAft>
              <a:defRPr sz="2000" b="1">
                <a:solidFill>
                  <a:srgbClr val="167D8D"/>
                </a:solidFill>
                <a:latin typeface="Aptos"/>
              </a:defRPr>
            </a:pPr>
            <a:r>
              <a:t>Was heisst idempotent bei euch?</a:t>
            </a:r>
          </a:p>
        </p:txBody>
      </p:sp>
      <p:sp>
        <p:nvSpPr>
          <p:cNvPr id="9" name="TextBox 8"/>
          <p:cNvSpPr txBox="1"/>
          <p:nvPr/>
        </p:nvSpPr>
        <p:spPr>
          <a:xfrm>
            <a:off x="502920" y="3429000"/>
            <a:ext cx="11155680" cy="1097280"/>
          </a:xfrm>
          <a:prstGeom prst="rect">
            <a:avLst/>
          </a:prstGeom>
          <a:noFill/>
        </p:spPr>
        <p:txBody>
          <a:bodyPr wrap="square">
            <a:spAutoFit/>
          </a:bodyPr>
          <a:lstStyle/>
          <a:p>
            <a:pPr>
              <a:spcAft>
                <a:spcPts val="1200"/>
              </a:spcAft>
              <a:defRPr sz="1700" b="0">
                <a:solidFill>
                  <a:srgbClr val="17364A"/>
                </a:solidFill>
                <a:latin typeface="Aptos"/>
              </a:defRPr>
            </a:pPr>
            <a:r>
              <a:t>Jeder Tag wird in einer Transaktion gelöscht und neu eingefügt. Ein zweiter Lauf überspringt fertige Tage. Geprüft: zweiter Lauf, 90 Tage übersprungen.</a:t>
            </a:r>
          </a:p>
        </p:txBody>
      </p:sp>
      <p:sp>
        <p:nvSpPr>
          <p:cNvPr id="10" name="TextBox 9"/>
          <p:cNvSpPr txBox="1"/>
          <p:nvPr/>
        </p:nvSpPr>
        <p:spPr>
          <a:xfrm>
            <a:off x="502920" y="4617720"/>
            <a:ext cx="11155680" cy="457200"/>
          </a:xfrm>
          <a:prstGeom prst="rect">
            <a:avLst/>
          </a:prstGeom>
          <a:noFill/>
        </p:spPr>
        <p:txBody>
          <a:bodyPr wrap="square">
            <a:spAutoFit/>
          </a:bodyPr>
          <a:lstStyle/>
          <a:p>
            <a:pPr>
              <a:spcAft>
                <a:spcPts val="1200"/>
              </a:spcAft>
              <a:defRPr sz="2000" b="1">
                <a:solidFill>
                  <a:srgbClr val="167D8D"/>
                </a:solidFill>
                <a:latin typeface="Aptos"/>
              </a:defRPr>
            </a:pPr>
            <a:r>
              <a:t>Wie geht ihr mit der Sommerzeit um?</a:t>
            </a:r>
          </a:p>
        </p:txBody>
      </p:sp>
      <p:sp>
        <p:nvSpPr>
          <p:cNvPr id="11" name="TextBox 10"/>
          <p:cNvSpPr txBox="1"/>
          <p:nvPr/>
        </p:nvSpPr>
        <p:spPr>
          <a:xfrm>
            <a:off x="502920" y="5120640"/>
            <a:ext cx="11155680" cy="1097280"/>
          </a:xfrm>
          <a:prstGeom prst="rect">
            <a:avLst/>
          </a:prstGeom>
          <a:noFill/>
        </p:spPr>
        <p:txBody>
          <a:bodyPr wrap="square">
            <a:spAutoFit/>
          </a:bodyPr>
          <a:lstStyle/>
          <a:p>
            <a:pPr>
              <a:spcAft>
                <a:spcPts val="1200"/>
              </a:spcAft>
              <a:defRPr sz="1700" b="0">
                <a:solidFill>
                  <a:srgbClr val="17364A"/>
                </a:solidFill>
                <a:latin typeface="Aptos"/>
              </a:defRPr>
            </a:pPr>
            <a:r>
              <a:t>Rohzeiten sind Lokalzeit. Wir wandeln sie mit Europe/Zurich in TIMESTAMPTZ um, so stimmen Dauern über die Umstellung am 29.3.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Paket B: mögliche Fragen 2/2 (Anhang)</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27.10.2026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8</a:t>
            </a:r>
          </a:p>
        </p:txBody>
      </p:sp>
      <p:sp>
        <p:nvSpPr>
          <p:cNvPr id="6" name="TextBox 5"/>
          <p:cNvSpPr txBox="1"/>
          <p:nvPr/>
        </p:nvSpPr>
        <p:spPr>
          <a:xfrm>
            <a:off x="502920" y="1234440"/>
            <a:ext cx="11155680" cy="457200"/>
          </a:xfrm>
          <a:prstGeom prst="rect">
            <a:avLst/>
          </a:prstGeom>
          <a:noFill/>
        </p:spPr>
        <p:txBody>
          <a:bodyPr wrap="square">
            <a:spAutoFit/>
          </a:bodyPr>
          <a:lstStyle/>
          <a:p>
            <a:pPr>
              <a:spcAft>
                <a:spcPts val="1200"/>
              </a:spcAft>
              <a:defRPr sz="2000" b="1">
                <a:solidFill>
                  <a:srgbClr val="167D8D"/>
                </a:solidFill>
                <a:latin typeface="Aptos"/>
              </a:defRPr>
            </a:pPr>
            <a:r>
              <a:t>Wie zuverlässig sind die Ist-Zeiten?</a:t>
            </a:r>
          </a:p>
        </p:txBody>
      </p:sp>
      <p:sp>
        <p:nvSpPr>
          <p:cNvPr id="7" name="TextBox 6"/>
          <p:cNvSpPr txBox="1"/>
          <p:nvPr/>
        </p:nvSpPr>
        <p:spPr>
          <a:xfrm>
            <a:off x="502920" y="1737360"/>
            <a:ext cx="11155680" cy="1097280"/>
          </a:xfrm>
          <a:prstGeom prst="rect">
            <a:avLst/>
          </a:prstGeom>
          <a:noFill/>
        </p:spPr>
        <p:txBody>
          <a:bodyPr wrap="square">
            <a:spAutoFit/>
          </a:bodyPr>
          <a:lstStyle/>
          <a:p>
            <a:pPr>
              <a:spcAft>
                <a:spcPts val="1200"/>
              </a:spcAft>
              <a:defRPr sz="1700" b="0">
                <a:solidFill>
                  <a:srgbClr val="17364A"/>
                </a:solidFill>
                <a:latin typeface="Aptos"/>
              </a:defRPr>
            </a:pPr>
            <a:r>
              <a:t>Ankunft gemessen: Bahn 89,7 %, Bus 65,9 %. Der Rest sind Prognosen, Schätzungen oder Halte mit leerem oder unbekanntem Status (z. B. ohne Ankunft am Startort). Der Status ist pro Zeit gespeichert, Paket C nimmt nur gemessene Werte.</a:t>
            </a:r>
          </a:p>
        </p:txBody>
      </p:sp>
      <p:sp>
        <p:nvSpPr>
          <p:cNvPr id="8" name="TextBox 7"/>
          <p:cNvSpPr txBox="1"/>
          <p:nvPr/>
        </p:nvSpPr>
        <p:spPr>
          <a:xfrm>
            <a:off x="502920" y="2926080"/>
            <a:ext cx="11155680" cy="457200"/>
          </a:xfrm>
          <a:prstGeom prst="rect">
            <a:avLst/>
          </a:prstGeom>
          <a:noFill/>
        </p:spPr>
        <p:txBody>
          <a:bodyPr wrap="square">
            <a:spAutoFit/>
          </a:bodyPr>
          <a:lstStyle/>
          <a:p>
            <a:pPr>
              <a:spcAft>
                <a:spcPts val="1200"/>
              </a:spcAft>
              <a:defRPr sz="2000" b="1">
                <a:solidFill>
                  <a:srgbClr val="167D8D"/>
                </a:solidFill>
                <a:latin typeface="Aptos"/>
              </a:defRPr>
            </a:pPr>
            <a:r>
              <a:t>Wie habt ihr die Haltestellen den Kantonen zugeordnet?</a:t>
            </a:r>
          </a:p>
        </p:txBody>
      </p:sp>
      <p:sp>
        <p:nvSpPr>
          <p:cNvPr id="9" name="TextBox 8"/>
          <p:cNvSpPr txBox="1"/>
          <p:nvPr/>
        </p:nvSpPr>
        <p:spPr>
          <a:xfrm>
            <a:off x="502920" y="3429000"/>
            <a:ext cx="11155680" cy="1097280"/>
          </a:xfrm>
          <a:prstGeom prst="rect">
            <a:avLst/>
          </a:prstGeom>
          <a:noFill/>
        </p:spPr>
        <p:txBody>
          <a:bodyPr wrap="square">
            <a:spAutoFit/>
          </a:bodyPr>
          <a:lstStyle/>
          <a:p>
            <a:pPr>
              <a:spcAft>
                <a:spcPts val="1200"/>
              </a:spcAft>
              <a:defRPr sz="1700" b="0">
                <a:solidFill>
                  <a:srgbClr val="17364A"/>
                </a:solidFill>
                <a:latin typeface="Aptos"/>
              </a:defRPr>
            </a:pPr>
            <a:r>
              <a:t>Koordinaten aus dem GTFS-Fahrplan, dann Punkt-in-Polygon mit den Kantonsgrenzen von swisstopo. Ergebnis: 2587 Haltestellen.</a:t>
            </a:r>
          </a:p>
        </p:txBody>
      </p:sp>
      <p:sp>
        <p:nvSpPr>
          <p:cNvPr id="10" name="TextBox 9"/>
          <p:cNvSpPr txBox="1"/>
          <p:nvPr/>
        </p:nvSpPr>
        <p:spPr>
          <a:xfrm>
            <a:off x="502920" y="4617720"/>
            <a:ext cx="11155680" cy="457200"/>
          </a:xfrm>
          <a:prstGeom prst="rect">
            <a:avLst/>
          </a:prstGeom>
          <a:noFill/>
        </p:spPr>
        <p:txBody>
          <a:bodyPr wrap="square">
            <a:spAutoFit/>
          </a:bodyPr>
          <a:lstStyle/>
          <a:p>
            <a:pPr>
              <a:spcAft>
                <a:spcPts val="1200"/>
              </a:spcAft>
              <a:defRPr sz="2000" b="1">
                <a:solidFill>
                  <a:srgbClr val="167D8D"/>
                </a:solidFill>
                <a:latin typeface="Aptos"/>
              </a:defRPr>
            </a:pPr>
            <a:r>
              <a:t>Warum liegen die Rohdaten nicht im Repo?</a:t>
            </a:r>
          </a:p>
        </p:txBody>
      </p:sp>
      <p:sp>
        <p:nvSpPr>
          <p:cNvPr id="11" name="TextBox 10"/>
          <p:cNvSpPr txBox="1"/>
          <p:nvPr/>
        </p:nvSpPr>
        <p:spPr>
          <a:xfrm>
            <a:off x="502920" y="5120640"/>
            <a:ext cx="11155680" cy="1097280"/>
          </a:xfrm>
          <a:prstGeom prst="rect">
            <a:avLst/>
          </a:prstGeom>
          <a:noFill/>
        </p:spPr>
        <p:txBody>
          <a:bodyPr wrap="square">
            <a:spAutoFit/>
          </a:bodyPr>
          <a:lstStyle/>
          <a:p>
            <a:pPr>
              <a:spcAft>
                <a:spcPts val="1200"/>
              </a:spcAft>
              <a:defRPr sz="1700" b="0">
                <a:solidFill>
                  <a:srgbClr val="17364A"/>
                </a:solidFill>
                <a:latin typeface="Aptos"/>
              </a:defRPr>
            </a:pPr>
            <a:r>
              <a:t>Rund 50 GB ungefiltert. Im Repo liegt ein Beispieltag, das Skript lädt alles mit einem Befehl nach. Die gefilterten Daten liegen als Parquet auf OneDrive.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ÖV und Wetter: Paket B</dc:title>
  <dc:subject>Ist-Daten, Ingestion, Storage und Datenmodell</dc:subject>
  <dc:creator>Aladin · Gruppe 4</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