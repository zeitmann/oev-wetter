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50 Sekunden. Wir übernehmen die Ist-Daten und das Schema von Paket B. MeteoSchweiz wurde gegenüber Open-Meteo gewählt, weil Stationsmessungen zum geplanten Stationsmodell passen. Fertige Stundenwerte statt eigener Aggregation. Die Wetterzeit ist das Intervallende: 10:30 UTC wird 11:00 UTC zugeordnet; genau 10:00 UTC bleibt 10:00 UTC. Beide Quellen werden in UTC verbunden, Tageszeit und Wochentag aus Europe/Zurich abgeleitet.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55 Sekunden. EDA vor Bereinigung nach Verkehrsmittel, Kanton und Tageszeit. Zuerst fehlende Ankünfte, dann nicht gemessene Werte, Ausfälle, Durchfahrten und unplausible Verspätungen ausschliessen. Die Bilanz zählt jeden Halt einmal. Nach Bereinigung bleiben 11.671.172 Halte; 44.243 verlieren wir mangels geeigneter Station. Final 11.626.929. Die REAL-Anteile beziehen sich auf den Ankunftsstatus aller Rohhalte, einschliesslich Halten ohne Soll-Ankunft, nicht auf Bs Abfahrtsquoten.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75 Sekunden. Stark bedeutet strikt mehr als 1,7 mm pro Stunde. Das ist das 90. Perzentil positiver Stationsstunden, vor dem Halt-Join berechnet. Vergleich stark gegen alle übrigen Halte: 1,613 statt 1,393 Minuten. Mann-Whitney-U prüft Verteilungsunterschiede; ergänzend Mittelwertdifferenz. Rang-biserial r=0,070, p&lt;0,001: kleiner Zusammenhang. Die Grafik zeigt drei Wetterklassen, der Test vergleicht stark gegen trocken und mässig zusammen. H2: Bus +0,212 und Bahn +0,214 Minuten. Interaktion −0,0017 Minuten, 95%-KI [−0,0299; 0,0264], p=0,904. H2 wird absolut nicht gestützt. Relativ ist es eher umgekehrt: Der Anteil verspäteter Halte steigt bei der Bahn von 5,5 auf 8,0 % (+45 %), beim Bus von 13,4 auf 16,5 % (+23 %), und r ist bei der Bahn grösser (0,103 statt 0,063). Die Mittelwerte steigen abgestuft von trocken über mässig zu stark, das stützt H1 zusätzlich.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HVZ Montag bis Freitag, 6 bis 9 und 16 bis 19 Uhr lokal, gesetzliche kantonale Feiertage ausgenommen. Während der HVZ ist das allgemeine Verspätungsniveau höher. Das ist aber etwas anderes als die Verstärkung des Wettereffekts: HVZ +0,208 gegenüber NVZ +0,268 Minuten. OLS-Interaktion −0,0603 Minuten, 95%-KI [−0,0816; −0,0389], p&lt;0,001. Die Richtung ist umgekehrt, die Differenz etwa 3,6 Sekunden. Die Regression nutzt alle bereinigten Halte, ohne Stichprobe. Relativ: Anteil verspäteter Halte HVZ 19,2 → 22,9 % (+20 %), NVZ 9,5 → 13,1 % (+38 %).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Insgesamt hängt starker Niederschlag in diesem Winterquartal mit etwas höheren Ankunftsverspätungen zusammen. Kein stärkerer Effekt beim Bus oder in der HVZ. Keine Kausalität: Baustellen, Störungen und Nachfrage sind nicht kontrolliert. Halte derselben Fahrt sind abhängig; klassische p-Werte und Konfidenzintervalle können zu optimistisch sein. Schnee ergänzend nur +0,029 Minuten, r=0,014. Je nach Station wird Schneedecke oder Niederschlag bei Frost beobachtet, kein einheitlicher Schneefall. Die 47 Haltestellen ohne geeignete Station liegen alle auf rund 1000 m oder höher, also dort, wo Schnee am wichtigsten wäre. Ausgefallene Fahrten können wetterbedingt sein; weil sie ausgeschlossen sind, wird der Effekt eher unterschätzt (Ausfallquote nach Wetter für Teil 2). Die bereinigten Halte und eine Stundenaggregation stehen für Teil 2 bereit.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Anhang, nicht Teil der fünf Minuten. Vollständige Links sind anklickbar.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data.geo.admin.ch/api/stac/v1/collections/ch.meteoschweiz.ogd-smn" TargetMode="External"/><Relationship Id="rId4" Type="http://schemas.openxmlformats.org/officeDocument/2006/relationships/hyperlink" Target="https://archive.opentransportdata.swiss/actual_data_archive.htm" TargetMode="External"/><Relationship Id="rId5" Type="http://schemas.openxmlformats.org/officeDocument/2006/relationships/hyperlink" Target="https://api3.geo.admin.ch/services/sdiservices.html#height" TargetMode="External"/><Relationship Id="rId6" Type="http://schemas.openxmlformats.org/officeDocument/2006/relationships/hyperlink" Target="https://www.statsmodels.org/stable/regressio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Wetterdaten passend zu jedem Halt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27.10.2026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1</a:t>
            </a:r>
          </a:p>
        </p:txBody>
      </p:sp>
      <p:sp>
        <p:nvSpPr>
          <p:cNvPr id="6" name="TextBox 5"/>
          <p:cNvSpPr txBox="1"/>
          <p:nvPr/>
        </p:nvSpPr>
        <p:spPr>
          <a:xfrm>
            <a:off x="502920" y="1234440"/>
            <a:ext cx="5394960" cy="548640"/>
          </a:xfrm>
          <a:prstGeom prst="rect">
            <a:avLst/>
          </a:prstGeom>
          <a:noFill/>
        </p:spPr>
        <p:txBody>
          <a:bodyPr wrap="square">
            <a:spAutoFit/>
          </a:bodyPr>
          <a:lstStyle/>
          <a:p>
            <a:pPr>
              <a:spcAft>
                <a:spcPts val="1200"/>
              </a:spcAft>
              <a:defRPr sz="2900" b="1">
                <a:solidFill>
                  <a:srgbClr val="167D8D"/>
                </a:solidFill>
                <a:latin typeface="Aptos"/>
              </a:defRPr>
            </a:pPr>
            <a:r>
              <a:t>13 Stationen · 10 geeignet</a:t>
            </a:r>
          </a:p>
        </p:txBody>
      </p:sp>
      <p:sp>
        <p:nvSpPr>
          <p:cNvPr id="7" name="TextBox 6"/>
          <p:cNvSpPr txBox="1"/>
          <p:nvPr/>
        </p:nvSpPr>
        <p:spPr>
          <a:xfrm>
            <a:off x="502920" y="2011680"/>
            <a:ext cx="5303520" cy="3566160"/>
          </a:xfrm>
          <a:prstGeom prst="rect">
            <a:avLst/>
          </a:prstGeom>
          <a:noFill/>
        </p:spPr>
        <p:txBody>
          <a:bodyPr wrap="square">
            <a:spAutoFit/>
          </a:bodyPr>
          <a:lstStyle/>
          <a:p>
            <a:pPr>
              <a:spcAft>
                <a:spcPts val="1200"/>
              </a:spcAft>
              <a:defRPr sz="2300" b="0">
                <a:solidFill>
                  <a:srgbClr val="17364A"/>
                </a:solidFill>
                <a:latin typeface="Aptos"/>
              </a:defRPr>
            </a:pPr>
            <a:r>
              <a:t>MeteoSchweiz SwissMetNet, Januar–März 2026</a:t>
            </a:r>
          </a:p>
          <a:p>
            <a:pPr>
              <a:spcAft>
                <a:spcPts val="1200"/>
              </a:spcAft>
              <a:defRPr sz="2300" b="0">
                <a:solidFill>
                  <a:srgbClr val="17364A"/>
                </a:solidFill>
                <a:latin typeface="Aptos"/>
              </a:defRPr>
            </a:pPr>
            <a:r>
              <a:t>Stundenwerte: Niederschlag und Temperatur; Wind und Schnee soweit verfügbar</a:t>
            </a:r>
          </a:p>
          <a:p>
            <a:pPr>
              <a:spcAft>
                <a:spcPts val="1200"/>
              </a:spcAft>
              <a:defRPr sz="2300" b="0">
                <a:solidFill>
                  <a:srgbClr val="17364A"/>
                </a:solidFill>
                <a:latin typeface="Aptos"/>
              </a:defRPr>
            </a:pPr>
            <a:r>
              <a:t>QUI, SCM und STK fehlen die Kernparameter</a:t>
            </a:r>
          </a:p>
        </p:txBody>
      </p:sp>
      <p:sp>
        <p:nvSpPr>
          <p:cNvPr id="8" name="TextBox 7"/>
          <p:cNvSpPr txBox="1"/>
          <p:nvPr/>
        </p:nvSpPr>
        <p:spPr>
          <a:xfrm>
            <a:off x="6400800" y="1234440"/>
            <a:ext cx="5212080" cy="548640"/>
          </a:xfrm>
          <a:prstGeom prst="rect">
            <a:avLst/>
          </a:prstGeom>
          <a:noFill/>
        </p:spPr>
        <p:txBody>
          <a:bodyPr wrap="square">
            <a:spAutoFit/>
          </a:bodyPr>
          <a:lstStyle/>
          <a:p>
            <a:pPr>
              <a:spcAft>
                <a:spcPts val="1200"/>
              </a:spcAft>
              <a:defRPr sz="2700" b="1">
                <a:solidFill>
                  <a:srgbClr val="167D8D"/>
                </a:solidFill>
                <a:latin typeface="Aptos"/>
              </a:defRPr>
            </a:pPr>
            <a:r>
              <a:t>2’540 Haltestellen zugeordnet</a:t>
            </a:r>
          </a:p>
        </p:txBody>
      </p:sp>
      <p:sp>
        <p:nvSpPr>
          <p:cNvPr id="9" name="TextBox 8"/>
          <p:cNvSpPr txBox="1"/>
          <p:nvPr/>
        </p:nvSpPr>
        <p:spPr>
          <a:xfrm>
            <a:off x="6400800" y="2011680"/>
            <a:ext cx="5212080" cy="3566160"/>
          </a:xfrm>
          <a:prstGeom prst="rect">
            <a:avLst/>
          </a:prstGeom>
          <a:noFill/>
        </p:spPr>
        <p:txBody>
          <a:bodyPr wrap="square">
            <a:spAutoFit/>
          </a:bodyPr>
          <a:lstStyle/>
          <a:p>
            <a:pPr>
              <a:spcAft>
                <a:spcPts val="1200"/>
              </a:spcAft>
              <a:defRPr sz="2300" b="0">
                <a:solidFill>
                  <a:srgbClr val="17364A"/>
                </a:solidFill>
                <a:latin typeface="Aptos"/>
              </a:defRPr>
            </a:pPr>
            <a:r>
              <a:t>Nächste geeignete Station: höchstens 30 km und 500 m Höhenunterschied</a:t>
            </a:r>
          </a:p>
          <a:p>
            <a:pPr>
              <a:spcAft>
                <a:spcPts val="1200"/>
              </a:spcAft>
              <a:defRPr sz="2300" b="0">
                <a:solidFill>
                  <a:srgbClr val="17364A"/>
                </a:solidFill>
                <a:latin typeface="Aptos"/>
              </a:defRPr>
            </a:pPr>
            <a:r>
              <a:t>Geländehöhen mit swisstopo ergänzt; 47 Haltestellen ohne passende Station</a:t>
            </a:r>
          </a:p>
          <a:p>
            <a:pPr>
              <a:spcAft>
                <a:spcPts val="1200"/>
              </a:spcAft>
              <a:defRPr sz="2300" b="0">
                <a:solidFill>
                  <a:srgbClr val="17364A"/>
                </a:solidFill>
                <a:latin typeface="Aptos"/>
              </a:defRPr>
            </a:pPr>
            <a:r>
              <a:t>Join nach Soll-Ankunft und Wetterintervall in UTC</a:t>
            </a:r>
          </a:p>
        </p:txBody>
      </p:sp>
      <p:sp>
        <p:nvSpPr>
          <p:cNvPr id="10" name="TextBox 9"/>
          <p:cNvSpPr txBox="1"/>
          <p:nvPr/>
        </p:nvSpPr>
        <p:spPr>
          <a:xfrm>
            <a:off x="502920" y="5669280"/>
            <a:ext cx="10972800" cy="457200"/>
          </a:xfrm>
          <a:prstGeom prst="rect">
            <a:avLst/>
          </a:prstGeom>
          <a:noFill/>
        </p:spPr>
        <p:txBody>
          <a:bodyPr wrap="square">
            <a:spAutoFit/>
          </a:bodyPr>
          <a:lstStyle/>
          <a:p>
            <a:pPr>
              <a:spcAft>
                <a:spcPts val="1200"/>
              </a:spcAft>
              <a:defRPr sz="2200" b="1">
                <a:solidFill>
                  <a:srgbClr val="167D8D"/>
                </a:solidFill>
                <a:latin typeface="Aptos"/>
              </a:defRPr>
            </a:pPr>
            <a:r>
              <a:t>Bestehende Basis: Python + DuckDB + Parquet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Bereinigung: von 17,07 auf 11,63 Mio. Halte</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27.10.2026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2</a:t>
            </a:r>
          </a:p>
        </p:txBody>
      </p:sp>
      <p:sp>
        <p:nvSpPr>
          <p:cNvPr id="6" name="TextBox 5"/>
          <p:cNvSpPr txBox="1"/>
          <p:nvPr/>
        </p:nvSpPr>
        <p:spPr>
          <a:xfrm>
            <a:off x="502920" y="1280160"/>
            <a:ext cx="4114800" cy="3383280"/>
          </a:xfrm>
          <a:prstGeom prst="rect">
            <a:avLst/>
          </a:prstGeom>
          <a:noFill/>
        </p:spPr>
        <p:txBody>
          <a:bodyPr wrap="square">
            <a:spAutoFit/>
          </a:bodyPr>
          <a:lstStyle/>
          <a:p>
            <a:pPr>
              <a:spcAft>
                <a:spcPts val="1200"/>
              </a:spcAft>
              <a:defRPr sz="2200" b="0">
                <a:solidFill>
                  <a:srgbClr val="17364A"/>
                </a:solidFill>
                <a:latin typeface="Aptos"/>
              </a:defRPr>
            </a:pPr>
            <a:r>
              <a:t>Nur gemessene Ankünfte (REAL)</a:t>
            </a:r>
          </a:p>
          <a:p>
            <a:pPr>
              <a:spcAft>
                <a:spcPts val="1200"/>
              </a:spcAft>
              <a:defRPr sz="2200" b="0">
                <a:solidFill>
                  <a:srgbClr val="17364A"/>
                </a:solidFill>
                <a:latin typeface="Aptos"/>
              </a:defRPr>
            </a:pPr>
            <a:r>
              <a:t>Keine Ausfälle oder Durchfahrten</a:t>
            </a:r>
          </a:p>
          <a:p>
            <a:pPr>
              <a:spcAft>
                <a:spcPts val="1200"/>
              </a:spcAft>
              <a:defRPr sz="2200" b="0">
                <a:solidFill>
                  <a:srgbClr val="17364A"/>
                </a:solidFill>
                <a:latin typeface="Aptos"/>
              </a:defRPr>
            </a:pPr>
            <a:r>
              <a:t>Plausibilität: −10 bis +60 Minuten</a:t>
            </a:r>
          </a:p>
          <a:p>
            <a:pPr>
              <a:spcAft>
                <a:spcPts val="1200"/>
              </a:spcAft>
              <a:defRPr sz="2200" b="0">
                <a:solidFill>
                  <a:srgbClr val="17364A"/>
                </a:solidFill>
                <a:latin typeface="Aptos"/>
              </a:defRPr>
            </a:pPr>
            <a:r>
              <a:t>Verspätet: mindestens 3 Minuten</a:t>
            </a:r>
          </a:p>
        </p:txBody>
      </p:sp>
      <p:pic>
        <p:nvPicPr>
          <p:cNvPr id="7" name="Picture 6" descr="verspaetungsverteilung.png"/>
          <p:cNvPicPr>
            <a:picLocks noChangeAspect="1"/>
          </p:cNvPicPr>
          <p:nvPr/>
        </p:nvPicPr>
        <p:blipFill>
          <a:blip r:embed="rId3"/>
          <a:stretch>
            <a:fillRect/>
          </a:stretch>
        </p:blipFill>
        <p:spPr>
          <a:xfrm>
            <a:off x="4617720" y="1280160"/>
            <a:ext cx="7178040" cy="3589020"/>
          </a:xfrm>
          <a:prstGeom prst="rect">
            <a:avLst/>
          </a:prstGeom>
        </p:spPr>
      </p:pic>
      <p:sp>
        <p:nvSpPr>
          <p:cNvPr id="8" name="TextBox 7"/>
          <p:cNvSpPr txBox="1"/>
          <p:nvPr/>
        </p:nvSpPr>
        <p:spPr>
          <a:xfrm>
            <a:off x="502920" y="5212080"/>
            <a:ext cx="10972800" cy="822960"/>
          </a:xfrm>
          <a:prstGeom prst="rect">
            <a:avLst/>
          </a:prstGeom>
          <a:noFill/>
        </p:spPr>
        <p:txBody>
          <a:bodyPr wrap="square">
            <a:spAutoFit/>
          </a:bodyPr>
          <a:lstStyle/>
          <a:p>
            <a:pPr>
              <a:spcAft>
                <a:spcPts val="1200"/>
              </a:spcAft>
              <a:defRPr sz="2000" b="0">
                <a:solidFill>
                  <a:srgbClr val="53616B"/>
                </a:solidFill>
                <a:latin typeface="Aptos"/>
              </a:defRPr>
            </a:pPr>
            <a:r>
              <a:t>Ankunftsstatus REAL vor Bereinigung: Bahn 89,72 % · Bus 65,94 %</a:t>
            </a:r>
          </a:p>
          <a:p>
            <a:pPr>
              <a:spcAft>
                <a:spcPts val="1200"/>
              </a:spcAft>
              <a:defRPr sz="2000" b="0">
                <a:solidFill>
                  <a:srgbClr val="53616B"/>
                </a:solidFill>
                <a:latin typeface="Aptos"/>
              </a:defRPr>
            </a:pPr>
            <a:r>
              <a:t>Unterschiedliche Messabdeckung bleibt eine Grenze des Vergleichs.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H1: Bei starkem Niederschlag etwas mehr Verspätung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27.10.2026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3</a:t>
            </a:r>
          </a:p>
        </p:txBody>
      </p:sp>
      <p:sp>
        <p:nvSpPr>
          <p:cNvPr id="6" name="TextBox 5"/>
          <p:cNvSpPr txBox="1"/>
          <p:nvPr/>
        </p:nvSpPr>
        <p:spPr>
          <a:xfrm>
            <a:off x="502920" y="1188720"/>
            <a:ext cx="11155680" cy="685800"/>
          </a:xfrm>
          <a:prstGeom prst="rect">
            <a:avLst/>
          </a:prstGeom>
          <a:noFill/>
        </p:spPr>
        <p:txBody>
          <a:bodyPr wrap="square">
            <a:spAutoFit/>
          </a:bodyPr>
          <a:lstStyle/>
          <a:p>
            <a:pPr>
              <a:spcAft>
                <a:spcPts val="1200"/>
              </a:spcAft>
              <a:defRPr sz="2700" b="1">
                <a:solidFill>
                  <a:srgbClr val="167D8D"/>
                </a:solidFill>
                <a:latin typeface="Aptos"/>
              </a:defRPr>
            </a:pPr>
            <a:r>
              <a:t>+13,2 Sekunden im Mittel · 12,36 % → 15,50 % verspätete Halte</a:t>
            </a:r>
          </a:p>
        </p:txBody>
      </p:sp>
      <p:pic>
        <p:nvPicPr>
          <p:cNvPr id="7" name="Picture 6" descr="wetter_verkehrsmittel.png"/>
          <p:cNvPicPr>
            <a:picLocks noChangeAspect="1"/>
          </p:cNvPicPr>
          <p:nvPr/>
        </p:nvPicPr>
        <p:blipFill>
          <a:blip r:embed="rId3"/>
          <a:stretch>
            <a:fillRect/>
          </a:stretch>
        </p:blipFill>
        <p:spPr>
          <a:xfrm>
            <a:off x="457200" y="2240280"/>
            <a:ext cx="8046720" cy="3218688"/>
          </a:xfrm>
          <a:prstGeom prst="rect">
            <a:avLst/>
          </a:prstGeom>
        </p:spPr>
      </p:pic>
      <p:sp>
        <p:nvSpPr>
          <p:cNvPr id="8" name="TextBox 7"/>
          <p:cNvSpPr txBox="1"/>
          <p:nvPr/>
        </p:nvSpPr>
        <p:spPr>
          <a:xfrm>
            <a:off x="8732520" y="2194560"/>
            <a:ext cx="2971800" cy="3474720"/>
          </a:xfrm>
          <a:prstGeom prst="rect">
            <a:avLst/>
          </a:prstGeom>
          <a:noFill/>
        </p:spPr>
        <p:txBody>
          <a:bodyPr wrap="square">
            <a:spAutoFit/>
          </a:bodyPr>
          <a:lstStyle/>
          <a:p>
            <a:pPr>
              <a:spcAft>
                <a:spcPts val="1200"/>
              </a:spcAft>
              <a:defRPr sz="1800" b="0">
                <a:solidFill>
                  <a:srgbClr val="17364A"/>
                </a:solidFill>
                <a:latin typeface="Aptos"/>
              </a:defRPr>
            </a:pPr>
            <a:r>
              <a:t>Stark: &gt; 1,7 mm/h</a:t>
            </a:r>
          </a:p>
          <a:p>
            <a:pPr>
              <a:spcAft>
                <a:spcPts val="1200"/>
              </a:spcAft>
              <a:defRPr sz="1800" b="0">
                <a:solidFill>
                  <a:srgbClr val="17364A"/>
                </a:solidFill>
                <a:latin typeface="Aptos"/>
              </a:defRPr>
            </a:pPr>
            <a:r>
              <a:t>Kleiner Effekt: r = 0,070</a:t>
            </a:r>
          </a:p>
          <a:p>
            <a:pPr>
              <a:spcAft>
                <a:spcPts val="1200"/>
              </a:spcAft>
              <a:defRPr sz="1800" b="0">
                <a:solidFill>
                  <a:srgbClr val="17364A"/>
                </a:solidFill>
                <a:latin typeface="Aptos"/>
              </a:defRPr>
            </a:pPr>
            <a:r>
              <a:t>p &lt; 0,001</a:t>
            </a:r>
          </a:p>
          <a:p>
            <a:pPr>
              <a:spcAft>
                <a:spcPts val="1200"/>
              </a:spcAft>
              <a:defRPr sz="1800" b="0">
                <a:solidFill>
                  <a:srgbClr val="17364A"/>
                </a:solidFill>
                <a:latin typeface="Aptos"/>
              </a:defRPr>
            </a:pPr>
            <a:r>
              <a:t>H2 nicht gestützt: absolut gleicher Effekt (+0,21 Min.), relativ bei der Bahn eher stärker</a:t>
            </a:r>
          </a:p>
        </p:txBody>
      </p:sp>
      <p:sp>
        <p:nvSpPr>
          <p:cNvPr id="9" name="TextBox 8"/>
          <p:cNvSpPr txBox="1"/>
          <p:nvPr/>
        </p:nvSpPr>
        <p:spPr>
          <a:xfrm>
            <a:off x="502920" y="5897880"/>
            <a:ext cx="10972800" cy="320040"/>
          </a:xfrm>
          <a:prstGeom prst="rect">
            <a:avLst/>
          </a:prstGeom>
          <a:noFill/>
        </p:spPr>
        <p:txBody>
          <a:bodyPr wrap="square">
            <a:spAutoFit/>
          </a:bodyPr>
          <a:lstStyle/>
          <a:p>
            <a:pPr>
              <a:spcAft>
                <a:spcPts val="1200"/>
              </a:spcAft>
              <a:defRPr sz="1500" b="0">
                <a:solidFill>
                  <a:srgbClr val="53616B"/>
                </a:solidFill>
                <a:latin typeface="Aptos"/>
              </a:defRPr>
            </a:pPr>
            <a:r>
              <a:t>Abgestuft trocken → mässig → stark: Bus 1,45 → 1,61 → 1,69 Min. · Bahn 0,83 → 1,04 → 1,07 Min. (H1-Test: stark gegen sonst)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H3: Die Hauptverkehrszeit verstärkt den Effekt nicht</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27.10.2026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4</a:t>
            </a:r>
          </a:p>
        </p:txBody>
      </p:sp>
      <p:pic>
        <p:nvPicPr>
          <p:cNvPr id="6" name="Picture 5" descr="wetter_hvz.png"/>
          <p:cNvPicPr>
            <a:picLocks noChangeAspect="1"/>
          </p:cNvPicPr>
          <p:nvPr/>
        </p:nvPicPr>
        <p:blipFill>
          <a:blip r:embed="rId3"/>
          <a:stretch>
            <a:fillRect/>
          </a:stretch>
        </p:blipFill>
        <p:spPr>
          <a:xfrm>
            <a:off x="502920" y="1280160"/>
            <a:ext cx="7635240" cy="4362994"/>
          </a:xfrm>
          <a:prstGeom prst="rect">
            <a:avLst/>
          </a:prstGeom>
        </p:spPr>
      </p:pic>
      <p:sp>
        <p:nvSpPr>
          <p:cNvPr id="7" name="TextBox 6"/>
          <p:cNvSpPr txBox="1"/>
          <p:nvPr/>
        </p:nvSpPr>
        <p:spPr>
          <a:xfrm>
            <a:off x="8366760" y="1508760"/>
            <a:ext cx="3291840" cy="3474720"/>
          </a:xfrm>
          <a:prstGeom prst="rect">
            <a:avLst/>
          </a:prstGeom>
          <a:noFill/>
        </p:spPr>
        <p:txBody>
          <a:bodyPr wrap="square">
            <a:spAutoFit/>
          </a:bodyPr>
          <a:lstStyle/>
          <a:p>
            <a:pPr>
              <a:spcAft>
                <a:spcPts val="1200"/>
              </a:spcAft>
              <a:defRPr sz="2200" b="0">
                <a:solidFill>
                  <a:srgbClr val="17364A"/>
                </a:solidFill>
                <a:latin typeface="Aptos"/>
              </a:defRPr>
            </a:pPr>
            <a:r>
              <a:t>Wettereffekt stark vs, sonst:</a:t>
            </a:r>
          </a:p>
          <a:p>
            <a:pPr>
              <a:spcAft>
                <a:spcPts val="1200"/>
              </a:spcAft>
              <a:defRPr sz="2200" b="0">
                <a:solidFill>
                  <a:srgbClr val="17364A"/>
                </a:solidFill>
                <a:latin typeface="Aptos"/>
              </a:defRPr>
            </a:pPr>
            <a:r>
              <a:t>HVZ: +0,208 Minuten</a:t>
            </a:r>
          </a:p>
          <a:p>
            <a:pPr>
              <a:spcAft>
                <a:spcPts val="1200"/>
              </a:spcAft>
              <a:defRPr sz="2200" b="0">
                <a:solidFill>
                  <a:srgbClr val="17364A"/>
                </a:solidFill>
                <a:latin typeface="Aptos"/>
              </a:defRPr>
            </a:pPr>
            <a:r>
              <a:t>NVZ: +0,268 Minuten</a:t>
            </a:r>
          </a:p>
          <a:p>
            <a:pPr>
              <a:spcAft>
                <a:spcPts val="1200"/>
              </a:spcAft>
              <a:defRPr sz="2200" b="0">
                <a:solidFill>
                  <a:srgbClr val="17364A"/>
                </a:solidFill>
                <a:latin typeface="Aptos"/>
              </a:defRPr>
            </a:pPr>
            <a:r>
              <a:t>Interaktion: -0,060 Minuten</a:t>
            </a:r>
          </a:p>
          <a:p>
            <a:pPr>
              <a:spcAft>
                <a:spcPts val="1200"/>
              </a:spcAft>
              <a:defRPr sz="2200" b="0">
                <a:solidFill>
                  <a:srgbClr val="17364A"/>
                </a:solidFill>
                <a:latin typeface="Aptos"/>
              </a:defRPr>
            </a:pPr>
            <a:r>
              <a:t>H3 nicht gestützt</a:t>
            </a:r>
          </a:p>
        </p:txBody>
      </p:sp>
      <p:sp>
        <p:nvSpPr>
          <p:cNvPr id="8" name="TextBox 7"/>
          <p:cNvSpPr txBox="1"/>
          <p:nvPr/>
        </p:nvSpPr>
        <p:spPr>
          <a:xfrm>
            <a:off x="502920" y="5852160"/>
            <a:ext cx="10972800" cy="365760"/>
          </a:xfrm>
          <a:prstGeom prst="rect">
            <a:avLst/>
          </a:prstGeom>
          <a:noFill/>
        </p:spPr>
        <p:txBody>
          <a:bodyPr wrap="square">
            <a:spAutoFit/>
          </a:bodyPr>
          <a:lstStyle/>
          <a:p>
            <a:pPr>
              <a:spcAft>
                <a:spcPts val="1200"/>
              </a:spcAft>
              <a:defRPr sz="2100" b="1">
                <a:solidFill>
                  <a:srgbClr val="167D8D"/>
                </a:solidFill>
                <a:latin typeface="Aptos"/>
              </a:defRPr>
            </a:pPr>
            <a:r>
              <a:t>Höheres Verspätungsniveau in der HVZ ≠ stärkerer Wettereffekt.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Ein kleiner Zusammenhang – mit klaren Grenzen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27.10.2026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5</a:t>
            </a:r>
          </a:p>
        </p:txBody>
      </p:sp>
      <p:sp>
        <p:nvSpPr>
          <p:cNvPr id="6" name="TextBox 5"/>
          <p:cNvSpPr txBox="1"/>
          <p:nvPr/>
        </p:nvSpPr>
        <p:spPr>
          <a:xfrm>
            <a:off x="502920" y="1280160"/>
            <a:ext cx="5394960" cy="3383280"/>
          </a:xfrm>
          <a:prstGeom prst="rect">
            <a:avLst/>
          </a:prstGeom>
          <a:noFill/>
        </p:spPr>
        <p:txBody>
          <a:bodyPr wrap="square">
            <a:spAutoFit/>
          </a:bodyPr>
          <a:lstStyle/>
          <a:p>
            <a:pPr>
              <a:spcAft>
                <a:spcPts val="1200"/>
              </a:spcAft>
              <a:defRPr sz="2100" b="0">
                <a:solidFill>
                  <a:srgbClr val="17364A"/>
                </a:solidFill>
                <a:latin typeface="Aptos"/>
              </a:defRPr>
            </a:pPr>
            <a:r>
              <a:t>Beobachteter Zusammenhang, keine Kausalität</a:t>
            </a:r>
          </a:p>
          <a:p>
            <a:pPr>
              <a:spcAft>
                <a:spcPts val="1200"/>
              </a:spcAft>
              <a:defRPr sz="2100" b="0">
                <a:solidFill>
                  <a:srgbClr val="17364A"/>
                </a:solidFill>
                <a:latin typeface="Aptos"/>
              </a:defRPr>
            </a:pPr>
            <a:r>
              <a:t>Nur ein Winterquartal; weitere Ursachen fehlen</a:t>
            </a:r>
          </a:p>
          <a:p>
            <a:pPr>
              <a:spcAft>
                <a:spcPts val="1200"/>
              </a:spcAft>
              <a:defRPr sz="2100" b="0">
                <a:solidFill>
                  <a:srgbClr val="17364A"/>
                </a:solidFill>
                <a:latin typeface="Aptos"/>
              </a:defRPr>
            </a:pPr>
            <a:r>
              <a:t>Halte derselben Fahrt sind nicht unabhängig</a:t>
            </a:r>
          </a:p>
          <a:p>
            <a:pPr>
              <a:spcAft>
                <a:spcPts val="1200"/>
              </a:spcAft>
              <a:defRPr sz="2100" b="0">
                <a:solidFill>
                  <a:srgbClr val="17364A"/>
                </a:solidFill>
                <a:latin typeface="Aptos"/>
              </a:defRPr>
            </a:pPr>
            <a:r>
              <a:t>Ausfälle ausgeschlossen: Effekt eher unterschätzt</a:t>
            </a:r>
          </a:p>
        </p:txBody>
      </p:sp>
      <p:sp>
        <p:nvSpPr>
          <p:cNvPr id="7" name="TextBox 6"/>
          <p:cNvSpPr txBox="1"/>
          <p:nvPr/>
        </p:nvSpPr>
        <p:spPr>
          <a:xfrm>
            <a:off x="6400800" y="1280160"/>
            <a:ext cx="5257800" cy="3383280"/>
          </a:xfrm>
          <a:prstGeom prst="rect">
            <a:avLst/>
          </a:prstGeom>
          <a:noFill/>
        </p:spPr>
        <p:txBody>
          <a:bodyPr wrap="square">
            <a:spAutoFit/>
          </a:bodyPr>
          <a:lstStyle/>
          <a:p>
            <a:pPr>
              <a:spcAft>
                <a:spcPts val="1200"/>
              </a:spcAft>
              <a:defRPr sz="2100" b="0">
                <a:solidFill>
                  <a:srgbClr val="17364A"/>
                </a:solidFill>
                <a:latin typeface="Aptos"/>
              </a:defRPr>
            </a:pPr>
            <a:r>
              <a:t>Wetterstation liegt nicht direkt am Halt</a:t>
            </a:r>
          </a:p>
          <a:p>
            <a:pPr>
              <a:spcAft>
                <a:spcPts val="1200"/>
              </a:spcAft>
              <a:defRPr sz="2100" b="0">
                <a:solidFill>
                  <a:srgbClr val="17364A"/>
                </a:solidFill>
                <a:latin typeface="Aptos"/>
              </a:defRPr>
            </a:pPr>
            <a:r>
              <a:t>Unterschiedliche REAL-Abdeckung bei Bahn und Bus</a:t>
            </a:r>
          </a:p>
          <a:p>
            <a:pPr>
              <a:spcAft>
                <a:spcPts val="1200"/>
              </a:spcAft>
              <a:defRPr sz="2100" b="0">
                <a:solidFill>
                  <a:srgbClr val="17364A"/>
                </a:solidFill>
                <a:latin typeface="Aptos"/>
              </a:defRPr>
            </a:pPr>
            <a:r>
              <a:t>Schneedecke und Frostniederschlag sind keine einheitliche Schneefallmessung</a:t>
            </a:r>
          </a:p>
          <a:p>
            <a:pPr>
              <a:spcAft>
                <a:spcPts val="1200"/>
              </a:spcAft>
              <a:defRPr sz="2100" b="0">
                <a:solidFill>
                  <a:srgbClr val="17364A"/>
                </a:solidFill>
                <a:latin typeface="Aptos"/>
              </a:defRPr>
            </a:pPr>
            <a:r>
              <a:t>47 Haltestellen ab ca. 1000 m ohne Station, gerade dort zählt Schnee</a:t>
            </a:r>
          </a:p>
        </p:txBody>
      </p:sp>
      <p:sp>
        <p:nvSpPr>
          <p:cNvPr id="8" name="TextBox 7"/>
          <p:cNvSpPr txBox="1"/>
          <p:nvPr/>
        </p:nvSpPr>
        <p:spPr>
          <a:xfrm>
            <a:off x="502920" y="5303520"/>
            <a:ext cx="10972800" cy="822960"/>
          </a:xfrm>
          <a:prstGeom prst="rect">
            <a:avLst/>
          </a:prstGeom>
          <a:noFill/>
        </p:spPr>
        <p:txBody>
          <a:bodyPr wrap="square">
            <a:spAutoFit/>
          </a:bodyPr>
          <a:lstStyle/>
          <a:p>
            <a:pPr>
              <a:spcAft>
                <a:spcPts val="1200"/>
              </a:spcAft>
              <a:defRPr sz="2300" b="1">
                <a:solidFill>
                  <a:srgbClr val="167D8D"/>
                </a:solidFill>
                <a:latin typeface="Aptos"/>
              </a:defRPr>
            </a:pPr>
            <a:r>
              <a:t>Für Teil 2 vorbereitet: bereinigte Halte + Stundenaggregation</a:t>
            </a:r>
          </a:p>
          <a:p>
            <a:pPr>
              <a:spcAft>
                <a:spcPts val="1200"/>
              </a:spcAft>
              <a:defRPr sz="2300" b="1">
                <a:solidFill>
                  <a:srgbClr val="167D8D"/>
                </a:solidFill>
                <a:latin typeface="Aptos"/>
              </a:defRPr>
            </a:pPr>
            <a:r>
              <a:t>Nachvollziehbar in ausgeführten Notebooks und DuckDB/Parquet.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a:solidFill>
                  <a:srgbClr val="17364A"/>
                </a:solidFill>
                <a:latin typeface="Aptos"/>
              </a:defRPr>
            </a:pPr>
            <a:r>
              <a:t>Quellen (Anhang)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a:solidFill>
                  <a:srgbClr val="53616B"/>
                </a:solidFill>
                <a:latin typeface="Aptos"/>
              </a:defRPr>
            </a:pPr>
            <a:r>
              <a:t>Gruppe 4 · Enis · Paket C · 27.10.2026 | Quellen: MeteoSchweiz (2026), SBB/SKI (2026), swisstopo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a:solidFill>
                  <a:srgbClr val="53616B"/>
                </a:solidFill>
                <a:latin typeface="Aptos"/>
              </a:defRPr>
            </a:pPr>
            <a:r>
              <a:t>6</a:t>
            </a:r>
          </a:p>
        </p:txBody>
      </p:sp>
      <p:sp>
        <p:nvSpPr>
          <p:cNvPr id="6" name="TextBox 5"/>
          <p:cNvSpPr txBox="1"/>
          <p:nvPr/>
        </p:nvSpPr>
        <p:spPr>
          <a:xfrm>
            <a:off x="502920" y="1234440"/>
            <a:ext cx="11155680" cy="1005840"/>
          </a:xfrm>
          <a:prstGeom prst="rect">
            <a:avLst/>
          </a:prstGeom>
          <a:noFill/>
        </p:spPr>
        <p:txBody>
          <a:bodyPr wrap="square">
            <a:spAutoFit/>
          </a:bodyPr>
          <a:lstStyle/>
          <a:p>
            <a:pPr>
              <a:spcAft>
                <a:spcPts val="1200"/>
              </a:spcAft>
              <a:defRPr sz="1600" b="0">
                <a:solidFill>
                  <a:srgbClr val="17364A"/>
                </a:solidFill>
                <a:latin typeface="Aptos"/>
              </a:defRPr>
            </a:pPr>
            <a:r>
              <a:t>Bundesamt für Meteorologie und Klimatologie MeteoSchweiz. (2026). Automatische Wetterstationen: Messwerte [Datensatz]. Quelle: MeteoSchweiz.</a:t>
            </a:r>
          </a:p>
          <a:p>
            <a:pPr>
              <a:spcAft>
                <a:spcPts val="1200"/>
              </a:spcAft>
              <a:defRPr sz="1600" b="0">
                <a:solidFill>
                  <a:srgbClr val="17364A"/>
                </a:solidFill>
                <a:latin typeface="Aptos"/>
              </a:defRPr>
            </a:pPr>
            <a:r>
              <a:rPr>
                <a:hlinkClick r:id="rId3"/>
              </a:rPr>
              <a:t>https://data.geo.admin.ch/api/stac/v1/collections/ch.meteoschweiz.ogd-smn</a:t>
            </a:r>
          </a:p>
        </p:txBody>
      </p:sp>
      <p:sp>
        <p:nvSpPr>
          <p:cNvPr id="7" name="TextBox 6"/>
          <p:cNvSpPr txBox="1"/>
          <p:nvPr/>
        </p:nvSpPr>
        <p:spPr>
          <a:xfrm>
            <a:off x="502920" y="2404872"/>
            <a:ext cx="11155680" cy="1005840"/>
          </a:xfrm>
          <a:prstGeom prst="rect">
            <a:avLst/>
          </a:prstGeom>
          <a:noFill/>
        </p:spPr>
        <p:txBody>
          <a:bodyPr wrap="square">
            <a:spAutoFit/>
          </a:bodyPr>
          <a:lstStyle/>
          <a:p>
            <a:pPr>
              <a:spcAft>
                <a:spcPts val="1200"/>
              </a:spcAft>
              <a:defRPr sz="1600" b="0">
                <a:solidFill>
                  <a:srgbClr val="17364A"/>
                </a:solidFill>
                <a:latin typeface="Aptos"/>
              </a:defRPr>
            </a:pPr>
            <a:r>
              <a:t>SBB AG, Geschäftsstelle Systemaufgaben Kundeninformation. (2026). Ist-Daten v2 [Datensatz]. Open-Data-Plattform Mobilität Schweiz.</a:t>
            </a:r>
          </a:p>
          <a:p>
            <a:pPr>
              <a:spcAft>
                <a:spcPts val="1200"/>
              </a:spcAft>
              <a:defRPr sz="1600" b="0">
                <a:solidFill>
                  <a:srgbClr val="17364A"/>
                </a:solidFill>
                <a:latin typeface="Aptos"/>
              </a:defRPr>
            </a:pPr>
            <a:r>
              <a:rPr>
                <a:hlinkClick r:id="rId4"/>
              </a:rPr>
              <a:t>https://archive.opentransportdata.swiss/actual_data_archive.htm</a:t>
            </a:r>
          </a:p>
        </p:txBody>
      </p:sp>
      <p:sp>
        <p:nvSpPr>
          <p:cNvPr id="8" name="TextBox 7"/>
          <p:cNvSpPr txBox="1"/>
          <p:nvPr/>
        </p:nvSpPr>
        <p:spPr>
          <a:xfrm>
            <a:off x="502920" y="3575304"/>
            <a:ext cx="11155680" cy="1005840"/>
          </a:xfrm>
          <a:prstGeom prst="rect">
            <a:avLst/>
          </a:prstGeom>
          <a:noFill/>
        </p:spPr>
        <p:txBody>
          <a:bodyPr wrap="square">
            <a:spAutoFit/>
          </a:bodyPr>
          <a:lstStyle/>
          <a:p>
            <a:pPr>
              <a:spcAft>
                <a:spcPts val="1200"/>
              </a:spcAft>
              <a:defRPr sz="1600" b="0">
                <a:solidFill>
                  <a:srgbClr val="17364A"/>
                </a:solidFill>
                <a:latin typeface="Aptos"/>
              </a:defRPr>
            </a:pPr>
            <a:r>
              <a:t>Bundesamt für Landestopografie swisstopo. (2026). Height: GeoAdmin API [Höhendienst].</a:t>
            </a:r>
          </a:p>
          <a:p>
            <a:pPr>
              <a:spcAft>
                <a:spcPts val="1200"/>
              </a:spcAft>
              <a:defRPr sz="1600" b="0">
                <a:solidFill>
                  <a:srgbClr val="17364A"/>
                </a:solidFill>
                <a:latin typeface="Aptos"/>
              </a:defRPr>
            </a:pPr>
            <a:r>
              <a:rPr>
                <a:hlinkClick r:id="rId5"/>
              </a:rPr>
              <a:t>https://api3.geo.admin.ch/services/sdiservices.html#height</a:t>
            </a:r>
          </a:p>
        </p:txBody>
      </p:sp>
      <p:sp>
        <p:nvSpPr>
          <p:cNvPr id="9" name="TextBox 8"/>
          <p:cNvSpPr txBox="1"/>
          <p:nvPr/>
        </p:nvSpPr>
        <p:spPr>
          <a:xfrm>
            <a:off x="502920" y="4745736"/>
            <a:ext cx="11155680" cy="1005840"/>
          </a:xfrm>
          <a:prstGeom prst="rect">
            <a:avLst/>
          </a:prstGeom>
          <a:noFill/>
        </p:spPr>
        <p:txBody>
          <a:bodyPr wrap="square">
            <a:spAutoFit/>
          </a:bodyPr>
          <a:lstStyle/>
          <a:p>
            <a:pPr>
              <a:spcAft>
                <a:spcPts val="1200"/>
              </a:spcAft>
              <a:defRPr sz="1600" b="0">
                <a:solidFill>
                  <a:srgbClr val="17364A"/>
                </a:solidFill>
                <a:latin typeface="Aptos"/>
              </a:defRPr>
            </a:pPr>
            <a:r>
              <a:t>The SciPy community. (2026). scipy.stats.mannwhitneyu. Seabold, S., &amp; Perktold, J. (2010). Statsmodels: Econometric and statistical modeling with Python. Proceedings of the 9th Python in Science Conference.</a:t>
            </a:r>
          </a:p>
          <a:p>
            <a:pPr>
              <a:spcAft>
                <a:spcPts val="1200"/>
              </a:spcAft>
              <a:defRPr sz="1600" b="0">
                <a:solidFill>
                  <a:srgbClr val="17364A"/>
                </a:solidFill>
                <a:latin typeface="Aptos"/>
              </a:defRPr>
            </a:pPr>
            <a:r>
              <a:rPr>
                <a:hlinkClick r:id="rId6"/>
              </a:rPr>
              <a:t>https://www.statsmodels.org/stable/regression.html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ÖV und Wetter: Paket C</dc:title>
  <dc:subject>Wetterdaten, Bereinigung, Join und Hypothesen H1–H3</dc:subject>
  <dc:creator>Enis · Gruppe 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