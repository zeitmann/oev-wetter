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nicht gestützt.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data.geo.admin.ch/api/stac/v1/collections/ch.meteoschweiz.ogd-smn" TargetMode="External"/><Relationship Id="rId4" Type="http://schemas.openxmlformats.org/officeDocument/2006/relationships/hyperlink" Target="https://archive.opentransportdata.swiss/actual_data_archive.htm" TargetMode="External"/><Relationship Id="rId5" Type="http://schemas.openxmlformats.org/officeDocument/2006/relationships/hyperlink" Target="https://api3.geo.admin.ch/services/sdiservices.html#height" TargetMode="External"/><Relationship Id="rId6" Type="http://schemas.openxmlformats.org/officeDocument/2006/relationships/hyperlink" Target="https://www.statsmodels.org/stable/regression.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3"/>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3</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3"/>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2000" b="0">
                <a:solidFill>
                  <a:srgbClr val="17364A"/>
                </a:solidFill>
                <a:latin typeface="Aptos"/>
              </a:defRPr>
            </a:pPr>
            <a:r>
              <a:t>Stark: &gt; 1.7 mm/h</a:t>
            </a:r>
          </a:p>
          <a:p>
            <a:pPr>
              <a:spcAft>
                <a:spcPts val="1200"/>
              </a:spcAft>
              <a:defRPr sz="2000" b="0">
                <a:solidFill>
                  <a:srgbClr val="17364A"/>
                </a:solidFill>
                <a:latin typeface="Aptos"/>
              </a:defRPr>
            </a:pPr>
            <a:r>
              <a:t>Kleiner Effekt: r = 0,070</a:t>
            </a:r>
          </a:p>
          <a:p>
            <a:pPr>
              <a:spcAft>
                <a:spcPts val="1200"/>
              </a:spcAft>
              <a:defRPr sz="2000" b="0">
                <a:solidFill>
                  <a:srgbClr val="17364A"/>
                </a:solidFill>
                <a:latin typeface="Aptos"/>
              </a:defRPr>
            </a:pPr>
            <a:r>
              <a:t>p &lt; 0,001</a:t>
            </a:r>
          </a:p>
          <a:p>
            <a:pPr>
              <a:spcAft>
                <a:spcPts val="1200"/>
              </a:spcAft>
              <a:defRPr sz="2000" b="0">
                <a:solidFill>
                  <a:srgbClr val="17364A"/>
                </a:solidFill>
                <a:latin typeface="Aptos"/>
              </a:defRPr>
            </a:pPr>
            <a:r>
              <a:t>H2 nicht gestützt:</a:t>
            </a:r>
          </a:p>
          <a:p>
            <a:pPr>
              <a:spcAft>
                <a:spcPts val="1200"/>
              </a:spcAft>
              <a:defRPr sz="2000" b="0">
                <a:solidFill>
                  <a:srgbClr val="17364A"/>
                </a:solidFill>
                <a:latin typeface="Aptos"/>
              </a:defRPr>
            </a:pPr>
            <a:r>
              <a:t>Fast gleicher Wettereffekt bei Bus und Bahn</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H1-Test: stark gegen sonst. Grafik: trocken / mässig / stark.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4</a:t>
            </a:r>
          </a:p>
        </p:txBody>
      </p:sp>
      <p:pic>
        <p:nvPicPr>
          <p:cNvPr id="6" name="Picture 5" descr="wetter_hvz.png"/>
          <p:cNvPicPr>
            <a:picLocks noChangeAspect="1"/>
          </p:cNvPicPr>
          <p:nvPr/>
        </p:nvPicPr>
        <p:blipFill>
          <a:blip r:embed="rId3"/>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5</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400" b="0">
                <a:solidFill>
                  <a:srgbClr val="17364A"/>
                </a:solidFill>
                <a:latin typeface="Aptos"/>
              </a:defRPr>
            </a:pPr>
            <a:r>
              <a:t>Beobachteter Zusammenhang, keine Kausalität</a:t>
            </a:r>
          </a:p>
          <a:p>
            <a:pPr>
              <a:spcAft>
                <a:spcPts val="1200"/>
              </a:spcAft>
              <a:defRPr sz="2400" b="0">
                <a:solidFill>
                  <a:srgbClr val="17364A"/>
                </a:solidFill>
                <a:latin typeface="Aptos"/>
              </a:defRPr>
            </a:pPr>
            <a:r>
              <a:t>Nur ein Winterquartal; weitere Ursachen fehlen</a:t>
            </a:r>
          </a:p>
          <a:p>
            <a:pPr>
              <a:spcAft>
                <a:spcPts val="1200"/>
              </a:spcAft>
              <a:defRPr sz="2400" b="0">
                <a:solidFill>
                  <a:srgbClr val="17364A"/>
                </a:solidFill>
                <a:latin typeface="Aptos"/>
              </a:defRPr>
            </a:pPr>
            <a:r>
              <a:t>Halte derselben Fahrt sind nicht unabhängig</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400" b="0">
                <a:solidFill>
                  <a:srgbClr val="17364A"/>
                </a:solidFill>
                <a:latin typeface="Aptos"/>
              </a:defRPr>
            </a:pPr>
            <a:r>
              <a:t>Wetterstation liegt nicht direkt am Halt</a:t>
            </a:r>
          </a:p>
          <a:p>
            <a:pPr>
              <a:spcAft>
                <a:spcPts val="1200"/>
              </a:spcAft>
              <a:defRPr sz="2400" b="0">
                <a:solidFill>
                  <a:srgbClr val="17364A"/>
                </a:solidFill>
                <a:latin typeface="Aptos"/>
              </a:defRPr>
            </a:pPr>
            <a:r>
              <a:t>Unterschiedliche REAL-Abdeckung bei Bahn und Bus</a:t>
            </a:r>
          </a:p>
          <a:p>
            <a:pPr>
              <a:spcAft>
                <a:spcPts val="1200"/>
              </a:spcAft>
              <a:defRPr sz="2400" b="0">
                <a:solidFill>
                  <a:srgbClr val="17364A"/>
                </a:solidFill>
                <a:latin typeface="Aptos"/>
              </a:defRPr>
            </a:pPr>
            <a:r>
              <a:t>Schneedecke und Frostniederschlag sind keine einheitliche Schneefallmessung</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26.10.2026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6</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3"/>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4"/>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5"/>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6"/>
              </a:rPr>
              <a:t>https://www.statsmodels.org/stable/regression.html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C</dc:title>
  <dc:subject>Wetterdaten, Bereinigung, Join und Hypothesen H1–H3</dc:subject>
  <dc:creator>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