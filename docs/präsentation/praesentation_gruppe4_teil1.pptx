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nicht gestützt.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oder Schnee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2000" b="0">
                <a:solidFill>
                  <a:srgbClr val="17364A"/>
                </a:solidFill>
                <a:latin typeface="Aptos"/>
              </a:defRPr>
            </a:pPr>
            <a:r>
              <a:t>Stark: &gt; 1.7 mm/h</a:t>
            </a:r>
          </a:p>
          <a:p>
            <a:pPr>
              <a:spcAft>
                <a:spcPts val="1200"/>
              </a:spcAft>
              <a:defRPr sz="2000" b="0">
                <a:solidFill>
                  <a:srgbClr val="17364A"/>
                </a:solidFill>
                <a:latin typeface="Aptos"/>
              </a:defRPr>
            </a:pPr>
            <a:r>
              <a:t>Kleiner Effekt: r = 0,070</a:t>
            </a:r>
          </a:p>
          <a:p>
            <a:pPr>
              <a:spcAft>
                <a:spcPts val="1200"/>
              </a:spcAft>
              <a:defRPr sz="2000" b="0">
                <a:solidFill>
                  <a:srgbClr val="17364A"/>
                </a:solidFill>
                <a:latin typeface="Aptos"/>
              </a:defRPr>
            </a:pPr>
            <a:r>
              <a:t>p &lt; 0,001</a:t>
            </a:r>
          </a:p>
          <a:p>
            <a:pPr>
              <a:spcAft>
                <a:spcPts val="1200"/>
              </a:spcAft>
              <a:defRPr sz="2000" b="0">
                <a:solidFill>
                  <a:srgbClr val="17364A"/>
                </a:solidFill>
                <a:latin typeface="Aptos"/>
              </a:defRPr>
            </a:pPr>
            <a:r>
              <a:t>H2 nicht gestützt:</a:t>
            </a:r>
          </a:p>
          <a:p>
            <a:pPr>
              <a:spcAft>
                <a:spcPts val="1200"/>
              </a:spcAft>
              <a:defRPr sz="2000" b="0">
                <a:solidFill>
                  <a:srgbClr val="17364A"/>
                </a:solidFill>
                <a:latin typeface="Aptos"/>
              </a:defRPr>
            </a:pPr>
            <a:r>
              <a:t>Fast gleicher Wettereffekt bei Bus und Bahn</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H1-Test: stark gegen sonst. Grafik: trocken / mässig / stark.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400" b="0">
                <a:solidFill>
                  <a:srgbClr val="17364A"/>
                </a:solidFill>
                <a:latin typeface="Aptos"/>
              </a:defRPr>
            </a:pPr>
            <a:r>
              <a:t>Beobachteter Zusammenhang, keine Kausalität</a:t>
            </a:r>
          </a:p>
          <a:p>
            <a:pPr>
              <a:spcAft>
                <a:spcPts val="1200"/>
              </a:spcAft>
              <a:defRPr sz="2400" b="0">
                <a:solidFill>
                  <a:srgbClr val="17364A"/>
                </a:solidFill>
                <a:latin typeface="Aptos"/>
              </a:defRPr>
            </a:pPr>
            <a:r>
              <a:t>Nur ein Winterquartal; weitere Ursachen fehlen</a:t>
            </a:r>
          </a:p>
          <a:p>
            <a:pPr>
              <a:spcAft>
                <a:spcPts val="1200"/>
              </a:spcAft>
              <a:defRPr sz="2400" b="0">
                <a:solidFill>
                  <a:srgbClr val="17364A"/>
                </a:solidFill>
                <a:latin typeface="Aptos"/>
              </a:defRPr>
            </a:pPr>
            <a:r>
              <a:t>Halte derselben Fahrt sind nicht unabhängig</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400" b="0">
                <a:solidFill>
                  <a:srgbClr val="17364A"/>
                </a:solidFill>
                <a:latin typeface="Aptos"/>
              </a:defRPr>
            </a:pPr>
            <a:r>
              <a:t>Wetterstation liegt nicht direkt am Halt</a:t>
            </a:r>
          </a:p>
          <a:p>
            <a:pPr>
              <a:spcAft>
                <a:spcPts val="1200"/>
              </a:spcAft>
              <a:defRPr sz="2400" b="0">
                <a:solidFill>
                  <a:srgbClr val="17364A"/>
                </a:solidFill>
                <a:latin typeface="Aptos"/>
              </a:defRPr>
            </a:pPr>
            <a:r>
              <a:t>Unterschiedliche REAL-Abdeckung bei Bahn und Bus</a:t>
            </a:r>
          </a:p>
          <a:p>
            <a:pPr>
              <a:spcAft>
                <a:spcPts val="1200"/>
              </a:spcAft>
              <a:defRPr sz="2400" b="0">
                <a:solidFill>
                  <a:srgbClr val="17364A"/>
                </a:solidFill>
                <a:latin typeface="Aptos"/>
              </a:defRPr>
            </a:pPr>
            <a:r>
              <a:t>Schneedecke und Frostniederschlag sind keine einheitliche Schneefallmessung</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21</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22</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Schätzungen oder Halte mit leerem oder unbekanntem Status (z. B. ohne Ankunft am Startort).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