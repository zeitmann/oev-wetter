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Danach stellen wir die drei Teile der Reihe nach vor.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absolut nicht gestützt. Relativ ist es eher umgekehrt: Der Anteil verspäteter Halte steigt bei der Bahn von 5,5 auf 8,0 % (+45 %), beim Bus von 13,4 auf 16,5 % (+23 %), und r ist bei der Bahn grösser (0,103 statt 0,063). Die Mittelwerte steigen abgestuft von trocken über mässig zu stark, das stützt H1 zusätzlich.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 Relativ: Anteil verspäteter Halte HVZ 19,2 → 22,9 % (+20 %), NVZ 9,5 → 13,1 % (+38 %).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47 Haltestellen ohne geeignete Station liegen alle auf rund 1000 m oder höher, also dort, wo Schnee am wichtigsten wäre. Ausgefallene Fahrten können wetterbedingt sein; weil sie ausgeschlossen sind, wird der Effekt eher unterschätzt (Ausfallquote nach Wetter für Teil 2).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 Id="rId8"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 Id="rId7"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titel.png"/>
          <p:cNvPicPr>
            <a:picLocks noChangeAspect="1"/>
          </p:cNvPicPr>
          <p:nvPr/>
        </p:nvPicPr>
        <p:blipFill>
          <a:blip r:embed="rId3"/>
          <a:stretch>
            <a:fillRect/>
          </a:stretch>
        </p:blipFill>
        <p:spPr>
          <a:xfrm>
            <a:off x="0" y="0"/>
            <a:ext cx="12191695" cy="6858000"/>
          </a:xfrm>
          <a:prstGeom prst="rect">
            <a:avLst/>
          </a:prstGeom>
        </p:spPr>
      </p:pic>
      <p:sp>
        <p:nvSpPr>
          <p:cNvPr id="5" name="TextBox 4"/>
          <p:cNvSpPr txBox="1"/>
          <p:nvPr/>
        </p:nvSpPr>
        <p:spPr>
          <a:xfrm>
            <a:off x="502920" y="1188720"/>
            <a:ext cx="6583680" cy="457200"/>
          </a:xfrm>
          <a:prstGeom prst="rect">
            <a:avLst/>
          </a:prstGeom>
          <a:noFill/>
        </p:spPr>
        <p:txBody>
          <a:bodyPr wrap="square">
            <a:spAutoFit/>
          </a:bodyPr>
          <a:lstStyle/>
          <a:p>
            <a:pPr>
              <a:spcAft>
                <a:spcPts val="1200"/>
              </a:spcAft>
              <a:defRPr sz="1800" b="1" i="0">
                <a:solidFill>
                  <a:srgbClr val="167D8D"/>
                </a:solidFill>
                <a:latin typeface="Aptos"/>
              </a:defRPr>
            </a:pPr>
            <a:r>
              <a:t>PROJEKTARBEIT TEIL 1 · DATA ENGINEERING HS26</a:t>
            </a:r>
          </a:p>
        </p:txBody>
      </p:sp>
      <p:sp>
        <p:nvSpPr>
          <p:cNvPr id="6" name="TextBox 5"/>
          <p:cNvSpPr txBox="1"/>
          <p:nvPr/>
        </p:nvSpPr>
        <p:spPr>
          <a:xfrm>
            <a:off x="502920" y="1691640"/>
            <a:ext cx="6949440" cy="2194560"/>
          </a:xfrm>
          <a:prstGeom prst="rect">
            <a:avLst/>
          </a:prstGeom>
          <a:noFill/>
        </p:spPr>
        <p:txBody>
          <a:bodyPr wrap="square">
            <a:spAutoFit/>
          </a:bodyPr>
          <a:lstStyle/>
          <a:p>
            <a:pPr>
              <a:spcAft>
                <a:spcPts val="0"/>
              </a:spcAft>
              <a:defRPr sz="4000" b="1" i="0">
                <a:solidFill>
                  <a:srgbClr val="17364A"/>
                </a:solidFill>
                <a:latin typeface="Aptos"/>
              </a:defRPr>
            </a:pPr>
            <a:r>
              <a:t>Beeinflusst das Wetter die Pünktlichkeit des öV?</a:t>
            </a:r>
          </a:p>
        </p:txBody>
      </p:sp>
      <p:sp>
        <p:nvSpPr>
          <p:cNvPr id="7" name="TextBox 6"/>
          <p:cNvSpPr txBox="1"/>
          <p:nvPr/>
        </p:nvSpPr>
        <p:spPr>
          <a:xfrm>
            <a:off x="502920" y="3429000"/>
            <a:ext cx="7772400" cy="548640"/>
          </a:xfrm>
          <a:prstGeom prst="rect">
            <a:avLst/>
          </a:prstGeom>
          <a:noFill/>
        </p:spPr>
        <p:txBody>
          <a:bodyPr wrap="square">
            <a:spAutoFit/>
          </a:bodyPr>
          <a:lstStyle/>
          <a:p>
            <a:pPr>
              <a:spcAft>
                <a:spcPts val="1200"/>
              </a:spcAft>
              <a:defRPr sz="2400" b="1" i="0">
                <a:solidFill>
                  <a:srgbClr val="167D8D"/>
                </a:solidFill>
                <a:latin typeface="Aptos"/>
              </a:defRPr>
            </a:pPr>
            <a:r>
              <a:t>Bahn und Bus in der Ostschweiz, Winter 2026</a:t>
            </a:r>
          </a:p>
        </p:txBody>
      </p:sp>
      <p:sp>
        <p:nvSpPr>
          <p:cNvPr id="8" name="TextBox 7"/>
          <p:cNvSpPr txBox="1"/>
          <p:nvPr/>
        </p:nvSpPr>
        <p:spPr>
          <a:xfrm>
            <a:off x="502920" y="4114800"/>
            <a:ext cx="7772400" cy="457200"/>
          </a:xfrm>
          <a:prstGeom prst="rect">
            <a:avLst/>
          </a:prstGeom>
          <a:noFill/>
        </p:spPr>
        <p:txBody>
          <a:bodyPr wrap="square">
            <a:spAutoFit/>
          </a:bodyPr>
          <a:lstStyle/>
          <a:p>
            <a:pPr>
              <a:spcAft>
                <a:spcPts val="1200"/>
              </a:spcAft>
              <a:defRPr sz="2000" b="0" i="0">
                <a:solidFill>
                  <a:srgbClr val="17364A"/>
                </a:solidFill>
                <a:latin typeface="Aptos"/>
              </a:defRPr>
            </a:pPr>
            <a:r>
              <a:t>Gruppe 4: Farizi Enis, Kermo Aladin, Wallroth Timon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9" name="Picture 1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Aufbau des Referats</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Datenbeschaffung und Speicherung</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9" name="Picture 2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2" name="Picture 31"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9" name="Picture 1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2" name="Picture 31"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1" name="Picture 10"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0" name="Picture 9"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1800" b="0">
                <a:solidFill>
                  <a:srgbClr val="17364A"/>
                </a:solidFill>
                <a:latin typeface="Aptos"/>
              </a:defRPr>
            </a:pPr>
            <a:r>
              <a:t>Stark: &gt; 1,7 mm/h</a:t>
            </a:r>
          </a:p>
          <a:p>
            <a:pPr>
              <a:spcAft>
                <a:spcPts val="1200"/>
              </a:spcAft>
              <a:defRPr sz="1800" b="0">
                <a:solidFill>
                  <a:srgbClr val="17364A"/>
                </a:solidFill>
                <a:latin typeface="Aptos"/>
              </a:defRPr>
            </a:pPr>
            <a:r>
              <a:t>Kleiner Effekt: r = 0,070</a:t>
            </a:r>
          </a:p>
          <a:p>
            <a:pPr>
              <a:spcAft>
                <a:spcPts val="1200"/>
              </a:spcAft>
              <a:defRPr sz="1800" b="0">
                <a:solidFill>
                  <a:srgbClr val="17364A"/>
                </a:solidFill>
                <a:latin typeface="Aptos"/>
              </a:defRPr>
            </a:pPr>
            <a:r>
              <a:t>p &lt; 0,001</a:t>
            </a:r>
          </a:p>
          <a:p>
            <a:pPr>
              <a:spcAft>
                <a:spcPts val="1200"/>
              </a:spcAft>
              <a:defRPr sz="1800" b="0">
                <a:solidFill>
                  <a:srgbClr val="17364A"/>
                </a:solidFill>
                <a:latin typeface="Aptos"/>
              </a:defRPr>
            </a:pPr>
            <a:r>
              <a:t>H2 nicht gestützt: absolut gleicher Effekt (+0,21 Min.), relativ bei der Bahn eher stärker</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Abgestuft trocken → mässig → stark: Bus 1,45 → 1,61 → 1,69 Min. · Bahn 0,83 → 1,04 → 1,07 Min. (H1-Test: stark gegen sonst)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100" b="0">
                <a:solidFill>
                  <a:srgbClr val="17364A"/>
                </a:solidFill>
                <a:latin typeface="Aptos"/>
              </a:defRPr>
            </a:pPr>
            <a:r>
              <a:t>Beobachteter Zusammenhang, keine Kausalität</a:t>
            </a:r>
          </a:p>
          <a:p>
            <a:pPr>
              <a:spcAft>
                <a:spcPts val="1200"/>
              </a:spcAft>
              <a:defRPr sz="2100" b="0">
                <a:solidFill>
                  <a:srgbClr val="17364A"/>
                </a:solidFill>
                <a:latin typeface="Aptos"/>
              </a:defRPr>
            </a:pPr>
            <a:r>
              <a:t>Nur ein Winterquartal; weitere Ursachen fehlen</a:t>
            </a:r>
          </a:p>
          <a:p>
            <a:pPr>
              <a:spcAft>
                <a:spcPts val="1200"/>
              </a:spcAft>
              <a:defRPr sz="2100" b="0">
                <a:solidFill>
                  <a:srgbClr val="17364A"/>
                </a:solidFill>
                <a:latin typeface="Aptos"/>
              </a:defRPr>
            </a:pPr>
            <a:r>
              <a:t>Halte derselben Fahrt sind nicht unabhängig</a:t>
            </a:r>
          </a:p>
          <a:p>
            <a:pPr>
              <a:spcAft>
                <a:spcPts val="1200"/>
              </a:spcAft>
              <a:defRPr sz="2100" b="0">
                <a:solidFill>
                  <a:srgbClr val="17364A"/>
                </a:solidFill>
                <a:latin typeface="Aptos"/>
              </a:defRPr>
            </a:pPr>
            <a:r>
              <a:t>Ausfälle ausgeschlossen: Effekt eher unterschätzt</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100" b="0">
                <a:solidFill>
                  <a:srgbClr val="17364A"/>
                </a:solidFill>
                <a:latin typeface="Aptos"/>
              </a:defRPr>
            </a:pPr>
            <a:r>
              <a:t>Wetterstation liegt nicht direkt am Halt</a:t>
            </a:r>
          </a:p>
          <a:p>
            <a:pPr>
              <a:spcAft>
                <a:spcPts val="1200"/>
              </a:spcAft>
              <a:defRPr sz="2100" b="0">
                <a:solidFill>
                  <a:srgbClr val="17364A"/>
                </a:solidFill>
                <a:latin typeface="Aptos"/>
              </a:defRPr>
            </a:pPr>
            <a:r>
              <a:t>Unterschiedliche REAL-Abdeckung bei Bahn und Bus</a:t>
            </a:r>
          </a:p>
          <a:p>
            <a:pPr>
              <a:spcAft>
                <a:spcPts val="1200"/>
              </a:spcAft>
              <a:defRPr sz="2100" b="0">
                <a:solidFill>
                  <a:srgbClr val="17364A"/>
                </a:solidFill>
                <a:latin typeface="Aptos"/>
              </a:defRPr>
            </a:pPr>
            <a:r>
              <a:t>Schneedecke und Frostniederschlag sind keine einheitliche Schneefallmessung</a:t>
            </a:r>
          </a:p>
          <a:p>
            <a:pPr>
              <a:spcAft>
                <a:spcPts val="1200"/>
              </a:spcAft>
              <a:defRPr sz="2100" b="0">
                <a:solidFill>
                  <a:srgbClr val="17364A"/>
                </a:solidFill>
                <a:latin typeface="Aptos"/>
              </a:defRPr>
            </a:pPr>
            <a:r>
              <a:t>47 Haltestellen ab ca. 1000 m ohne Station, gerade dort zählt Schnee</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6" name="Picture 15"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Fragen und Diskussion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hintergrund_inhalt.png"/>
          <p:cNvPicPr>
            <a:picLocks noChangeAspect="1"/>
          </p:cNvPicPr>
          <p:nvPr/>
        </p:nvPicPr>
        <p:blipFill>
          <a:blip r:embed="rId8"/>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0" name="Picture 9" descr="hintergrund_inhalt.png"/>
          <p:cNvPicPr>
            <a:picLocks noChangeAspect="1"/>
          </p:cNvPicPr>
          <p:nvPr/>
        </p:nvPicPr>
        <p:blipFill>
          <a:blip r:embed="rId7"/>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