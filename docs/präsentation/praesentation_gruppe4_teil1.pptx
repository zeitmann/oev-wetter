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Begrüssung, Thema in einem Satz: Wir untersuchen, ob und wie stark Niederschlag, Schnee und Frost die Pünktlichkeit von Bahn und Bus in der Ostschweiz beeinflussen. Danach stellen wir die drei Teile der Reihe nach vor.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30 Sekunden. Kurz den Ablauf nennen: Jede Person präsentiert einen eigenständigen Teil. Danach Diskussion im Plenum.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45 Sekunden. Warum ist das Thema relevant? Drei Nutzergruppen nennen. Die Ostschweiz mischt Flachland, Voralpen und Hügelland, deshalb ist sie für eine Wetteranalyse interessant. Das Wetter wirkt je nach Verkehrsmittel und Tageszeit vermutlich unterschiedlich.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Forschungsfrage vorlesen, dann die drei Hypothesen. H1 fragt, ob es einen Effekt gibt, H2 und H3 fragen, ob er je nach Verkehrsmittel und Tageszeit unterschiedlich stark ist. Zu H1: Der Test vergleicht starken Niederschlag mit allen übrigen Stunden. Schnee ist keine eigene Hypothese, er wird ergänzend nach demselben Vorgehen ausgewertet (Schneedecke oder Niederschlag bei Frost), weil SwissMetNet keinen einheitlichen Schneefall misst.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Wie messen wir? Verspätungen sind rechtsschief, deshalb rangbasierte Tests statt t-Test. Bei Millionen von Halten wird fast alles signifikant, darum immer auch die Effektstärke. Für H2 und H3 prüfen wir mit einer Wechselwirkung, ob der Effekt je nach Verkehrsmittel oder Tageszeit unterschiedlich ist. Quelle der 3-Minuten-Schwelle: SBB AG (o. J.).</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90 Sekunden. Der Lifecycle nach den Kursfolien (Reis &amp; Housley). Wir besitzen keine Quellsysteme, alle Daten sind offene Daten. Ingestion läuft als Batch, weil historische Archive. Storage ist DuckDB, Begründung im Teil von Aladin. Als Unterströmungen: Security (nur offene Daten, Rohdaten nur mit ZHAW-Konto), Data Management (Quellenprofile, Schema-Absprache), DataOps (idempotente Ingestion, Log), Data Architecture (skalierbar, PostgreSQL als nächste Stufe), Orchestration (manuell, feste Reihenfolge der Skripte), Software Engineering (Python, SQL, Git). Serving: Web-Dashboard in Teil 2. Details in docs/lifecycle.md.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45 Sekunden. Die Ist-Daten enthalten für jeden Halt jeder Fahrt die Fahrplanzeit und die effektive Zeit oder die letzte Prognose. Version 2 gibt es ab Juli 2025, unser Zeitraum ist also vollständig abgedeckt. Die Zeiten sind Lokalzeit ohne Zeitzone, und die Sommerzeitumstellung am 29. März liegt im Zeitraum. Das behandeln wir beim Laden. Details: docs/quellenprofil_istdaten.md.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Das Skript lädt Tag für Tag. Die Datei wird nie ganz in den Speicher geladen: DuckDB liest sie streamend und filtert direkt per SQL. Die gefilterten Rohdaten legen wir unverändert ab, dann wird der Tag in einer Transaktion in der Datenbank ersetzt. Dadurch ist das Skript idempotent: Ein zweiter Lauf überspringt fertige Tage, getestet mit allen 90 Tagen. Downloads landen zuerst in einer Teildatei, Fehler stehen im Log und das Skript endet mit Fehlercode.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Ungefiltert wären es 215 Millionen Zeilen. Wir behalten nur Bahn und Bus an Haltestellen in den vier Kantonen. Die Haltestellenliste haben wir selbst gebaut: Koordinaten aus dem GTFS-Fahrplan, Kanton per Punkt-in-Polygon mit den Kantonsgrenzen von swisstopo. Übrig bleiben 17 Millionen Halte, fast 90 Prozent davon Bus. Beim Laden bereinigen wir nur Technisches (Duplikate, Haltestellennummer, Zeitzone). Inhaltliche Filter macht Paket C, damit nachvollziehbar bleibt, was wegfällt. Wichtig für die Analyse: Bei der Bahn sind knapp 90 Prozent der Ankünfte echt gemessen, beim Bus nur zwei Drittel.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Unsere Fragen sind analytisch: gruppieren und verknüpfen über Millionen Zeilen. Dafür ist eine spaltenorientierte Datenbank wie DuckDB gebaut. Sie liest die grossen CSV-Dateien direkt und streamend und ist eine einzige Datei ohne Server, also kann jedes Gruppenmitglied sie sofort nachbauen. Die Schwäche ist der Mehrbenutzerbetrieb. Falls das Dashboard in Teil 2 viele gleichzeitige Zugriffe braucht, wechseln wir auf PostgreSQL; das Schema ist Standard-SQL. Details: docs/storage_evaluation.md.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50 Sekunden. Die Tabelle halt ist das Herz: ein Eintrag pro Halt einer Fahrt, mit Soll, Ist, Status und Verspätung. Über die 7-stellige Haltestellennummer hängt sie an der Haltestelle. Paket C ordnet jeder Haltestelle die nächste Wetterstation zu, und über Station und Stunde kommen die Messwerte dazu. Das ingest_log protokolliert jeden Ladelauf. Schema und Spaltennamen haben B und C am Anfang gemeinsam festgelegt (docs/schema_absprache.md); Indizes auf Soll-Zeit und Haltestelle.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45 Sekunden. Die ersten zwei Zeilen haben wir gemessen, die letzte ist hochgerechnet. Für mehr Kantone braucht es nur eine längere Haltestellenliste, Code und Schema bleiben gleich. Bei der ganzen Schweiz könnte man die Daten als Parquet liegen lassen und DuckDB direkt darauf abfragen. Die echte Grenze ist der Mehrbenutzerbetrieb, dafür wäre PostgreSQL die nächste Stufe. Die gefilterten Daten liegen als Parquet (305 MB) auf OneDrive, Link im README. Damit übergebe ich an Enis.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50 Sekunden. Wir übernehmen die Ist-Daten und das Schema von Paket B. MeteoSchweiz wurde gegenüber Open-Meteo gewählt, weil Stationsmessungen zum geplanten Stationsmodell passen. Fertige Stundenwerte statt eigener Aggregation. Die Wetterzeit ist das Intervallende: 10:30 UTC wird 11:00 UTC zugeordnet; genau 10:00 UTC bleibt 10:00 UTC. Beide Quellen werden in UTC verbunden, Tageszeit und Wochentag aus Europe/Zurich abgeleitet.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55 Sekunden. EDA vor Bereinigung nach Verkehrsmittel, Kanton und Tageszeit. Zuerst fehlende Ankünfte, dann nicht gemessene Werte, Ausfälle, Durchfahrten und unplausible Verspätungen ausschliessen. Die Bilanz zählt jeden Halt einmal. Nach Bereinigung bleiben 11.671.172 Halte; 44.243 verlieren wir mangels geeigneter Station. Final 11.626.929. Die REAL-Anteile beziehen sich auf den Ankunftsstatus aller Rohhalte, einschliesslich Halten ohne Soll-Ankunft, nicht auf Bs Abfahrtsquoten.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75 Sekunden. Stark bedeutet strikt mehr als 1,7 mm pro Stunde. Das ist das 90. Perzentil positiver Stationsstunden, vor dem Halt-Join berechnet. Vergleich stark gegen alle übrigen Halte: 1,613 statt 1,393 Minuten. Mann-Whitney-U prüft Verteilungsunterschiede; ergänzend Mittelwertdifferenz. Rang-biserial r=0,070, p&lt;0,001: kleiner Zusammenhang. Die Grafik zeigt drei Wetterklassen, der Test vergleicht stark gegen trocken und mässig zusammen. H2: Bus +0,212 und Bahn +0,214 Minuten. Interaktion −0,0017 Minuten, 95%-KI [−0,0299; 0,0264], p=0,904. H2 wird absolut nicht gestützt. Relativ ist es eher umgekehrt: Der Anteil verspäteter Halte steigt bei der Bahn von 5,5 auf 8,0 % (+45 %), beim Bus von 13,4 auf 16,5 % (+23 %), und r ist bei der Bahn grösser (0,103 statt 0,063). Die Mittelwerte steigen abgestuft von trocken über mässig zu stark, das stützt H1 zusätzlich.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HVZ Montag bis Freitag, 6 bis 9 und 16 bis 19 Uhr lokal, gesetzliche kantonale Feiertage ausgenommen. Während der HVZ ist das allgemeine Verspätungsniveau höher. Das ist aber etwas anderes als die Verstärkung des Wettereffekts: HVZ +0,208 gegenüber NVZ +0,268 Minuten. OLS-Interaktion −0,0603 Minuten, 95%-KI [−0,0816; −0,0389], p&lt;0,001. Die Richtung ist umgekehrt, die Differenz etwa 3,6 Sekunden. Die Regression nutzt alle bereinigten Halte, ohne Stichprobe. Relativ: Anteil verspäteter Halte HVZ 19,2 → 22,9 % (+20 %), NVZ 9,5 → 13,1 % (+38 %).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Insgesamt hängt starker Niederschlag in diesem Winterquartal mit etwas höheren Ankunftsverspätungen zusammen. Kein stärkerer Effekt beim Bus oder in der HVZ. Keine Kausalität: Baustellen, Störungen und Nachfrage sind nicht kontrolliert. Halte derselben Fahrt sind abhängig; klassische p-Werte und Konfidenzintervalle können zu optimistisch sein. Schnee ergänzend nur +0,029 Minuten, r=0,014. Je nach Station wird Schneedecke oder Niederschlag bei Frost beobachtet, kein einheitlicher Schneefall. Die 47 Haltestellen ohne geeignete Station liegen alle auf rund 1000 m oder höher, also dort, wo Schnee am wichtigsten wäre. Ausgefallene Fahrten können wetterbedingt sein; weil sie ausgeschlossen sind, wird der Effekt eher unterschätzt (Ausfallquote nach Wetter für Teil 2). Die bereinigten Halte und eine Stundenaggregation stehen für Teil 2 bereit.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Kurzer Ausblick, ca. 30 Sekunden. Das Ergebnis soll als Web-Dashboard dargestellt werden (Serving-Option A). Danach Überleitung zur Diskussion.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Anhang, nicht Teil der fünf Minuten. Links sind anklickbar.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Anhang, nicht Teil der fünf Minuten. Vollständige Links sind anklickbar.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chive.opentransportdata.swiss/actual_data_archive.htm" TargetMode="External"/><Relationship Id="rId3" Type="http://schemas.openxmlformats.org/officeDocument/2006/relationships/hyperlink" Target="https://archive.opentransportdata.swiss/timetable_gtfs.htm" TargetMode="External"/><Relationship Id="rId4" Type="http://schemas.openxmlformats.org/officeDocument/2006/relationships/hyperlink" Target="https://www.swisstopo.admin.ch" TargetMode="External"/><Relationship Id="rId5" Type="http://schemas.openxmlformats.org/officeDocument/2006/relationships/hyperlink" Target="https://company.sbb.ch/de/unternehmen/verantwortung/kunden/puenktlichkeit.html" TargetMode="External"/><Relationship Id="rId6" Type="http://schemas.openxmlformats.org/officeDocument/2006/relationships/hyperlink" Target="https://duckdb.org/docs/" TargetMode="External"/><Relationship Id="rId7" Type="http://schemas.openxmlformats.org/officeDocument/2006/relationships/notesSlide" Target="../notesSlides/notesSlide19.xml"/><Relationship Id="rId8"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ta.geo.admin.ch/api/stac/v1/collections/ch.meteoschweiz.ogd-smn" TargetMode="External"/><Relationship Id="rId3" Type="http://schemas.openxmlformats.org/officeDocument/2006/relationships/hyperlink" Target="https://archive.opentransportdata.swiss/actual_data_archive.htm" TargetMode="External"/><Relationship Id="rId4" Type="http://schemas.openxmlformats.org/officeDocument/2006/relationships/hyperlink" Target="https://api3.geo.admin.ch/services/sdiservices.html#height" TargetMode="External"/><Relationship Id="rId5" Type="http://schemas.openxmlformats.org/officeDocument/2006/relationships/hyperlink" Target="https://www.statsmodels.org/stable/regression.html" TargetMode="External"/><Relationship Id="rId6" Type="http://schemas.openxmlformats.org/officeDocument/2006/relationships/notesSlide" Target="../notesSlides/notesSlide20.xml"/><Relationship Id="rId7"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9" name="Picture 8" descr="hintergrund_titel.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502920" y="1188720"/>
            <a:ext cx="6583680" cy="457200"/>
          </a:xfrm>
          <a:prstGeom prst="rect">
            <a:avLst/>
          </a:prstGeom>
          <a:noFill/>
        </p:spPr>
        <p:txBody>
          <a:bodyPr wrap="square">
            <a:spAutoFit/>
          </a:bodyPr>
          <a:lstStyle/>
          <a:p>
            <a:pPr>
              <a:spcAft>
                <a:spcPts val="1200"/>
              </a:spcAft>
              <a:defRPr sz="1800" b="1" i="0">
                <a:solidFill>
                  <a:srgbClr val="167D8D"/>
                </a:solidFill>
                <a:latin typeface="Aptos"/>
              </a:defRPr>
            </a:pPr>
            <a:r>
              <a:t>PROJEKTARBEIT TEIL 1 · DATA ENGINEERING HS26</a:t>
            </a:r>
          </a:p>
        </p:txBody>
      </p:sp>
      <p:sp>
        <p:nvSpPr>
          <p:cNvPr id="6" name="TextBox 5"/>
          <p:cNvSpPr txBox="1"/>
          <p:nvPr/>
        </p:nvSpPr>
        <p:spPr>
          <a:xfrm>
            <a:off x="502920" y="1691640"/>
            <a:ext cx="6949440" cy="2194560"/>
          </a:xfrm>
          <a:prstGeom prst="rect">
            <a:avLst/>
          </a:prstGeom>
          <a:noFill/>
        </p:spPr>
        <p:txBody>
          <a:bodyPr wrap="square">
            <a:spAutoFit/>
          </a:bodyPr>
          <a:lstStyle/>
          <a:p>
            <a:pPr>
              <a:spcAft>
                <a:spcPts val="0"/>
              </a:spcAft>
              <a:defRPr sz="4000" b="1" i="0">
                <a:solidFill>
                  <a:srgbClr val="17364A"/>
                </a:solidFill>
                <a:latin typeface="Aptos"/>
              </a:defRPr>
            </a:pPr>
            <a:r>
              <a:t>Beeinflusst das Wetter die Pünktlichkeit des öV?</a:t>
            </a:r>
          </a:p>
        </p:txBody>
      </p:sp>
      <p:sp>
        <p:nvSpPr>
          <p:cNvPr id="7" name="TextBox 6"/>
          <p:cNvSpPr txBox="1"/>
          <p:nvPr/>
        </p:nvSpPr>
        <p:spPr>
          <a:xfrm>
            <a:off x="502920" y="3429000"/>
            <a:ext cx="7772400" cy="548640"/>
          </a:xfrm>
          <a:prstGeom prst="rect">
            <a:avLst/>
          </a:prstGeom>
          <a:noFill/>
        </p:spPr>
        <p:txBody>
          <a:bodyPr wrap="square">
            <a:spAutoFit/>
          </a:bodyPr>
          <a:lstStyle/>
          <a:p>
            <a:pPr>
              <a:spcAft>
                <a:spcPts val="1200"/>
              </a:spcAft>
              <a:defRPr sz="2400" b="1" i="0">
                <a:solidFill>
                  <a:srgbClr val="167D8D"/>
                </a:solidFill>
                <a:latin typeface="Aptos"/>
              </a:defRPr>
            </a:pPr>
            <a:r>
              <a:t>Bahn und Bus in der Ostschweiz, Winter 2026</a:t>
            </a:r>
          </a:p>
        </p:txBody>
      </p:sp>
      <p:sp>
        <p:nvSpPr>
          <p:cNvPr id="8" name="TextBox 7"/>
          <p:cNvSpPr txBox="1"/>
          <p:nvPr/>
        </p:nvSpPr>
        <p:spPr>
          <a:xfrm>
            <a:off x="502920" y="4114800"/>
            <a:ext cx="7772400" cy="457200"/>
          </a:xfrm>
          <a:prstGeom prst="rect">
            <a:avLst/>
          </a:prstGeom>
          <a:noFill/>
        </p:spPr>
        <p:txBody>
          <a:bodyPr wrap="square">
            <a:spAutoFit/>
          </a:bodyPr>
          <a:lstStyle/>
          <a:p>
            <a:pPr>
              <a:spcAft>
                <a:spcPts val="1200"/>
              </a:spcAft>
              <a:defRPr sz="2000" b="0" i="0">
                <a:solidFill>
                  <a:srgbClr val="17364A"/>
                </a:solidFill>
                <a:latin typeface="Aptos"/>
              </a:defRPr>
            </a:pPr>
            <a:r>
              <a:t>Gruppe 4: Enis, Aladin, Timon Wallroth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19" name="Picture 18"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Aufbau des Referats</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2</a:t>
            </a:r>
          </a:p>
        </p:txBody>
      </p:sp>
      <p:sp>
        <p:nvSpPr>
          <p:cNvPr id="6" name="Rounded Rectangle 5"/>
          <p:cNvSpPr/>
          <p:nvPr/>
        </p:nvSpPr>
        <p:spPr>
          <a:xfrm>
            <a:off x="502920" y="1371600"/>
            <a:ext cx="3611880" cy="329184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00200"/>
            <a:ext cx="3200400" cy="457200"/>
          </a:xfrm>
          <a:prstGeom prst="rect">
            <a:avLst/>
          </a:prstGeom>
          <a:noFill/>
        </p:spPr>
        <p:txBody>
          <a:bodyPr wrap="square">
            <a:spAutoFit/>
          </a:bodyPr>
          <a:lstStyle/>
          <a:p>
            <a:pPr>
              <a:spcAft>
                <a:spcPts val="1200"/>
              </a:spcAft>
              <a:defRPr sz="2000" b="1" i="0">
                <a:solidFill>
                  <a:srgbClr val="167D8D"/>
                </a:solidFill>
                <a:latin typeface="Aptos"/>
              </a:defRPr>
            </a:pPr>
            <a:r>
              <a:t>Paket A · Timon</a:t>
            </a:r>
          </a:p>
        </p:txBody>
      </p:sp>
      <p:sp>
        <p:nvSpPr>
          <p:cNvPr id="8" name="TextBox 7"/>
          <p:cNvSpPr txBox="1"/>
          <p:nvPr/>
        </p:nvSpPr>
        <p:spPr>
          <a:xfrm>
            <a:off x="731520" y="2240280"/>
            <a:ext cx="3200400" cy="640080"/>
          </a:xfrm>
          <a:prstGeom prst="rect">
            <a:avLst/>
          </a:prstGeom>
          <a:noFill/>
        </p:spPr>
        <p:txBody>
          <a:bodyPr wrap="square">
            <a:spAutoFit/>
          </a:bodyPr>
          <a:lstStyle/>
          <a:p>
            <a:pPr>
              <a:spcAft>
                <a:spcPts val="1200"/>
              </a:spcAft>
              <a:defRPr sz="2600" b="1" i="0">
                <a:solidFill>
                  <a:srgbClr val="17364A"/>
                </a:solidFill>
                <a:latin typeface="Aptos"/>
              </a:defRPr>
            </a:pPr>
            <a:r>
              <a:t>Konzept und Rahmen</a:t>
            </a:r>
          </a:p>
        </p:txBody>
      </p:sp>
      <p:sp>
        <p:nvSpPr>
          <p:cNvPr id="9" name="TextBox 8"/>
          <p:cNvSpPr txBox="1"/>
          <p:nvPr/>
        </p:nvSpPr>
        <p:spPr>
          <a:xfrm>
            <a:off x="731520" y="3291840"/>
            <a:ext cx="3200400" cy="1280160"/>
          </a:xfrm>
          <a:prstGeom prst="rect">
            <a:avLst/>
          </a:prstGeom>
          <a:noFill/>
        </p:spPr>
        <p:txBody>
          <a:bodyPr wrap="square">
            <a:spAutoFit/>
          </a:bodyPr>
          <a:lstStyle/>
          <a:p>
            <a:pPr>
              <a:spcAft>
                <a:spcPts val="1200"/>
              </a:spcAft>
              <a:defRPr sz="1900" b="0" i="0">
                <a:solidFill>
                  <a:srgbClr val="53616B"/>
                </a:solidFill>
                <a:latin typeface="Aptos"/>
              </a:defRPr>
            </a:pPr>
            <a:r>
              <a:t>Problemstellung, Forschungsfrage, Hypothesen, Methodik, Lifecycle</a:t>
            </a:r>
          </a:p>
        </p:txBody>
      </p:sp>
      <p:sp>
        <p:nvSpPr>
          <p:cNvPr id="10" name="Rounded Rectangle 9"/>
          <p:cNvSpPr/>
          <p:nvPr/>
        </p:nvSpPr>
        <p:spPr>
          <a:xfrm>
            <a:off x="4297680" y="1371600"/>
            <a:ext cx="3611880" cy="329184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600200"/>
            <a:ext cx="3200400" cy="457200"/>
          </a:xfrm>
          <a:prstGeom prst="rect">
            <a:avLst/>
          </a:prstGeom>
          <a:noFill/>
        </p:spPr>
        <p:txBody>
          <a:bodyPr wrap="square">
            <a:spAutoFit/>
          </a:bodyPr>
          <a:lstStyle/>
          <a:p>
            <a:pPr>
              <a:spcAft>
                <a:spcPts val="1200"/>
              </a:spcAft>
              <a:defRPr sz="2000" b="1" i="0">
                <a:solidFill>
                  <a:srgbClr val="167D8D"/>
                </a:solidFill>
                <a:latin typeface="Aptos"/>
              </a:defRPr>
            </a:pPr>
            <a:r>
              <a:t>Paket B · Aladin</a:t>
            </a:r>
          </a:p>
        </p:txBody>
      </p:sp>
      <p:sp>
        <p:nvSpPr>
          <p:cNvPr id="12" name="TextBox 11"/>
          <p:cNvSpPr txBox="1"/>
          <p:nvPr/>
        </p:nvSpPr>
        <p:spPr>
          <a:xfrm>
            <a:off x="4526280" y="2240280"/>
            <a:ext cx="3200400" cy="640080"/>
          </a:xfrm>
          <a:prstGeom prst="rect">
            <a:avLst/>
          </a:prstGeom>
          <a:noFill/>
        </p:spPr>
        <p:txBody>
          <a:bodyPr wrap="square">
            <a:spAutoFit/>
          </a:bodyPr>
          <a:lstStyle/>
          <a:p>
            <a:pPr>
              <a:spcAft>
                <a:spcPts val="1200"/>
              </a:spcAft>
              <a:defRPr sz="2600" b="1" i="0">
                <a:solidFill>
                  <a:srgbClr val="17364A"/>
                </a:solidFill>
                <a:latin typeface="Aptos"/>
              </a:defRPr>
            </a:pPr>
            <a:r>
              <a:t>Datenbeschaffung und Speicherung</a:t>
            </a:r>
          </a:p>
        </p:txBody>
      </p:sp>
      <p:sp>
        <p:nvSpPr>
          <p:cNvPr id="13" name="TextBox 12"/>
          <p:cNvSpPr txBox="1"/>
          <p:nvPr/>
        </p:nvSpPr>
        <p:spPr>
          <a:xfrm>
            <a:off x="4526280" y="3291840"/>
            <a:ext cx="3200400" cy="1280160"/>
          </a:xfrm>
          <a:prstGeom prst="rect">
            <a:avLst/>
          </a:prstGeom>
          <a:noFill/>
        </p:spPr>
        <p:txBody>
          <a:bodyPr wrap="square">
            <a:spAutoFit/>
          </a:bodyPr>
          <a:lstStyle/>
          <a:p>
            <a:pPr>
              <a:spcAft>
                <a:spcPts val="1200"/>
              </a:spcAft>
              <a:defRPr sz="1900" b="0" i="0">
                <a:solidFill>
                  <a:srgbClr val="53616B"/>
                </a:solidFill>
                <a:latin typeface="Aptos"/>
              </a:defRPr>
            </a:pPr>
            <a:r>
              <a:t>Ist-Daten, Ingestion, Storage-Entscheid, Datenmodell</a:t>
            </a:r>
          </a:p>
        </p:txBody>
      </p:sp>
      <p:sp>
        <p:nvSpPr>
          <p:cNvPr id="14" name="Rounded Rectangle 13"/>
          <p:cNvSpPr/>
          <p:nvPr/>
        </p:nvSpPr>
        <p:spPr>
          <a:xfrm>
            <a:off x="8092440" y="1371600"/>
            <a:ext cx="3611880" cy="329184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600200"/>
            <a:ext cx="3200400" cy="457200"/>
          </a:xfrm>
          <a:prstGeom prst="rect">
            <a:avLst/>
          </a:prstGeom>
          <a:noFill/>
        </p:spPr>
        <p:txBody>
          <a:bodyPr wrap="square">
            <a:spAutoFit/>
          </a:bodyPr>
          <a:lstStyle/>
          <a:p>
            <a:pPr>
              <a:spcAft>
                <a:spcPts val="1200"/>
              </a:spcAft>
              <a:defRPr sz="2000" b="1" i="0">
                <a:solidFill>
                  <a:srgbClr val="167D8D"/>
                </a:solidFill>
                <a:latin typeface="Aptos"/>
              </a:defRPr>
            </a:pPr>
            <a:r>
              <a:t>Paket C · Enis</a:t>
            </a:r>
          </a:p>
        </p:txBody>
      </p:sp>
      <p:sp>
        <p:nvSpPr>
          <p:cNvPr id="16" name="TextBox 15"/>
          <p:cNvSpPr txBox="1"/>
          <p:nvPr/>
        </p:nvSpPr>
        <p:spPr>
          <a:xfrm>
            <a:off x="8321040" y="2240280"/>
            <a:ext cx="3200400" cy="640080"/>
          </a:xfrm>
          <a:prstGeom prst="rect">
            <a:avLst/>
          </a:prstGeom>
          <a:noFill/>
        </p:spPr>
        <p:txBody>
          <a:bodyPr wrap="square">
            <a:spAutoFit/>
          </a:bodyPr>
          <a:lstStyle/>
          <a:p>
            <a:pPr>
              <a:spcAft>
                <a:spcPts val="1200"/>
              </a:spcAft>
              <a:defRPr sz="2600" b="1" i="0">
                <a:solidFill>
                  <a:srgbClr val="17364A"/>
                </a:solidFill>
                <a:latin typeface="Aptos"/>
              </a:defRPr>
            </a:pPr>
            <a:r>
              <a:t>Daten verknüpfen</a:t>
            </a:r>
          </a:p>
        </p:txBody>
      </p:sp>
      <p:sp>
        <p:nvSpPr>
          <p:cNvPr id="17" name="TextBox 16"/>
          <p:cNvSpPr txBox="1"/>
          <p:nvPr/>
        </p:nvSpPr>
        <p:spPr>
          <a:xfrm>
            <a:off x="8321040" y="3291840"/>
            <a:ext cx="3200400" cy="1280160"/>
          </a:xfrm>
          <a:prstGeom prst="rect">
            <a:avLst/>
          </a:prstGeom>
          <a:noFill/>
        </p:spPr>
        <p:txBody>
          <a:bodyPr wrap="square">
            <a:spAutoFit/>
          </a:bodyPr>
          <a:lstStyle/>
          <a:p>
            <a:pPr>
              <a:spcAft>
                <a:spcPts val="1200"/>
              </a:spcAft>
              <a:defRPr sz="1900" b="0" i="0">
                <a:solidFill>
                  <a:srgbClr val="53616B"/>
                </a:solidFill>
                <a:latin typeface="Aptos"/>
              </a:defRPr>
            </a:pPr>
            <a:r>
              <a:t>Wetterdaten, Bereinigung, Join, Resultate, Limitationen</a:t>
            </a:r>
          </a:p>
        </p:txBody>
      </p:sp>
      <p:sp>
        <p:nvSpPr>
          <p:cNvPr id="18" name="TextBox 17"/>
          <p:cNvSpPr txBox="1"/>
          <p:nvPr/>
        </p:nvSpPr>
        <p:spPr>
          <a:xfrm>
            <a:off x="502920" y="5120640"/>
            <a:ext cx="10972800" cy="457200"/>
          </a:xfrm>
          <a:prstGeom prst="rect">
            <a:avLst/>
          </a:prstGeom>
          <a:noFill/>
        </p:spPr>
        <p:txBody>
          <a:bodyPr wrap="square">
            <a:spAutoFit/>
          </a:bodyPr>
          <a:lstStyle/>
          <a:p>
            <a:pPr>
              <a:spcAft>
                <a:spcPts val="1200"/>
              </a:spcAft>
              <a:defRPr sz="2200" b="1" i="0">
                <a:solidFill>
                  <a:srgbClr val="167D8D"/>
                </a:solidFill>
                <a:latin typeface="Aptos"/>
              </a:defRPr>
            </a:pPr>
            <a:r>
              <a:t>Danach: Fragen und Diskussion im Plenum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17" name="Picture 16"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Problemstellung: Wetter und Pünktlichkeit im öV</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3</a:t>
            </a:r>
          </a:p>
        </p:txBody>
      </p:sp>
      <p:sp>
        <p:nvSpPr>
          <p:cNvPr id="6" name="TextBox 5"/>
          <p:cNvSpPr txBox="1"/>
          <p:nvPr/>
        </p:nvSpPr>
        <p:spPr>
          <a:xfrm>
            <a:off x="502920" y="1188720"/>
            <a:ext cx="11155680" cy="1097280"/>
          </a:xfrm>
          <a:prstGeom prst="rect">
            <a:avLst/>
          </a:prstGeom>
          <a:noFill/>
        </p:spPr>
        <p:txBody>
          <a:bodyPr wrap="square">
            <a:spAutoFit/>
          </a:bodyPr>
          <a:lstStyle/>
          <a:p>
            <a:pPr>
              <a:spcAft>
                <a:spcPts val="1200"/>
              </a:spcAft>
              <a:defRPr sz="2300" b="0" i="0">
                <a:solidFill>
                  <a:srgbClr val="17364A"/>
                </a:solidFill>
                <a:latin typeface="Aptos"/>
              </a:defRPr>
            </a:pPr>
            <a:r>
              <a:t>Verspätungen kosten Anschlüsse, Geld und Vertrauen. Im Winter kommen Niederschlag, Schnee und Frost dazu, die niemand steuern, aber berücksichtigen kann.</a:t>
            </a:r>
          </a:p>
        </p:txBody>
      </p:sp>
      <p:sp>
        <p:nvSpPr>
          <p:cNvPr id="7" name="Rounded Rectangle 6"/>
          <p:cNvSpPr/>
          <p:nvPr/>
        </p:nvSpPr>
        <p:spPr>
          <a:xfrm>
            <a:off x="502920" y="2468880"/>
            <a:ext cx="3611880" cy="237744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697480"/>
            <a:ext cx="3200400" cy="731520"/>
          </a:xfrm>
          <a:prstGeom prst="rect">
            <a:avLst/>
          </a:prstGeom>
          <a:noFill/>
        </p:spPr>
        <p:txBody>
          <a:bodyPr wrap="square">
            <a:spAutoFit/>
          </a:bodyPr>
          <a:lstStyle/>
          <a:p>
            <a:pPr>
              <a:spcAft>
                <a:spcPts val="1200"/>
              </a:spcAft>
              <a:defRPr sz="2200" b="1" i="0">
                <a:solidFill>
                  <a:srgbClr val="167D8D"/>
                </a:solidFill>
                <a:latin typeface="Aptos"/>
              </a:defRPr>
            </a:pPr>
            <a:r>
              <a:t>Pendlerinnen und Pendler</a:t>
            </a:r>
          </a:p>
        </p:txBody>
      </p:sp>
      <p:sp>
        <p:nvSpPr>
          <p:cNvPr id="9" name="TextBox 8"/>
          <p:cNvSpPr txBox="1"/>
          <p:nvPr/>
        </p:nvSpPr>
        <p:spPr>
          <a:xfrm>
            <a:off x="731520" y="3566160"/>
            <a:ext cx="3200400" cy="1188720"/>
          </a:xfrm>
          <a:prstGeom prst="rect">
            <a:avLst/>
          </a:prstGeom>
          <a:noFill/>
        </p:spPr>
        <p:txBody>
          <a:bodyPr wrap="square">
            <a:spAutoFit/>
          </a:bodyPr>
          <a:lstStyle/>
          <a:p>
            <a:pPr>
              <a:spcAft>
                <a:spcPts val="1200"/>
              </a:spcAft>
              <a:defRPr sz="1900" b="0" i="0">
                <a:solidFill>
                  <a:srgbClr val="17364A"/>
                </a:solidFill>
                <a:latin typeface="Aptos"/>
              </a:defRPr>
            </a:pPr>
            <a:r>
              <a:t>Wann ist mit Verspätungen zu rechnen?</a:t>
            </a:r>
          </a:p>
        </p:txBody>
      </p:sp>
      <p:sp>
        <p:nvSpPr>
          <p:cNvPr id="10" name="Rounded Rectangle 9"/>
          <p:cNvSpPr/>
          <p:nvPr/>
        </p:nvSpPr>
        <p:spPr>
          <a:xfrm>
            <a:off x="4297680" y="2468880"/>
            <a:ext cx="3611880" cy="237744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2697480"/>
            <a:ext cx="3200400" cy="731520"/>
          </a:xfrm>
          <a:prstGeom prst="rect">
            <a:avLst/>
          </a:prstGeom>
          <a:noFill/>
        </p:spPr>
        <p:txBody>
          <a:bodyPr wrap="square">
            <a:spAutoFit/>
          </a:bodyPr>
          <a:lstStyle/>
          <a:p>
            <a:pPr>
              <a:spcAft>
                <a:spcPts val="1200"/>
              </a:spcAft>
              <a:defRPr sz="2200" b="1" i="0">
                <a:solidFill>
                  <a:srgbClr val="167D8D"/>
                </a:solidFill>
                <a:latin typeface="Aptos"/>
              </a:defRPr>
            </a:pPr>
            <a:r>
              <a:t>ÖV-Betreiber</a:t>
            </a:r>
          </a:p>
        </p:txBody>
      </p:sp>
      <p:sp>
        <p:nvSpPr>
          <p:cNvPr id="12" name="TextBox 11"/>
          <p:cNvSpPr txBox="1"/>
          <p:nvPr/>
        </p:nvSpPr>
        <p:spPr>
          <a:xfrm>
            <a:off x="4526280" y="3566160"/>
            <a:ext cx="3200400" cy="1188720"/>
          </a:xfrm>
          <a:prstGeom prst="rect">
            <a:avLst/>
          </a:prstGeom>
          <a:noFill/>
        </p:spPr>
        <p:txBody>
          <a:bodyPr wrap="square">
            <a:spAutoFit/>
          </a:bodyPr>
          <a:lstStyle/>
          <a:p>
            <a:pPr>
              <a:spcAft>
                <a:spcPts val="1200"/>
              </a:spcAft>
              <a:defRPr sz="1900" b="0" i="0">
                <a:solidFill>
                  <a:srgbClr val="17364A"/>
                </a:solidFill>
                <a:latin typeface="Aptos"/>
              </a:defRPr>
            </a:pPr>
            <a:r>
              <a:t>Ist Bus oder Bahn stärker betroffen?</a:t>
            </a:r>
          </a:p>
        </p:txBody>
      </p:sp>
      <p:sp>
        <p:nvSpPr>
          <p:cNvPr id="13" name="Rounded Rectangle 12"/>
          <p:cNvSpPr/>
          <p:nvPr/>
        </p:nvSpPr>
        <p:spPr>
          <a:xfrm>
            <a:off x="8092440" y="2468880"/>
            <a:ext cx="3611880" cy="237744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697480"/>
            <a:ext cx="3200400" cy="731520"/>
          </a:xfrm>
          <a:prstGeom prst="rect">
            <a:avLst/>
          </a:prstGeom>
          <a:noFill/>
        </p:spPr>
        <p:txBody>
          <a:bodyPr wrap="square">
            <a:spAutoFit/>
          </a:bodyPr>
          <a:lstStyle/>
          <a:p>
            <a:pPr>
              <a:spcAft>
                <a:spcPts val="1200"/>
              </a:spcAft>
              <a:defRPr sz="2200" b="1" i="0">
                <a:solidFill>
                  <a:srgbClr val="167D8D"/>
                </a:solidFill>
                <a:latin typeface="Aptos"/>
              </a:defRPr>
            </a:pPr>
            <a:r>
              <a:t>Planerinnen und Planer</a:t>
            </a:r>
          </a:p>
        </p:txBody>
      </p:sp>
      <p:sp>
        <p:nvSpPr>
          <p:cNvPr id="15" name="TextBox 14"/>
          <p:cNvSpPr txBox="1"/>
          <p:nvPr/>
        </p:nvSpPr>
        <p:spPr>
          <a:xfrm>
            <a:off x="8321040" y="3566160"/>
            <a:ext cx="3200400" cy="1188720"/>
          </a:xfrm>
          <a:prstGeom prst="rect">
            <a:avLst/>
          </a:prstGeom>
          <a:noFill/>
        </p:spPr>
        <p:txBody>
          <a:bodyPr wrap="square">
            <a:spAutoFit/>
          </a:bodyPr>
          <a:lstStyle/>
          <a:p>
            <a:pPr>
              <a:spcAft>
                <a:spcPts val="1200"/>
              </a:spcAft>
              <a:defRPr sz="1900" b="0" i="0">
                <a:solidFill>
                  <a:srgbClr val="17364A"/>
                </a:solidFill>
                <a:latin typeface="Aptos"/>
              </a:defRPr>
            </a:pPr>
            <a:r>
              <a:t>Wo lohnen sich Reserven im Fahrplan?</a:t>
            </a:r>
          </a:p>
        </p:txBody>
      </p:sp>
      <p:sp>
        <p:nvSpPr>
          <p:cNvPr id="16" name="TextBox 15"/>
          <p:cNvSpPr txBox="1"/>
          <p:nvPr/>
        </p:nvSpPr>
        <p:spPr>
          <a:xfrm>
            <a:off x="502920" y="5257800"/>
            <a:ext cx="11155680" cy="731520"/>
          </a:xfrm>
          <a:prstGeom prst="rect">
            <a:avLst/>
          </a:prstGeom>
          <a:noFill/>
        </p:spPr>
        <p:txBody>
          <a:bodyPr wrap="square">
            <a:spAutoFit/>
          </a:bodyPr>
          <a:lstStyle/>
          <a:p>
            <a:pPr>
              <a:spcAft>
                <a:spcPts val="400"/>
              </a:spcAft>
              <a:defRPr sz="2000" b="1" i="0">
                <a:solidFill>
                  <a:srgbClr val="167D8D"/>
                </a:solidFill>
                <a:latin typeface="Aptos"/>
              </a:defRPr>
            </a:pPr>
            <a:r>
              <a:t>Untersuchungsgebiet: Thurgau, St. Gallen, Appenzell</a:t>
            </a:r>
          </a:p>
          <a:p>
            <a:pPr>
              <a:spcAft>
                <a:spcPts val="400"/>
              </a:spcAft>
              <a:defRPr sz="2000" b="1" i="0">
                <a:solidFill>
                  <a:srgbClr val="167D8D"/>
                </a:solidFill>
                <a:latin typeface="Aptos"/>
              </a:defRPr>
            </a:pPr>
            <a:r>
              <a:t>Bahn und Bus · 1.1.–31.3.2026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17" name="Picture 16"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Forschungsfrage und Hypothesen</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4</a:t>
            </a:r>
          </a:p>
        </p:txBody>
      </p:sp>
      <p:sp>
        <p:nvSpPr>
          <p:cNvPr id="6" name="TextBox 5"/>
          <p:cNvSpPr txBox="1"/>
          <p:nvPr/>
        </p:nvSpPr>
        <p:spPr>
          <a:xfrm>
            <a:off x="502920" y="1188720"/>
            <a:ext cx="11155680" cy="1280160"/>
          </a:xfrm>
          <a:prstGeom prst="rect">
            <a:avLst/>
          </a:prstGeom>
          <a:noFill/>
        </p:spPr>
        <p:txBody>
          <a:bodyPr wrap="square">
            <a:spAutoFit/>
          </a:bodyPr>
          <a:lstStyle/>
          <a:p>
            <a:pPr>
              <a:spcAft>
                <a:spcPts val="1200"/>
              </a:spcAft>
              <a:defRPr sz="2400" b="1" i="1">
                <a:solidFill>
                  <a:srgbClr val="167D8D"/>
                </a:solidFill>
                <a:latin typeface="Aptos"/>
              </a:defRPr>
            </a:pPr>
            <a:r>
              <a:t>Wie stark beeinflusst das Wetter die Pünktlichkeit des öffentlichen Verkehrs in der Ostschweiz, und unterscheidet sich der Effekt nach Verkehrsmittel und Tageszeit?</a:t>
            </a:r>
          </a:p>
        </p:txBody>
      </p:sp>
      <p:sp>
        <p:nvSpPr>
          <p:cNvPr id="7" name="Rounded Rectangle 6"/>
          <p:cNvSpPr/>
          <p:nvPr/>
        </p:nvSpPr>
        <p:spPr>
          <a:xfrm>
            <a:off x="502920" y="2743200"/>
            <a:ext cx="11155680" cy="100584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971800"/>
            <a:ext cx="1005840" cy="548640"/>
          </a:xfrm>
          <a:prstGeom prst="rect">
            <a:avLst/>
          </a:prstGeom>
          <a:noFill/>
        </p:spPr>
        <p:txBody>
          <a:bodyPr wrap="square">
            <a:spAutoFit/>
          </a:bodyPr>
          <a:lstStyle/>
          <a:p>
            <a:pPr>
              <a:spcAft>
                <a:spcPts val="1200"/>
              </a:spcAft>
              <a:defRPr sz="3000" b="1" i="0">
                <a:solidFill>
                  <a:srgbClr val="167D8D"/>
                </a:solidFill>
                <a:latin typeface="Aptos"/>
              </a:defRPr>
            </a:pPr>
            <a:r>
              <a:t>H1</a:t>
            </a:r>
          </a:p>
        </p:txBody>
      </p:sp>
      <p:sp>
        <p:nvSpPr>
          <p:cNvPr id="9" name="TextBox 8"/>
          <p:cNvSpPr txBox="1"/>
          <p:nvPr/>
        </p:nvSpPr>
        <p:spPr>
          <a:xfrm>
            <a:off x="1828800" y="2907792"/>
            <a:ext cx="9601200" cy="731520"/>
          </a:xfrm>
          <a:prstGeom prst="rect">
            <a:avLst/>
          </a:prstGeom>
          <a:noFill/>
        </p:spPr>
        <p:txBody>
          <a:bodyPr wrap="square">
            <a:spAutoFit/>
          </a:bodyPr>
          <a:lstStyle/>
          <a:p>
            <a:pPr>
              <a:spcAft>
                <a:spcPts val="1200"/>
              </a:spcAft>
              <a:defRPr sz="2000" b="0" i="0">
                <a:solidFill>
                  <a:srgbClr val="17364A"/>
                </a:solidFill>
                <a:latin typeface="Aptos"/>
              </a:defRPr>
            </a:pPr>
            <a:r>
              <a:t>Bei starkem Niederschlag ist die mittlere Verspätung höher als sonst.</a:t>
            </a:r>
          </a:p>
        </p:txBody>
      </p:sp>
      <p:sp>
        <p:nvSpPr>
          <p:cNvPr id="10" name="Rounded Rectangle 9"/>
          <p:cNvSpPr/>
          <p:nvPr/>
        </p:nvSpPr>
        <p:spPr>
          <a:xfrm>
            <a:off x="502920" y="3886200"/>
            <a:ext cx="11155680" cy="100584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114800"/>
            <a:ext cx="1005840" cy="548640"/>
          </a:xfrm>
          <a:prstGeom prst="rect">
            <a:avLst/>
          </a:prstGeom>
          <a:noFill/>
        </p:spPr>
        <p:txBody>
          <a:bodyPr wrap="square">
            <a:spAutoFit/>
          </a:bodyPr>
          <a:lstStyle/>
          <a:p>
            <a:pPr>
              <a:spcAft>
                <a:spcPts val="1200"/>
              </a:spcAft>
              <a:defRPr sz="3000" b="1" i="0">
                <a:solidFill>
                  <a:srgbClr val="167D8D"/>
                </a:solidFill>
                <a:latin typeface="Aptos"/>
              </a:defRPr>
            </a:pPr>
            <a:r>
              <a:t>H2</a:t>
            </a:r>
          </a:p>
        </p:txBody>
      </p:sp>
      <p:sp>
        <p:nvSpPr>
          <p:cNvPr id="12" name="TextBox 11"/>
          <p:cNvSpPr txBox="1"/>
          <p:nvPr/>
        </p:nvSpPr>
        <p:spPr>
          <a:xfrm>
            <a:off x="1828800" y="4050791"/>
            <a:ext cx="9601200" cy="731520"/>
          </a:xfrm>
          <a:prstGeom prst="rect">
            <a:avLst/>
          </a:prstGeom>
          <a:noFill/>
        </p:spPr>
        <p:txBody>
          <a:bodyPr wrap="square">
            <a:spAutoFit/>
          </a:bodyPr>
          <a:lstStyle/>
          <a:p>
            <a:pPr>
              <a:spcAft>
                <a:spcPts val="1200"/>
              </a:spcAft>
              <a:defRPr sz="2000" b="0" i="0">
                <a:solidFill>
                  <a:srgbClr val="17364A"/>
                </a:solidFill>
                <a:latin typeface="Aptos"/>
              </a:defRPr>
            </a:pPr>
            <a:r>
              <a:t>Der Effekt ist beim Bus stärker als bei der Bahn.</a:t>
            </a:r>
          </a:p>
        </p:txBody>
      </p:sp>
      <p:sp>
        <p:nvSpPr>
          <p:cNvPr id="13" name="Rounded Rectangle 12"/>
          <p:cNvSpPr/>
          <p:nvPr/>
        </p:nvSpPr>
        <p:spPr>
          <a:xfrm>
            <a:off x="502920" y="5029200"/>
            <a:ext cx="11155680" cy="100584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57800"/>
            <a:ext cx="1005840" cy="548640"/>
          </a:xfrm>
          <a:prstGeom prst="rect">
            <a:avLst/>
          </a:prstGeom>
          <a:noFill/>
        </p:spPr>
        <p:txBody>
          <a:bodyPr wrap="square">
            <a:spAutoFit/>
          </a:bodyPr>
          <a:lstStyle/>
          <a:p>
            <a:pPr>
              <a:spcAft>
                <a:spcPts val="1200"/>
              </a:spcAft>
              <a:defRPr sz="3000" b="1" i="0">
                <a:solidFill>
                  <a:srgbClr val="167D8D"/>
                </a:solidFill>
                <a:latin typeface="Aptos"/>
              </a:defRPr>
            </a:pPr>
            <a:r>
              <a:t>H3</a:t>
            </a:r>
          </a:p>
        </p:txBody>
      </p:sp>
      <p:sp>
        <p:nvSpPr>
          <p:cNvPr id="15" name="TextBox 14"/>
          <p:cNvSpPr txBox="1"/>
          <p:nvPr/>
        </p:nvSpPr>
        <p:spPr>
          <a:xfrm>
            <a:off x="1828800" y="5193792"/>
            <a:ext cx="9601200" cy="731520"/>
          </a:xfrm>
          <a:prstGeom prst="rect">
            <a:avLst/>
          </a:prstGeom>
          <a:noFill/>
        </p:spPr>
        <p:txBody>
          <a:bodyPr wrap="square">
            <a:spAutoFit/>
          </a:bodyPr>
          <a:lstStyle/>
          <a:p>
            <a:pPr>
              <a:spcAft>
                <a:spcPts val="1200"/>
              </a:spcAft>
              <a:defRPr sz="2000" b="0" i="0">
                <a:solidFill>
                  <a:srgbClr val="17364A"/>
                </a:solidFill>
                <a:latin typeface="Aptos"/>
              </a:defRPr>
            </a:pPr>
            <a:r>
              <a:t>Der Effekt ist in der Hauptverkehrszeit stärker als ausserhalb.</a:t>
            </a:r>
          </a:p>
        </p:txBody>
      </p:sp>
      <p:sp>
        <p:nvSpPr>
          <p:cNvPr id="16" name="TextBox 15"/>
          <p:cNvSpPr txBox="1"/>
          <p:nvPr/>
        </p:nvSpPr>
        <p:spPr>
          <a:xfrm>
            <a:off x="502920" y="6053328"/>
            <a:ext cx="11155680" cy="365760"/>
          </a:xfrm>
          <a:prstGeom prst="rect">
            <a:avLst/>
          </a:prstGeom>
          <a:noFill/>
        </p:spPr>
        <p:txBody>
          <a:bodyPr wrap="square">
            <a:spAutoFit/>
          </a:bodyPr>
          <a:lstStyle/>
          <a:p>
            <a:pPr>
              <a:spcAft>
                <a:spcPts val="1200"/>
              </a:spcAft>
              <a:defRPr sz="1400" b="0" i="0">
                <a:solidFill>
                  <a:srgbClr val="53616B"/>
                </a:solidFill>
                <a:latin typeface="Aptos"/>
              </a:defRPr>
            </a:pPr>
            <a:r>
              <a:t>Ergänzend: Schnee/Frost (Schneedecke oder Niederschlag bei Frost), gleiches Vorgehen wie H1.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17" name="Picture 16"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Operationalisierung und Methodik</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5</a:t>
            </a:r>
          </a:p>
        </p:txBody>
      </p:sp>
      <p:sp>
        <p:nvSpPr>
          <p:cNvPr id="6" name="TextBox 5"/>
          <p:cNvSpPr txBox="1"/>
          <p:nvPr/>
        </p:nvSpPr>
        <p:spPr>
          <a:xfrm>
            <a:off x="502920" y="1234440"/>
            <a:ext cx="3566160" cy="548640"/>
          </a:xfrm>
          <a:prstGeom prst="rect">
            <a:avLst/>
          </a:prstGeom>
          <a:noFill/>
        </p:spPr>
        <p:txBody>
          <a:bodyPr wrap="square">
            <a:spAutoFit/>
          </a:bodyPr>
          <a:lstStyle/>
          <a:p>
            <a:pPr>
              <a:spcAft>
                <a:spcPts val="1200"/>
              </a:spcAft>
              <a:defRPr sz="2000" b="1" i="0">
                <a:solidFill>
                  <a:srgbClr val="167D8D"/>
                </a:solidFill>
                <a:latin typeface="Aptos"/>
              </a:defRPr>
            </a:pPr>
            <a:r>
              <a:t>Verspätung</a:t>
            </a:r>
          </a:p>
        </p:txBody>
      </p:sp>
      <p:sp>
        <p:nvSpPr>
          <p:cNvPr id="7" name="TextBox 6"/>
          <p:cNvSpPr txBox="1"/>
          <p:nvPr/>
        </p:nvSpPr>
        <p:spPr>
          <a:xfrm>
            <a:off x="4114800" y="1234440"/>
            <a:ext cx="7589520" cy="548640"/>
          </a:xfrm>
          <a:prstGeom prst="rect">
            <a:avLst/>
          </a:prstGeom>
          <a:noFill/>
        </p:spPr>
        <p:txBody>
          <a:bodyPr wrap="square">
            <a:spAutoFit/>
          </a:bodyPr>
          <a:lstStyle/>
          <a:p>
            <a:pPr>
              <a:spcAft>
                <a:spcPts val="1200"/>
              </a:spcAft>
              <a:defRPr sz="2000" b="0" i="0">
                <a:solidFill>
                  <a:srgbClr val="17364A"/>
                </a:solidFill>
                <a:latin typeface="Aptos"/>
              </a:defRPr>
            </a:pPr>
            <a:r>
              <a:t>Ankunft: Ist minus Soll in Minuten, nur gemessene Werte</a:t>
            </a:r>
          </a:p>
        </p:txBody>
      </p:sp>
      <p:sp>
        <p:nvSpPr>
          <p:cNvPr id="8" name="TextBox 7"/>
          <p:cNvSpPr txBox="1"/>
          <p:nvPr/>
        </p:nvSpPr>
        <p:spPr>
          <a:xfrm>
            <a:off x="502920" y="1984248"/>
            <a:ext cx="3566160" cy="548640"/>
          </a:xfrm>
          <a:prstGeom prst="rect">
            <a:avLst/>
          </a:prstGeom>
          <a:noFill/>
        </p:spPr>
        <p:txBody>
          <a:bodyPr wrap="square">
            <a:spAutoFit/>
          </a:bodyPr>
          <a:lstStyle/>
          <a:p>
            <a:pPr>
              <a:spcAft>
                <a:spcPts val="1200"/>
              </a:spcAft>
              <a:defRPr sz="2000" b="1" i="0">
                <a:solidFill>
                  <a:srgbClr val="167D8D"/>
                </a:solidFill>
                <a:latin typeface="Aptos"/>
              </a:defRPr>
            </a:pPr>
            <a:r>
              <a:t>Verspätet</a:t>
            </a:r>
          </a:p>
        </p:txBody>
      </p:sp>
      <p:sp>
        <p:nvSpPr>
          <p:cNvPr id="9" name="TextBox 8"/>
          <p:cNvSpPr txBox="1"/>
          <p:nvPr/>
        </p:nvSpPr>
        <p:spPr>
          <a:xfrm>
            <a:off x="4114800" y="1984248"/>
            <a:ext cx="7589520" cy="548640"/>
          </a:xfrm>
          <a:prstGeom prst="rect">
            <a:avLst/>
          </a:prstGeom>
          <a:noFill/>
        </p:spPr>
        <p:txBody>
          <a:bodyPr wrap="square">
            <a:spAutoFit/>
          </a:bodyPr>
          <a:lstStyle/>
          <a:p>
            <a:pPr>
              <a:spcAft>
                <a:spcPts val="1200"/>
              </a:spcAft>
              <a:defRPr sz="2000" b="0" i="0">
                <a:solidFill>
                  <a:srgbClr val="17364A"/>
                </a:solidFill>
                <a:latin typeface="Aptos"/>
              </a:defRPr>
            </a:pPr>
            <a:r>
              <a:t>ab 3 Minuten (Definition SBB AG, o. J.)</a:t>
            </a:r>
          </a:p>
        </p:txBody>
      </p:sp>
      <p:sp>
        <p:nvSpPr>
          <p:cNvPr id="10" name="TextBox 9"/>
          <p:cNvSpPr txBox="1"/>
          <p:nvPr/>
        </p:nvSpPr>
        <p:spPr>
          <a:xfrm>
            <a:off x="502920" y="2734056"/>
            <a:ext cx="3566160" cy="548640"/>
          </a:xfrm>
          <a:prstGeom prst="rect">
            <a:avLst/>
          </a:prstGeom>
          <a:noFill/>
        </p:spPr>
        <p:txBody>
          <a:bodyPr wrap="square">
            <a:spAutoFit/>
          </a:bodyPr>
          <a:lstStyle/>
          <a:p>
            <a:pPr>
              <a:spcAft>
                <a:spcPts val="1200"/>
              </a:spcAft>
              <a:defRPr sz="2000" b="1" i="0">
                <a:solidFill>
                  <a:srgbClr val="167D8D"/>
                </a:solidFill>
                <a:latin typeface="Aptos"/>
              </a:defRPr>
            </a:pPr>
            <a:r>
              <a:t>Starker Niederschlag</a:t>
            </a:r>
          </a:p>
        </p:txBody>
      </p:sp>
      <p:sp>
        <p:nvSpPr>
          <p:cNvPr id="11" name="TextBox 10"/>
          <p:cNvSpPr txBox="1"/>
          <p:nvPr/>
        </p:nvSpPr>
        <p:spPr>
          <a:xfrm>
            <a:off x="4114800" y="2734056"/>
            <a:ext cx="7589520" cy="548640"/>
          </a:xfrm>
          <a:prstGeom prst="rect">
            <a:avLst/>
          </a:prstGeom>
          <a:noFill/>
        </p:spPr>
        <p:txBody>
          <a:bodyPr wrap="square">
            <a:spAutoFit/>
          </a:bodyPr>
          <a:lstStyle/>
          <a:p>
            <a:pPr>
              <a:spcAft>
                <a:spcPts val="1200"/>
              </a:spcAft>
              <a:defRPr sz="2000" b="0" i="0">
                <a:solidFill>
                  <a:srgbClr val="17364A"/>
                </a:solidFill>
                <a:latin typeface="Aptos"/>
              </a:defRPr>
            </a:pPr>
            <a:r>
              <a:t>Stundensumme über dem 90. Perzentil der Regenstunden</a:t>
            </a:r>
          </a:p>
        </p:txBody>
      </p:sp>
      <p:sp>
        <p:nvSpPr>
          <p:cNvPr id="12" name="TextBox 11"/>
          <p:cNvSpPr txBox="1"/>
          <p:nvPr/>
        </p:nvSpPr>
        <p:spPr>
          <a:xfrm>
            <a:off x="502920" y="3483864"/>
            <a:ext cx="3566160" cy="548640"/>
          </a:xfrm>
          <a:prstGeom prst="rect">
            <a:avLst/>
          </a:prstGeom>
          <a:noFill/>
        </p:spPr>
        <p:txBody>
          <a:bodyPr wrap="square">
            <a:spAutoFit/>
          </a:bodyPr>
          <a:lstStyle/>
          <a:p>
            <a:pPr>
              <a:spcAft>
                <a:spcPts val="1200"/>
              </a:spcAft>
              <a:defRPr sz="2000" b="1" i="0">
                <a:solidFill>
                  <a:srgbClr val="167D8D"/>
                </a:solidFill>
                <a:latin typeface="Aptos"/>
              </a:defRPr>
            </a:pPr>
            <a:r>
              <a:t>Hauptverkehrszeit</a:t>
            </a:r>
          </a:p>
        </p:txBody>
      </p:sp>
      <p:sp>
        <p:nvSpPr>
          <p:cNvPr id="13" name="TextBox 12"/>
          <p:cNvSpPr txBox="1"/>
          <p:nvPr/>
        </p:nvSpPr>
        <p:spPr>
          <a:xfrm>
            <a:off x="4114800" y="3483864"/>
            <a:ext cx="7589520" cy="548640"/>
          </a:xfrm>
          <a:prstGeom prst="rect">
            <a:avLst/>
          </a:prstGeom>
          <a:noFill/>
        </p:spPr>
        <p:txBody>
          <a:bodyPr wrap="square">
            <a:spAutoFit/>
          </a:bodyPr>
          <a:lstStyle/>
          <a:p>
            <a:pPr>
              <a:spcAft>
                <a:spcPts val="1200"/>
              </a:spcAft>
              <a:defRPr sz="2000" b="0" i="0">
                <a:solidFill>
                  <a:srgbClr val="17364A"/>
                </a:solidFill>
                <a:latin typeface="Aptos"/>
              </a:defRPr>
            </a:pPr>
            <a:r>
              <a:t>Mo–Fr, 6–9 und 16–19 Uhr (Lokalzeit)</a:t>
            </a:r>
          </a:p>
        </p:txBody>
      </p:sp>
      <p:sp>
        <p:nvSpPr>
          <p:cNvPr id="14" name="TextBox 13"/>
          <p:cNvSpPr txBox="1"/>
          <p:nvPr/>
        </p:nvSpPr>
        <p:spPr>
          <a:xfrm>
            <a:off x="502920" y="4233672"/>
            <a:ext cx="3566160" cy="548640"/>
          </a:xfrm>
          <a:prstGeom prst="rect">
            <a:avLst/>
          </a:prstGeom>
          <a:noFill/>
        </p:spPr>
        <p:txBody>
          <a:bodyPr wrap="square">
            <a:spAutoFit/>
          </a:bodyPr>
          <a:lstStyle/>
          <a:p>
            <a:pPr>
              <a:spcAft>
                <a:spcPts val="1200"/>
              </a:spcAft>
              <a:defRPr sz="2000" b="1" i="0">
                <a:solidFill>
                  <a:srgbClr val="167D8D"/>
                </a:solidFill>
                <a:latin typeface="Aptos"/>
              </a:defRPr>
            </a:pPr>
            <a:r>
              <a:t>Plausibilität</a:t>
            </a:r>
          </a:p>
        </p:txBody>
      </p:sp>
      <p:sp>
        <p:nvSpPr>
          <p:cNvPr id="15" name="TextBox 14"/>
          <p:cNvSpPr txBox="1"/>
          <p:nvPr/>
        </p:nvSpPr>
        <p:spPr>
          <a:xfrm>
            <a:off x="4114800" y="4233672"/>
            <a:ext cx="7589520" cy="548640"/>
          </a:xfrm>
          <a:prstGeom prst="rect">
            <a:avLst/>
          </a:prstGeom>
          <a:noFill/>
        </p:spPr>
        <p:txBody>
          <a:bodyPr wrap="square">
            <a:spAutoFit/>
          </a:bodyPr>
          <a:lstStyle/>
          <a:p>
            <a:pPr>
              <a:spcAft>
                <a:spcPts val="1200"/>
              </a:spcAft>
              <a:defRPr sz="2000" b="0" i="0">
                <a:solidFill>
                  <a:srgbClr val="17364A"/>
                </a:solidFill>
                <a:latin typeface="Aptos"/>
              </a:defRPr>
            </a:pPr>
            <a:r>
              <a:t>−10 bis +60 Minuten, Ausfälle und Durchfahrten ausgeschlossen</a:t>
            </a:r>
          </a:p>
        </p:txBody>
      </p:sp>
      <p:sp>
        <p:nvSpPr>
          <p:cNvPr id="16" name="TextBox 15"/>
          <p:cNvSpPr txBox="1"/>
          <p:nvPr/>
        </p:nvSpPr>
        <p:spPr>
          <a:xfrm>
            <a:off x="502920" y="5120640"/>
            <a:ext cx="11155680" cy="1005840"/>
          </a:xfrm>
          <a:prstGeom prst="rect">
            <a:avLst/>
          </a:prstGeom>
          <a:noFill/>
        </p:spPr>
        <p:txBody>
          <a:bodyPr wrap="square">
            <a:spAutoFit/>
          </a:bodyPr>
          <a:lstStyle/>
          <a:p>
            <a:pPr>
              <a:spcAft>
                <a:spcPts val="400"/>
              </a:spcAft>
              <a:defRPr sz="1900" b="1" i="0">
                <a:solidFill>
                  <a:srgbClr val="167D8D"/>
                </a:solidFill>
                <a:latin typeface="Aptos"/>
              </a:defRPr>
            </a:pPr>
            <a:r>
              <a:t>Tests: H1 Mann-Whitney-U · H2 und H3 Regression mit Wechselwirkung</a:t>
            </a:r>
          </a:p>
          <a:p>
            <a:pPr>
              <a:spcAft>
                <a:spcPts val="400"/>
              </a:spcAft>
              <a:defRPr sz="1900" b="1" i="0">
                <a:solidFill>
                  <a:srgbClr val="167D8D"/>
                </a:solidFill>
                <a:latin typeface="Aptos"/>
              </a:defRPr>
            </a:pPr>
            <a:r>
              <a:t>α = 0,05 · Effektstärke immer mit angegeben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9" name="Picture 28"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Lifecycle und Unterströmungen</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6</a:t>
            </a:r>
          </a:p>
        </p:txBody>
      </p:sp>
      <p:sp>
        <p:nvSpPr>
          <p:cNvPr id="6" name="Rounded Rectangle 5"/>
          <p:cNvSpPr/>
          <p:nvPr/>
        </p:nvSpPr>
        <p:spPr>
          <a:xfrm>
            <a:off x="502920" y="1234440"/>
            <a:ext cx="214884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2011680" cy="457200"/>
          </a:xfrm>
          <a:prstGeom prst="rect">
            <a:avLst/>
          </a:prstGeom>
          <a:noFill/>
        </p:spPr>
        <p:txBody>
          <a:bodyPr wrap="square">
            <a:spAutoFit/>
          </a:bodyPr>
          <a:lstStyle/>
          <a:p>
            <a:pPr>
              <a:spcAft>
                <a:spcPts val="1200"/>
              </a:spcAft>
              <a:defRPr sz="1600" b="1" i="0">
                <a:solidFill>
                  <a:srgbClr val="167D8D"/>
                </a:solidFill>
                <a:latin typeface="Aptos"/>
              </a:defRPr>
            </a:pPr>
            <a:r>
              <a:t>Generation</a:t>
            </a:r>
          </a:p>
        </p:txBody>
      </p:sp>
      <p:sp>
        <p:nvSpPr>
          <p:cNvPr id="8" name="TextBox 7"/>
          <p:cNvSpPr txBox="1"/>
          <p:nvPr/>
        </p:nvSpPr>
        <p:spPr>
          <a:xfrm>
            <a:off x="594360" y="1874519"/>
            <a:ext cx="2011680" cy="1737360"/>
          </a:xfrm>
          <a:prstGeom prst="rect">
            <a:avLst/>
          </a:prstGeom>
          <a:noFill/>
        </p:spPr>
        <p:txBody>
          <a:bodyPr wrap="square">
            <a:spAutoFit/>
          </a:bodyPr>
          <a:lstStyle/>
          <a:p>
            <a:pPr>
              <a:spcAft>
                <a:spcPts val="500"/>
              </a:spcAft>
              <a:defRPr sz="1300" b="0" i="0">
                <a:solidFill>
                  <a:srgbClr val="17364A"/>
                </a:solidFill>
                <a:latin typeface="Aptos"/>
              </a:defRPr>
            </a:pPr>
            <a:r>
              <a:t>Ist-Daten v2</a:t>
            </a:r>
          </a:p>
          <a:p>
            <a:pPr>
              <a:spcAft>
                <a:spcPts val="500"/>
              </a:spcAft>
              <a:defRPr sz="1300" b="0" i="0">
                <a:solidFill>
                  <a:srgbClr val="17364A"/>
                </a:solidFill>
                <a:latin typeface="Aptos"/>
              </a:defRPr>
            </a:pPr>
            <a:r>
              <a:t>GTFS</a:t>
            </a:r>
          </a:p>
          <a:p>
            <a:pPr>
              <a:spcAft>
                <a:spcPts val="500"/>
              </a:spcAft>
              <a:defRPr sz="1300" b="0" i="0">
                <a:solidFill>
                  <a:srgbClr val="17364A"/>
                </a:solidFill>
                <a:latin typeface="Aptos"/>
              </a:defRPr>
            </a:pPr>
            <a:r>
              <a:t>swissBOUNDARIES3D</a:t>
            </a:r>
          </a:p>
          <a:p>
            <a:pPr>
              <a:spcAft>
                <a:spcPts val="500"/>
              </a:spcAft>
              <a:defRPr sz="1300" b="0" i="0">
                <a:solidFill>
                  <a:srgbClr val="17364A"/>
                </a:solidFill>
                <a:latin typeface="Aptos"/>
              </a:defRPr>
            </a:pPr>
            <a:r>
              <a:t>MeteoSchweiz</a:t>
            </a:r>
          </a:p>
        </p:txBody>
      </p:sp>
      <p:sp>
        <p:nvSpPr>
          <p:cNvPr id="9" name="TextBox 8"/>
          <p:cNvSpPr txBox="1"/>
          <p:nvPr/>
        </p:nvSpPr>
        <p:spPr>
          <a:xfrm>
            <a:off x="594360" y="3703320"/>
            <a:ext cx="2011680" cy="365760"/>
          </a:xfrm>
          <a:prstGeom prst="rect">
            <a:avLst/>
          </a:prstGeom>
          <a:noFill/>
        </p:spPr>
        <p:txBody>
          <a:bodyPr wrap="square">
            <a:spAutoFit/>
          </a:bodyPr>
          <a:lstStyle/>
          <a:p>
            <a:pPr>
              <a:spcAft>
                <a:spcPts val="1200"/>
              </a:spcAft>
              <a:defRPr sz="1200" b="1" i="0">
                <a:solidFill>
                  <a:srgbClr val="167D8D"/>
                </a:solidFill>
                <a:latin typeface="Aptos"/>
              </a:defRPr>
            </a:pPr>
            <a:r>
              <a:t>umgesetzt</a:t>
            </a:r>
          </a:p>
        </p:txBody>
      </p:sp>
      <p:sp>
        <p:nvSpPr>
          <p:cNvPr id="10" name="Rounded Rectangle 9"/>
          <p:cNvSpPr/>
          <p:nvPr/>
        </p:nvSpPr>
        <p:spPr>
          <a:xfrm>
            <a:off x="2761488" y="1234440"/>
            <a:ext cx="214884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2928" y="1371600"/>
            <a:ext cx="2011680" cy="457200"/>
          </a:xfrm>
          <a:prstGeom prst="rect">
            <a:avLst/>
          </a:prstGeom>
          <a:noFill/>
        </p:spPr>
        <p:txBody>
          <a:bodyPr wrap="square">
            <a:spAutoFit/>
          </a:bodyPr>
          <a:lstStyle/>
          <a:p>
            <a:pPr>
              <a:spcAft>
                <a:spcPts val="1200"/>
              </a:spcAft>
              <a:defRPr sz="1600" b="1" i="0">
                <a:solidFill>
                  <a:srgbClr val="167D8D"/>
                </a:solidFill>
                <a:latin typeface="Aptos"/>
              </a:defRPr>
            </a:pPr>
            <a:r>
              <a:t>Ingestion</a:t>
            </a:r>
          </a:p>
        </p:txBody>
      </p:sp>
      <p:sp>
        <p:nvSpPr>
          <p:cNvPr id="12" name="TextBox 11"/>
          <p:cNvSpPr txBox="1"/>
          <p:nvPr/>
        </p:nvSpPr>
        <p:spPr>
          <a:xfrm>
            <a:off x="2852928" y="1874519"/>
            <a:ext cx="2011680" cy="1737360"/>
          </a:xfrm>
          <a:prstGeom prst="rect">
            <a:avLst/>
          </a:prstGeom>
          <a:noFill/>
        </p:spPr>
        <p:txBody>
          <a:bodyPr wrap="square">
            <a:spAutoFit/>
          </a:bodyPr>
          <a:lstStyle/>
          <a:p>
            <a:pPr>
              <a:spcAft>
                <a:spcPts val="500"/>
              </a:spcAft>
              <a:defRPr sz="1300" b="0" i="0">
                <a:solidFill>
                  <a:srgbClr val="17364A"/>
                </a:solidFill>
                <a:latin typeface="Aptos"/>
              </a:defRPr>
            </a:pPr>
            <a:r>
              <a:t>Python-Skripte, Batch</a:t>
            </a:r>
          </a:p>
          <a:p>
            <a:pPr>
              <a:spcAft>
                <a:spcPts val="500"/>
              </a:spcAft>
              <a:defRPr sz="1300" b="0" i="0">
                <a:solidFill>
                  <a:srgbClr val="17364A"/>
                </a:solidFill>
                <a:latin typeface="Aptos"/>
              </a:defRPr>
            </a:pPr>
            <a:r>
              <a:t>ÖV: Monats-Zip</a:t>
            </a:r>
          </a:p>
          <a:p>
            <a:pPr>
              <a:spcAft>
                <a:spcPts val="500"/>
              </a:spcAft>
              <a:defRPr sz="1300" b="0" i="0">
                <a:solidFill>
                  <a:srgbClr val="17364A"/>
                </a:solidFill>
                <a:latin typeface="Aptos"/>
              </a:defRPr>
            </a:pPr>
            <a:r>
              <a:t>Wetter: STAC-CSV</a:t>
            </a:r>
          </a:p>
          <a:p>
            <a:pPr>
              <a:spcAft>
                <a:spcPts val="500"/>
              </a:spcAft>
              <a:defRPr sz="1300" b="0" i="0">
                <a:solidFill>
                  <a:srgbClr val="17364A"/>
                </a:solidFill>
                <a:latin typeface="Aptos"/>
              </a:defRPr>
            </a:pPr>
            <a:r>
              <a:t>idempotent</a:t>
            </a:r>
          </a:p>
        </p:txBody>
      </p:sp>
      <p:sp>
        <p:nvSpPr>
          <p:cNvPr id="13" name="TextBox 12"/>
          <p:cNvSpPr txBox="1"/>
          <p:nvPr/>
        </p:nvSpPr>
        <p:spPr>
          <a:xfrm>
            <a:off x="2852928" y="3703320"/>
            <a:ext cx="2011680" cy="365760"/>
          </a:xfrm>
          <a:prstGeom prst="rect">
            <a:avLst/>
          </a:prstGeom>
          <a:noFill/>
        </p:spPr>
        <p:txBody>
          <a:bodyPr wrap="square">
            <a:spAutoFit/>
          </a:bodyPr>
          <a:lstStyle/>
          <a:p>
            <a:pPr>
              <a:spcAft>
                <a:spcPts val="1200"/>
              </a:spcAft>
              <a:defRPr sz="1200" b="1" i="0">
                <a:solidFill>
                  <a:srgbClr val="167D8D"/>
                </a:solidFill>
                <a:latin typeface="Aptos"/>
              </a:defRPr>
            </a:pPr>
            <a:r>
              <a:t>umgesetzt</a:t>
            </a:r>
          </a:p>
        </p:txBody>
      </p:sp>
      <p:sp>
        <p:nvSpPr>
          <p:cNvPr id="14" name="Rounded Rectangle 13"/>
          <p:cNvSpPr/>
          <p:nvPr/>
        </p:nvSpPr>
        <p:spPr>
          <a:xfrm>
            <a:off x="5020056" y="1234440"/>
            <a:ext cx="214884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11496" y="1371600"/>
            <a:ext cx="2011680" cy="457200"/>
          </a:xfrm>
          <a:prstGeom prst="rect">
            <a:avLst/>
          </a:prstGeom>
          <a:noFill/>
        </p:spPr>
        <p:txBody>
          <a:bodyPr wrap="square">
            <a:spAutoFit/>
          </a:bodyPr>
          <a:lstStyle/>
          <a:p>
            <a:pPr>
              <a:spcAft>
                <a:spcPts val="1200"/>
              </a:spcAft>
              <a:defRPr sz="1600" b="1" i="0">
                <a:solidFill>
                  <a:srgbClr val="167D8D"/>
                </a:solidFill>
                <a:latin typeface="Aptos"/>
              </a:defRPr>
            </a:pPr>
            <a:r>
              <a:t>Storage</a:t>
            </a:r>
          </a:p>
        </p:txBody>
      </p:sp>
      <p:sp>
        <p:nvSpPr>
          <p:cNvPr id="16" name="TextBox 15"/>
          <p:cNvSpPr txBox="1"/>
          <p:nvPr/>
        </p:nvSpPr>
        <p:spPr>
          <a:xfrm>
            <a:off x="5111496" y="1874519"/>
            <a:ext cx="2011680" cy="1737360"/>
          </a:xfrm>
          <a:prstGeom prst="rect">
            <a:avLst/>
          </a:prstGeom>
          <a:noFill/>
        </p:spPr>
        <p:txBody>
          <a:bodyPr wrap="square">
            <a:spAutoFit/>
          </a:bodyPr>
          <a:lstStyle/>
          <a:p>
            <a:pPr>
              <a:spcAft>
                <a:spcPts val="500"/>
              </a:spcAft>
              <a:defRPr sz="1300" b="0" i="0">
                <a:solidFill>
                  <a:srgbClr val="17364A"/>
                </a:solidFill>
                <a:latin typeface="Aptos"/>
              </a:defRPr>
            </a:pPr>
            <a:r>
              <a:t>DuckDB und Parquet</a:t>
            </a:r>
          </a:p>
          <a:p>
            <a:pPr>
              <a:spcAft>
                <a:spcPts val="500"/>
              </a:spcAft>
              <a:defRPr sz="1300" b="0" i="0">
                <a:solidFill>
                  <a:srgbClr val="17364A"/>
                </a:solidFill>
                <a:latin typeface="Aptos"/>
              </a:defRPr>
            </a:pPr>
            <a:r>
              <a:t>Daten auf OneDrive</a:t>
            </a:r>
          </a:p>
        </p:txBody>
      </p:sp>
      <p:sp>
        <p:nvSpPr>
          <p:cNvPr id="17" name="TextBox 16"/>
          <p:cNvSpPr txBox="1"/>
          <p:nvPr/>
        </p:nvSpPr>
        <p:spPr>
          <a:xfrm>
            <a:off x="5111496" y="3703320"/>
            <a:ext cx="2011680" cy="365760"/>
          </a:xfrm>
          <a:prstGeom prst="rect">
            <a:avLst/>
          </a:prstGeom>
          <a:noFill/>
        </p:spPr>
        <p:txBody>
          <a:bodyPr wrap="square">
            <a:spAutoFit/>
          </a:bodyPr>
          <a:lstStyle/>
          <a:p>
            <a:pPr>
              <a:spcAft>
                <a:spcPts val="1200"/>
              </a:spcAft>
              <a:defRPr sz="1200" b="1" i="0">
                <a:solidFill>
                  <a:srgbClr val="167D8D"/>
                </a:solidFill>
                <a:latin typeface="Aptos"/>
              </a:defRPr>
            </a:pPr>
            <a:r>
              <a:t>umgesetzt</a:t>
            </a:r>
          </a:p>
        </p:txBody>
      </p:sp>
      <p:sp>
        <p:nvSpPr>
          <p:cNvPr id="18" name="Rounded Rectangle 17"/>
          <p:cNvSpPr/>
          <p:nvPr/>
        </p:nvSpPr>
        <p:spPr>
          <a:xfrm>
            <a:off x="7278624" y="1234440"/>
            <a:ext cx="214884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70064" y="1371600"/>
            <a:ext cx="2011680" cy="457200"/>
          </a:xfrm>
          <a:prstGeom prst="rect">
            <a:avLst/>
          </a:prstGeom>
          <a:noFill/>
        </p:spPr>
        <p:txBody>
          <a:bodyPr wrap="square">
            <a:spAutoFit/>
          </a:bodyPr>
          <a:lstStyle/>
          <a:p>
            <a:pPr>
              <a:spcAft>
                <a:spcPts val="1200"/>
              </a:spcAft>
              <a:defRPr sz="1600" b="1" i="0">
                <a:solidFill>
                  <a:srgbClr val="167D8D"/>
                </a:solidFill>
                <a:latin typeface="Aptos"/>
              </a:defRPr>
            </a:pPr>
            <a:r>
              <a:t>Transformation</a:t>
            </a:r>
          </a:p>
        </p:txBody>
      </p:sp>
      <p:sp>
        <p:nvSpPr>
          <p:cNvPr id="20" name="TextBox 19"/>
          <p:cNvSpPr txBox="1"/>
          <p:nvPr/>
        </p:nvSpPr>
        <p:spPr>
          <a:xfrm>
            <a:off x="7370064" y="1874519"/>
            <a:ext cx="2011680" cy="1737360"/>
          </a:xfrm>
          <a:prstGeom prst="rect">
            <a:avLst/>
          </a:prstGeom>
          <a:noFill/>
        </p:spPr>
        <p:txBody>
          <a:bodyPr wrap="square">
            <a:spAutoFit/>
          </a:bodyPr>
          <a:lstStyle/>
          <a:p>
            <a:pPr>
              <a:spcAft>
                <a:spcPts val="500"/>
              </a:spcAft>
              <a:defRPr sz="1300" b="0" i="0">
                <a:solidFill>
                  <a:srgbClr val="17364A"/>
                </a:solidFill>
                <a:latin typeface="Aptos"/>
              </a:defRPr>
            </a:pPr>
            <a:r>
              <a:t>Bereinigung</a:t>
            </a:r>
          </a:p>
          <a:p>
            <a:pPr>
              <a:spcAft>
                <a:spcPts val="500"/>
              </a:spcAft>
              <a:defRPr sz="1300" b="0" i="0">
                <a:solidFill>
                  <a:srgbClr val="17364A"/>
                </a:solidFill>
                <a:latin typeface="Aptos"/>
              </a:defRPr>
            </a:pPr>
            <a:r>
              <a:t>räumlicher und zeitlicher Join</a:t>
            </a:r>
          </a:p>
          <a:p>
            <a:pPr>
              <a:spcAft>
                <a:spcPts val="500"/>
              </a:spcAft>
              <a:defRPr sz="1300" b="0" i="0">
                <a:solidFill>
                  <a:srgbClr val="17364A"/>
                </a:solidFill>
                <a:latin typeface="Aptos"/>
              </a:defRPr>
            </a:pPr>
            <a:r>
              <a:t>Hypothesentests</a:t>
            </a:r>
          </a:p>
        </p:txBody>
      </p:sp>
      <p:sp>
        <p:nvSpPr>
          <p:cNvPr id="21" name="TextBox 20"/>
          <p:cNvSpPr txBox="1"/>
          <p:nvPr/>
        </p:nvSpPr>
        <p:spPr>
          <a:xfrm>
            <a:off x="7370064" y="3703320"/>
            <a:ext cx="2011680" cy="365760"/>
          </a:xfrm>
          <a:prstGeom prst="rect">
            <a:avLst/>
          </a:prstGeom>
          <a:noFill/>
        </p:spPr>
        <p:txBody>
          <a:bodyPr wrap="square">
            <a:spAutoFit/>
          </a:bodyPr>
          <a:lstStyle/>
          <a:p>
            <a:pPr>
              <a:spcAft>
                <a:spcPts val="1200"/>
              </a:spcAft>
              <a:defRPr sz="1200" b="1" i="0">
                <a:solidFill>
                  <a:srgbClr val="167D8D"/>
                </a:solidFill>
                <a:latin typeface="Aptos"/>
              </a:defRPr>
            </a:pPr>
            <a:r>
              <a:t>umgesetzt</a:t>
            </a:r>
          </a:p>
        </p:txBody>
      </p:sp>
      <p:sp>
        <p:nvSpPr>
          <p:cNvPr id="22" name="Rounded Rectangle 21"/>
          <p:cNvSpPr/>
          <p:nvPr/>
        </p:nvSpPr>
        <p:spPr>
          <a:xfrm>
            <a:off x="9537192" y="1234440"/>
            <a:ext cx="214884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28632" y="1371600"/>
            <a:ext cx="2011680" cy="457200"/>
          </a:xfrm>
          <a:prstGeom prst="rect">
            <a:avLst/>
          </a:prstGeom>
          <a:noFill/>
        </p:spPr>
        <p:txBody>
          <a:bodyPr wrap="square">
            <a:spAutoFit/>
          </a:bodyPr>
          <a:lstStyle/>
          <a:p>
            <a:pPr>
              <a:spcAft>
                <a:spcPts val="1200"/>
              </a:spcAft>
              <a:defRPr sz="1600" b="1" i="0">
                <a:solidFill>
                  <a:srgbClr val="167D8D"/>
                </a:solidFill>
                <a:latin typeface="Aptos"/>
              </a:defRPr>
            </a:pPr>
            <a:r>
              <a:t>Serving</a:t>
            </a:r>
          </a:p>
        </p:txBody>
      </p:sp>
      <p:sp>
        <p:nvSpPr>
          <p:cNvPr id="24" name="TextBox 23"/>
          <p:cNvSpPr txBox="1"/>
          <p:nvPr/>
        </p:nvSpPr>
        <p:spPr>
          <a:xfrm>
            <a:off x="9628632" y="1874519"/>
            <a:ext cx="2011680" cy="1737360"/>
          </a:xfrm>
          <a:prstGeom prst="rect">
            <a:avLst/>
          </a:prstGeom>
          <a:noFill/>
        </p:spPr>
        <p:txBody>
          <a:bodyPr wrap="square">
            <a:spAutoFit/>
          </a:bodyPr>
          <a:lstStyle/>
          <a:p>
            <a:pPr>
              <a:spcAft>
                <a:spcPts val="500"/>
              </a:spcAft>
              <a:defRPr sz="1300" b="0" i="0">
                <a:solidFill>
                  <a:srgbClr val="17364A"/>
                </a:solidFill>
                <a:latin typeface="Aptos"/>
              </a:defRPr>
            </a:pPr>
            <a:r>
              <a:t>Web-Dashboard</a:t>
            </a:r>
          </a:p>
          <a:p>
            <a:pPr>
              <a:spcAft>
                <a:spcPts val="500"/>
              </a:spcAft>
              <a:defRPr sz="1300" b="0" i="0">
                <a:solidFill>
                  <a:srgbClr val="17364A"/>
                </a:solidFill>
                <a:latin typeface="Aptos"/>
              </a:defRPr>
            </a:pPr>
            <a:r>
              <a:t>Karte, Zeitreihen, Wetterfilter</a:t>
            </a:r>
          </a:p>
        </p:txBody>
      </p:sp>
      <p:sp>
        <p:nvSpPr>
          <p:cNvPr id="25" name="TextBox 24"/>
          <p:cNvSpPr txBox="1"/>
          <p:nvPr/>
        </p:nvSpPr>
        <p:spPr>
          <a:xfrm>
            <a:off x="9628632" y="3703320"/>
            <a:ext cx="2011680" cy="365760"/>
          </a:xfrm>
          <a:prstGeom prst="rect">
            <a:avLst/>
          </a:prstGeom>
          <a:noFill/>
        </p:spPr>
        <p:txBody>
          <a:bodyPr wrap="square">
            <a:spAutoFit/>
          </a:bodyPr>
          <a:lstStyle/>
          <a:p>
            <a:pPr>
              <a:spcAft>
                <a:spcPts val="1200"/>
              </a:spcAft>
              <a:defRPr sz="1200" b="1" i="0">
                <a:solidFill>
                  <a:srgbClr val="53616B"/>
                </a:solidFill>
                <a:latin typeface="Aptos"/>
              </a:defRPr>
            </a:pPr>
            <a:r>
              <a:t>Entwurf für Teil 2</a:t>
            </a:r>
          </a:p>
        </p:txBody>
      </p:sp>
      <p:sp>
        <p:nvSpPr>
          <p:cNvPr id="26" name="Rounded Rectangle 25"/>
          <p:cNvSpPr/>
          <p:nvPr/>
        </p:nvSpPr>
        <p:spPr>
          <a:xfrm>
            <a:off x="502920" y="4434840"/>
            <a:ext cx="11155680" cy="914400"/>
          </a:xfrm>
          <a:prstGeom prst="roundRect">
            <a:avLst>
              <a:gd name="adj" fmla="val 6000"/>
            </a:avLst>
          </a:prstGeom>
          <a:solidFill>
            <a:srgbClr val="173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572000"/>
            <a:ext cx="10698480" cy="731520"/>
          </a:xfrm>
          <a:prstGeom prst="rect">
            <a:avLst/>
          </a:prstGeom>
          <a:noFill/>
        </p:spPr>
        <p:txBody>
          <a:bodyPr wrap="square">
            <a:spAutoFit/>
          </a:bodyPr>
          <a:lstStyle/>
          <a:p>
            <a:pPr>
              <a:spcAft>
                <a:spcPts val="1200"/>
              </a:spcAft>
              <a:defRPr sz="1700" b="1" i="0">
                <a:solidFill>
                  <a:srgbClr val="FFFFFF"/>
                </a:solidFill>
                <a:latin typeface="Aptos"/>
              </a:defRPr>
            </a:pPr>
            <a:r>
              <a:t>Unterströmungen: Security · Data Management · DataOps · Data Architecture · Orchestration · Software Engineering</a:t>
            </a:r>
          </a:p>
        </p:txBody>
      </p:sp>
      <p:sp>
        <p:nvSpPr>
          <p:cNvPr id="28" name="TextBox 27"/>
          <p:cNvSpPr txBox="1"/>
          <p:nvPr/>
        </p:nvSpPr>
        <p:spPr>
          <a:xfrm>
            <a:off x="502920" y="5577840"/>
            <a:ext cx="11155680" cy="548640"/>
          </a:xfrm>
          <a:prstGeom prst="rect">
            <a:avLst/>
          </a:prstGeom>
          <a:noFill/>
        </p:spPr>
        <p:txBody>
          <a:bodyPr wrap="square">
            <a:spAutoFit/>
          </a:bodyPr>
          <a:lstStyle/>
          <a:p>
            <a:pPr>
              <a:spcAft>
                <a:spcPts val="1200"/>
              </a:spcAft>
              <a:defRPr sz="1600" b="1" i="0">
                <a:solidFill>
                  <a:srgbClr val="167D8D"/>
                </a:solidFill>
                <a:latin typeface="Aptos"/>
              </a:defRPr>
            </a:pPr>
            <a:r>
              <a:t>Stand: Generation bis Transformation sind umgesetzt, Serving ist der Entwurf für Teil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8" name="Picture 7"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Ist-Daten v2: jeder Halt mit Soll- und Ist-Zeit</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7</a:t>
            </a:r>
          </a:p>
        </p:txBody>
      </p:sp>
      <p:graphicFrame>
        <p:nvGraphicFramePr>
          <p:cNvPr id="6" name="Table 5"/>
          <p:cNvGraphicFramePr>
            <a:graphicFrameLocks noGrp="1"/>
          </p:cNvGraphicFramePr>
          <p:nvPr/>
        </p:nvGraphicFramePr>
        <p:xfrm>
          <a:off x="502920" y="1234440"/>
          <a:ext cx="11155680" cy="2880360"/>
        </p:xfrm>
        <a:graphic>
          <a:graphicData uri="http://schemas.openxmlformats.org/drawingml/2006/table">
            <a:tbl>
              <a:tblPr firstRow="1" bandRow="1">
                <a:tableStyleId>{5C22544A-7EE6-4342-B048-85BDC9FD1C3A}</a:tableStyleId>
              </a:tblPr>
              <a:tblGrid>
                <a:gridCol w="2743200"/>
                <a:gridCol w="8412480"/>
              </a:tblGrid>
              <a:tr h="411480">
                <a:tc>
                  <a:txBody>
                    <a:bodyPr/>
                    <a:lstStyle/>
                    <a:p>
                      <a:pPr>
                        <a:defRPr sz="1700" b="1">
                          <a:solidFill>
                            <a:srgbClr val="FFFFFF"/>
                          </a:solidFill>
                          <a:latin typeface="Aptos"/>
                        </a:defRPr>
                      </a:pPr>
                      <a:r>
                        <a:t>Merkmal</a:t>
                      </a:r>
                    </a:p>
                  </a:txBody>
                  <a:tcPr>
                    <a:solidFill>
                      <a:srgbClr val="17364A"/>
                    </a:solidFill>
                  </a:tcPr>
                </a:tc>
                <a:tc>
                  <a:txBody>
                    <a:bodyPr/>
                    <a:lstStyle/>
                    <a:p>
                      <a:pPr>
                        <a:defRPr sz="1700" b="1">
                          <a:solidFill>
                            <a:srgbClr val="FFFFFF"/>
                          </a:solidFill>
                          <a:latin typeface="Aptos"/>
                        </a:defRPr>
                      </a:pPr>
                      <a:r>
                        <a:t>Befund</a:t>
                      </a:r>
                    </a:p>
                  </a:txBody>
                  <a:tcPr>
                    <a:solidFill>
                      <a:srgbClr val="17364A"/>
                    </a:solidFill>
                  </a:tcPr>
                </a:tc>
              </a:tr>
              <a:tr h="411480">
                <a:tc>
                  <a:txBody>
                    <a:bodyPr/>
                    <a:lstStyle/>
                    <a:p>
                      <a:pPr>
                        <a:defRPr sz="1700" b="0">
                          <a:solidFill>
                            <a:srgbClr val="17364A"/>
                          </a:solidFill>
                          <a:latin typeface="Aptos"/>
                        </a:defRPr>
                      </a:pPr>
                      <a:r>
                        <a:t>Herkunft</a:t>
                      </a:r>
                    </a:p>
                  </a:txBody>
                  <a:tcPr>
                    <a:solidFill>
                      <a:srgbClr val="FFFFFF"/>
                    </a:solidFill>
                  </a:tcPr>
                </a:tc>
                <a:tc>
                  <a:txBody>
                    <a:bodyPr/>
                    <a:lstStyle/>
                    <a:p>
                      <a:pPr>
                        <a:defRPr sz="1700" b="0">
                          <a:solidFill>
                            <a:srgbClr val="17364A"/>
                          </a:solidFill>
                          <a:latin typeface="Aptos"/>
                        </a:defRPr>
                      </a:pPr>
                      <a:r>
                        <a:t>Geschäftsstelle SKI (SBB AG) im Auftrag des BAV, opentransportdata.swiss</a:t>
                      </a:r>
                    </a:p>
                  </a:txBody>
                  <a:tcPr>
                    <a:solidFill>
                      <a:srgbClr val="FFFFFF"/>
                    </a:solidFill>
                  </a:tcPr>
                </a:tc>
              </a:tr>
              <a:tr h="411480">
                <a:tc>
                  <a:txBody>
                    <a:bodyPr/>
                    <a:lstStyle/>
                    <a:p>
                      <a:pPr>
                        <a:defRPr sz="1700" b="0">
                          <a:solidFill>
                            <a:srgbClr val="17364A"/>
                          </a:solidFill>
                          <a:latin typeface="Aptos"/>
                        </a:defRPr>
                      </a:pPr>
                      <a:r>
                        <a:t>Zugang und Lizenz</a:t>
                      </a:r>
                    </a:p>
                  </a:txBody>
                  <a:tcPr>
                    <a:solidFill>
                      <a:srgbClr val="EEF4F6"/>
                    </a:solidFill>
                  </a:tcPr>
                </a:tc>
                <a:tc>
                  <a:txBody>
                    <a:bodyPr/>
                    <a:lstStyle/>
                    <a:p>
                      <a:pPr>
                        <a:defRPr sz="1700" b="0">
                          <a:solidFill>
                            <a:srgbClr val="17364A"/>
                          </a:solidFill>
                          <a:latin typeface="Aptos"/>
                        </a:defRPr>
                      </a:pPr>
                      <a:r>
                        <a:t>Monatsarchiv als Zip, frei ohne Login, Quellenangabe Pflicht</a:t>
                      </a:r>
                    </a:p>
                  </a:txBody>
                  <a:tcPr>
                    <a:solidFill>
                      <a:srgbClr val="EEF4F6"/>
                    </a:solidFill>
                  </a:tcPr>
                </a:tc>
              </a:tr>
              <a:tr h="411480">
                <a:tc>
                  <a:txBody>
                    <a:bodyPr/>
                    <a:lstStyle/>
                    <a:p>
                      <a:pPr>
                        <a:defRPr sz="1700" b="0">
                          <a:solidFill>
                            <a:srgbClr val="17364A"/>
                          </a:solidFill>
                          <a:latin typeface="Aptos"/>
                        </a:defRPr>
                      </a:pPr>
                      <a:r>
                        <a:t>Abdeckung</a:t>
                      </a:r>
                    </a:p>
                  </a:txBody>
                  <a:tcPr>
                    <a:solidFill>
                      <a:srgbClr val="FFFFFF"/>
                    </a:solidFill>
                  </a:tcPr>
                </a:tc>
                <a:tc>
                  <a:txBody>
                    <a:bodyPr/>
                    <a:lstStyle/>
                    <a:p>
                      <a:pPr>
                        <a:defRPr sz="1700" b="0">
                          <a:solidFill>
                            <a:srgbClr val="17364A"/>
                          </a:solidFill>
                          <a:latin typeface="Aptos"/>
                        </a:defRPr>
                      </a:pPr>
                      <a:r>
                        <a:t>v2 ab Juli 2025, 1.1. bis 31.3.2026 vollständig (90 Tage)</a:t>
                      </a:r>
                    </a:p>
                  </a:txBody>
                  <a:tcPr>
                    <a:solidFill>
                      <a:srgbClr val="FFFFFF"/>
                    </a:solidFill>
                  </a:tcPr>
                </a:tc>
              </a:tr>
              <a:tr h="411480">
                <a:tc>
                  <a:txBody>
                    <a:bodyPr/>
                    <a:lstStyle/>
                    <a:p>
                      <a:pPr>
                        <a:defRPr sz="1700" b="0">
                          <a:solidFill>
                            <a:srgbClr val="17364A"/>
                          </a:solidFill>
                          <a:latin typeface="Aptos"/>
                        </a:defRPr>
                      </a:pPr>
                      <a:r>
                        <a:t>Format</a:t>
                      </a:r>
                    </a:p>
                  </a:txBody>
                  <a:tcPr>
                    <a:solidFill>
                      <a:srgbClr val="EEF4F6"/>
                    </a:solidFill>
                  </a:tcPr>
                </a:tc>
                <a:tc>
                  <a:txBody>
                    <a:bodyPr/>
                    <a:lstStyle/>
                    <a:p>
                      <a:pPr>
                        <a:defRPr sz="1700" b="0">
                          <a:solidFill>
                            <a:srgbClr val="17364A"/>
                          </a:solidFill>
                          <a:latin typeface="Aptos"/>
                        </a:defRPr>
                      </a:pPr>
                      <a:r>
                        <a:t>CSV mit Trennzeichen «;», UTF-8, 22 Spalten, eine Datei pro Tag</a:t>
                      </a:r>
                    </a:p>
                  </a:txBody>
                  <a:tcPr>
                    <a:solidFill>
                      <a:srgbClr val="EEF4F6"/>
                    </a:solidFill>
                  </a:tcPr>
                </a:tc>
              </a:tr>
              <a:tr h="411480">
                <a:tc>
                  <a:txBody>
                    <a:bodyPr/>
                    <a:lstStyle/>
                    <a:p>
                      <a:pPr>
                        <a:defRPr sz="1700" b="0">
                          <a:solidFill>
                            <a:srgbClr val="17364A"/>
                          </a:solidFill>
                          <a:latin typeface="Aptos"/>
                        </a:defRPr>
                      </a:pPr>
                      <a:r>
                        <a:t>Grösse</a:t>
                      </a:r>
                    </a:p>
                  </a:txBody>
                  <a:tcPr>
                    <a:solidFill>
                      <a:srgbClr val="FFFFFF"/>
                    </a:solidFill>
                  </a:tcPr>
                </a:tc>
                <a:tc>
                  <a:txBody>
                    <a:bodyPr/>
                    <a:lstStyle/>
                    <a:p>
                      <a:pPr>
                        <a:defRPr sz="1700" b="0">
                          <a:solidFill>
                            <a:srgbClr val="17364A"/>
                          </a:solidFill>
                          <a:latin typeface="Aptos"/>
                        </a:defRPr>
                      </a:pPr>
                      <a:r>
                        <a:t>420 bis 650 MB pro Tag, ca. 2,4 Mio. Zeilen (ganze Schweiz)</a:t>
                      </a:r>
                    </a:p>
                  </a:txBody>
                  <a:tcPr>
                    <a:solidFill>
                      <a:srgbClr val="FFFFFF"/>
                    </a:solidFill>
                  </a:tcPr>
                </a:tc>
              </a:tr>
              <a:tr h="411480">
                <a:tc>
                  <a:txBody>
                    <a:bodyPr/>
                    <a:lstStyle/>
                    <a:p>
                      <a:pPr>
                        <a:defRPr sz="1700" b="0">
                          <a:solidFill>
                            <a:srgbClr val="17364A"/>
                          </a:solidFill>
                          <a:latin typeface="Aptos"/>
                        </a:defRPr>
                      </a:pPr>
                      <a:r>
                        <a:t>Zeitformat</a:t>
                      </a:r>
                    </a:p>
                  </a:txBody>
                  <a:tcPr>
                    <a:solidFill>
                      <a:srgbClr val="EEF4F6"/>
                    </a:solidFill>
                  </a:tcPr>
                </a:tc>
                <a:tc>
                  <a:txBody>
                    <a:bodyPr/>
                    <a:lstStyle/>
                    <a:p>
                      <a:pPr>
                        <a:defRPr sz="1700" b="0">
                          <a:solidFill>
                            <a:srgbClr val="17364A"/>
                          </a:solidFill>
                          <a:latin typeface="Aptos"/>
                        </a:defRPr>
                      </a:pPr>
                      <a:r>
                        <a:t>Lokalzeit ohne Zeitzone, Sommerzeit am 29.3.2026 im Zeitraum</a:t>
                      </a:r>
                    </a:p>
                  </a:txBody>
                  <a:tcPr>
                    <a:solidFill>
                      <a:srgbClr val="EEF4F6"/>
                    </a:solidFill>
                  </a:tcPr>
                </a:tc>
              </a:tr>
            </a:tbl>
          </a:graphicData>
        </a:graphic>
      </p:graphicFrame>
      <p:sp>
        <p:nvSpPr>
          <p:cNvPr id="7" name="TextBox 6"/>
          <p:cNvSpPr txBox="1"/>
          <p:nvPr/>
        </p:nvSpPr>
        <p:spPr>
          <a:xfrm>
            <a:off x="502920" y="4754880"/>
            <a:ext cx="11155680" cy="822960"/>
          </a:xfrm>
          <a:prstGeom prst="rect">
            <a:avLst/>
          </a:prstGeom>
          <a:noFill/>
        </p:spPr>
        <p:txBody>
          <a:bodyPr wrap="square">
            <a:spAutoFit/>
          </a:bodyPr>
          <a:lstStyle/>
          <a:p>
            <a:pPr>
              <a:spcAft>
                <a:spcPts val="1200"/>
              </a:spcAft>
              <a:defRPr sz="1500" b="0">
                <a:solidFill>
                  <a:srgbClr val="53616B"/>
                </a:solidFill>
                <a:latin typeface="Consolas"/>
              </a:defRPr>
            </a:pPr>
            <a:r>
              <a:t>Wichtige Spalten: BETRIEBSTAG, PRODUKT_ID, LINIEN_TEXT, BPUIC, ANKUNFTSZEIT, AN_PROGNOSE, AN_PROGNOSE_STATUS, FAELLT_AUS_TF, DURCHFAHRT_TF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32" name="Picture 31"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Ingestion: ein Tag nach dem anderen, wiederholbar</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8</a:t>
            </a:r>
          </a:p>
        </p:txBody>
      </p:sp>
      <p:sp>
        <p:nvSpPr>
          <p:cNvPr id="6" name="Rounded Rectangle 5"/>
          <p:cNvSpPr/>
          <p:nvPr/>
        </p:nvSpPr>
        <p:spPr>
          <a:xfrm>
            <a:off x="502920" y="1280160"/>
            <a:ext cx="192024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417320"/>
            <a:ext cx="1737360" cy="457200"/>
          </a:xfrm>
          <a:prstGeom prst="rect">
            <a:avLst/>
          </a:prstGeom>
          <a:noFill/>
        </p:spPr>
        <p:txBody>
          <a:bodyPr wrap="square">
            <a:spAutoFit/>
          </a:bodyPr>
          <a:lstStyle/>
          <a:p>
            <a:pPr>
              <a:spcAft>
                <a:spcPts val="1200"/>
              </a:spcAft>
              <a:defRPr sz="1800" b="1">
                <a:solidFill>
                  <a:srgbClr val="167D8D"/>
                </a:solidFill>
                <a:latin typeface="Aptos"/>
              </a:defRPr>
            </a:pPr>
            <a:r>
              <a:t>1 Laden</a:t>
            </a:r>
          </a:p>
        </p:txBody>
      </p:sp>
      <p:sp>
        <p:nvSpPr>
          <p:cNvPr id="8" name="TextBox 7"/>
          <p:cNvSpPr txBox="1"/>
          <p:nvPr/>
        </p:nvSpPr>
        <p:spPr>
          <a:xfrm>
            <a:off x="612648" y="1920240"/>
            <a:ext cx="1737360" cy="1005840"/>
          </a:xfrm>
          <a:prstGeom prst="rect">
            <a:avLst/>
          </a:prstGeom>
          <a:noFill/>
        </p:spPr>
        <p:txBody>
          <a:bodyPr wrap="square">
            <a:spAutoFit/>
          </a:bodyPr>
          <a:lstStyle/>
          <a:p>
            <a:pPr>
              <a:spcAft>
                <a:spcPts val="400"/>
              </a:spcAft>
              <a:defRPr sz="1400" b="0">
                <a:solidFill>
                  <a:srgbClr val="17364A"/>
                </a:solidFill>
                <a:latin typeface="Aptos"/>
              </a:defRPr>
            </a:pPr>
            <a:r>
              <a:t>Monats-Zip aus dem Archiv, mit Wiederholung</a:t>
            </a:r>
          </a:p>
        </p:txBody>
      </p:sp>
      <p:cxnSp>
        <p:nvCxnSpPr>
          <p:cNvPr id="9" name="Connector 8"/>
          <p:cNvCxnSpPr/>
          <p:nvPr/>
        </p:nvCxnSpPr>
        <p:spPr>
          <a:xfrm>
            <a:off x="2441448" y="2148840"/>
            <a:ext cx="329184"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788920" y="1280160"/>
            <a:ext cx="192024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98648" y="1417320"/>
            <a:ext cx="1737360" cy="457200"/>
          </a:xfrm>
          <a:prstGeom prst="rect">
            <a:avLst/>
          </a:prstGeom>
          <a:noFill/>
        </p:spPr>
        <p:txBody>
          <a:bodyPr wrap="square">
            <a:spAutoFit/>
          </a:bodyPr>
          <a:lstStyle/>
          <a:p>
            <a:pPr>
              <a:spcAft>
                <a:spcPts val="1200"/>
              </a:spcAft>
              <a:defRPr sz="1800" b="1">
                <a:solidFill>
                  <a:srgbClr val="167D8D"/>
                </a:solidFill>
                <a:latin typeface="Aptos"/>
              </a:defRPr>
            </a:pPr>
            <a:r>
              <a:t>2 Lesen</a:t>
            </a:r>
          </a:p>
        </p:txBody>
      </p:sp>
      <p:sp>
        <p:nvSpPr>
          <p:cNvPr id="12" name="TextBox 11"/>
          <p:cNvSpPr txBox="1"/>
          <p:nvPr/>
        </p:nvSpPr>
        <p:spPr>
          <a:xfrm>
            <a:off x="2898648" y="1920240"/>
            <a:ext cx="1737360" cy="1005840"/>
          </a:xfrm>
          <a:prstGeom prst="rect">
            <a:avLst/>
          </a:prstGeom>
          <a:noFill/>
        </p:spPr>
        <p:txBody>
          <a:bodyPr wrap="square">
            <a:spAutoFit/>
          </a:bodyPr>
          <a:lstStyle/>
          <a:p>
            <a:pPr>
              <a:spcAft>
                <a:spcPts val="400"/>
              </a:spcAft>
              <a:defRPr sz="1400" b="0">
                <a:solidFill>
                  <a:srgbClr val="17364A"/>
                </a:solidFill>
                <a:latin typeface="Aptos"/>
              </a:defRPr>
            </a:pPr>
            <a:r>
              <a:t>Tagesdatei streamend mit DuckDB</a:t>
            </a:r>
          </a:p>
        </p:txBody>
      </p:sp>
      <p:cxnSp>
        <p:nvCxnSpPr>
          <p:cNvPr id="13" name="Connector 12"/>
          <p:cNvCxnSpPr/>
          <p:nvPr/>
        </p:nvCxnSpPr>
        <p:spPr>
          <a:xfrm>
            <a:off x="4727448" y="2148840"/>
            <a:ext cx="329183"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74920" y="1280160"/>
            <a:ext cx="192024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84648" y="1417320"/>
            <a:ext cx="1737360" cy="457200"/>
          </a:xfrm>
          <a:prstGeom prst="rect">
            <a:avLst/>
          </a:prstGeom>
          <a:noFill/>
        </p:spPr>
        <p:txBody>
          <a:bodyPr wrap="square">
            <a:spAutoFit/>
          </a:bodyPr>
          <a:lstStyle/>
          <a:p>
            <a:pPr>
              <a:spcAft>
                <a:spcPts val="1200"/>
              </a:spcAft>
              <a:defRPr sz="1800" b="1">
                <a:solidFill>
                  <a:srgbClr val="167D8D"/>
                </a:solidFill>
                <a:latin typeface="Aptos"/>
              </a:defRPr>
            </a:pPr>
            <a:r>
              <a:t>3 Filtern</a:t>
            </a:r>
          </a:p>
        </p:txBody>
      </p:sp>
      <p:sp>
        <p:nvSpPr>
          <p:cNvPr id="16" name="TextBox 15"/>
          <p:cNvSpPr txBox="1"/>
          <p:nvPr/>
        </p:nvSpPr>
        <p:spPr>
          <a:xfrm>
            <a:off x="5184648" y="1920240"/>
            <a:ext cx="1737360" cy="1005840"/>
          </a:xfrm>
          <a:prstGeom prst="rect">
            <a:avLst/>
          </a:prstGeom>
          <a:noFill/>
        </p:spPr>
        <p:txBody>
          <a:bodyPr wrap="square">
            <a:spAutoFit/>
          </a:bodyPr>
          <a:lstStyle/>
          <a:p>
            <a:pPr>
              <a:spcAft>
                <a:spcPts val="400"/>
              </a:spcAft>
              <a:defRPr sz="1400" b="0">
                <a:solidFill>
                  <a:srgbClr val="17364A"/>
                </a:solidFill>
                <a:latin typeface="Aptos"/>
              </a:defRPr>
            </a:pPr>
            <a:r>
              <a:t>Bahn und Bus, 2587 Haltestellen</a:t>
            </a:r>
          </a:p>
        </p:txBody>
      </p:sp>
      <p:cxnSp>
        <p:nvCxnSpPr>
          <p:cNvPr id="17" name="Connector 16"/>
          <p:cNvCxnSpPr/>
          <p:nvPr/>
        </p:nvCxnSpPr>
        <p:spPr>
          <a:xfrm>
            <a:off x="7013448" y="2148840"/>
            <a:ext cx="329183"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60920" y="1280160"/>
            <a:ext cx="192024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70648" y="1417320"/>
            <a:ext cx="1737360" cy="457200"/>
          </a:xfrm>
          <a:prstGeom prst="rect">
            <a:avLst/>
          </a:prstGeom>
          <a:noFill/>
        </p:spPr>
        <p:txBody>
          <a:bodyPr wrap="square">
            <a:spAutoFit/>
          </a:bodyPr>
          <a:lstStyle/>
          <a:p>
            <a:pPr>
              <a:spcAft>
                <a:spcPts val="1200"/>
              </a:spcAft>
              <a:defRPr sz="1800" b="1">
                <a:solidFill>
                  <a:srgbClr val="167D8D"/>
                </a:solidFill>
                <a:latin typeface="Aptos"/>
              </a:defRPr>
            </a:pPr>
            <a:r>
              <a:t>4 Ablegen</a:t>
            </a:r>
          </a:p>
        </p:txBody>
      </p:sp>
      <p:sp>
        <p:nvSpPr>
          <p:cNvPr id="20" name="TextBox 19"/>
          <p:cNvSpPr txBox="1"/>
          <p:nvPr/>
        </p:nvSpPr>
        <p:spPr>
          <a:xfrm>
            <a:off x="7470648" y="1920240"/>
            <a:ext cx="1737360" cy="1005840"/>
          </a:xfrm>
          <a:prstGeom prst="rect">
            <a:avLst/>
          </a:prstGeom>
          <a:noFill/>
        </p:spPr>
        <p:txBody>
          <a:bodyPr wrap="square">
            <a:spAutoFit/>
          </a:bodyPr>
          <a:lstStyle/>
          <a:p>
            <a:pPr>
              <a:spcAft>
                <a:spcPts val="400"/>
              </a:spcAft>
              <a:defRPr sz="1400" b="0">
                <a:solidFill>
                  <a:srgbClr val="17364A"/>
                </a:solidFill>
                <a:latin typeface="Aptos"/>
              </a:defRPr>
            </a:pPr>
            <a:r>
              <a:t>gefilterte Rohdaten als CSV</a:t>
            </a:r>
          </a:p>
        </p:txBody>
      </p:sp>
      <p:cxnSp>
        <p:nvCxnSpPr>
          <p:cNvPr id="21" name="Connector 20"/>
          <p:cNvCxnSpPr/>
          <p:nvPr/>
        </p:nvCxnSpPr>
        <p:spPr>
          <a:xfrm>
            <a:off x="9299448" y="2148840"/>
            <a:ext cx="329184"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646920" y="1280160"/>
            <a:ext cx="1920240" cy="1737360"/>
          </a:xfrm>
          <a:prstGeom prst="roundRect">
            <a:avLst>
              <a:gd name="adj" fmla="val 6000"/>
            </a:avLst>
          </a:prstGeom>
          <a:solidFill>
            <a:srgbClr val="173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56648" y="1417320"/>
            <a:ext cx="1737360" cy="457200"/>
          </a:xfrm>
          <a:prstGeom prst="rect">
            <a:avLst/>
          </a:prstGeom>
          <a:noFill/>
        </p:spPr>
        <p:txBody>
          <a:bodyPr wrap="square">
            <a:spAutoFit/>
          </a:bodyPr>
          <a:lstStyle/>
          <a:p>
            <a:pPr>
              <a:spcAft>
                <a:spcPts val="1200"/>
              </a:spcAft>
              <a:defRPr sz="1800" b="1">
                <a:solidFill>
                  <a:srgbClr val="FFFFFF"/>
                </a:solidFill>
                <a:latin typeface="Aptos"/>
              </a:defRPr>
            </a:pPr>
            <a:r>
              <a:t>5 Speichern</a:t>
            </a:r>
          </a:p>
        </p:txBody>
      </p:sp>
      <p:sp>
        <p:nvSpPr>
          <p:cNvPr id="24" name="TextBox 23"/>
          <p:cNvSpPr txBox="1"/>
          <p:nvPr/>
        </p:nvSpPr>
        <p:spPr>
          <a:xfrm>
            <a:off x="9756648" y="1920240"/>
            <a:ext cx="1737360" cy="1005840"/>
          </a:xfrm>
          <a:prstGeom prst="rect">
            <a:avLst/>
          </a:prstGeom>
          <a:noFill/>
        </p:spPr>
        <p:txBody>
          <a:bodyPr wrap="square">
            <a:spAutoFit/>
          </a:bodyPr>
          <a:lstStyle/>
          <a:p>
            <a:pPr>
              <a:spcAft>
                <a:spcPts val="400"/>
              </a:spcAft>
              <a:defRPr sz="1400" b="0">
                <a:solidFill>
                  <a:srgbClr val="FFFFFF"/>
                </a:solidFill>
                <a:latin typeface="Aptos"/>
              </a:defRPr>
            </a:pPr>
            <a:r>
              <a:t>Tag in DuckDB ersetzen, eine Transaktion</a:t>
            </a:r>
          </a:p>
        </p:txBody>
      </p:sp>
      <p:sp>
        <p:nvSpPr>
          <p:cNvPr id="25" name="TextBox 24"/>
          <p:cNvSpPr txBox="1"/>
          <p:nvPr/>
        </p:nvSpPr>
        <p:spPr>
          <a:xfrm>
            <a:off x="502920" y="3429000"/>
            <a:ext cx="3566160" cy="457200"/>
          </a:xfrm>
          <a:prstGeom prst="rect">
            <a:avLst/>
          </a:prstGeom>
          <a:noFill/>
        </p:spPr>
        <p:txBody>
          <a:bodyPr wrap="square">
            <a:spAutoFit/>
          </a:bodyPr>
          <a:lstStyle/>
          <a:p>
            <a:pPr>
              <a:spcAft>
                <a:spcPts val="1200"/>
              </a:spcAft>
              <a:defRPr sz="2000" b="1">
                <a:solidFill>
                  <a:srgbClr val="167D8D"/>
                </a:solidFill>
                <a:latin typeface="Aptos"/>
              </a:defRPr>
            </a:pPr>
            <a:r>
              <a:t>Idempotent</a:t>
            </a:r>
          </a:p>
        </p:txBody>
      </p:sp>
      <p:sp>
        <p:nvSpPr>
          <p:cNvPr id="26" name="TextBox 25"/>
          <p:cNvSpPr txBox="1"/>
          <p:nvPr/>
        </p:nvSpPr>
        <p:spPr>
          <a:xfrm>
            <a:off x="502920" y="3931920"/>
            <a:ext cx="3566160" cy="1280160"/>
          </a:xfrm>
          <a:prstGeom prst="rect">
            <a:avLst/>
          </a:prstGeom>
          <a:noFill/>
        </p:spPr>
        <p:txBody>
          <a:bodyPr wrap="square">
            <a:spAutoFit/>
          </a:bodyPr>
          <a:lstStyle/>
          <a:p>
            <a:pPr>
              <a:spcAft>
                <a:spcPts val="1200"/>
              </a:spcAft>
              <a:defRPr sz="1600" b="0">
                <a:solidFill>
                  <a:srgbClr val="17364A"/>
                </a:solidFill>
                <a:latin typeface="Aptos"/>
              </a:defRPr>
            </a:pPr>
            <a:r>
              <a:t>Geladene Tage werden übersprungen, ein neuer Lauf erzeugt keine Duplikate.</a:t>
            </a:r>
          </a:p>
        </p:txBody>
      </p:sp>
      <p:sp>
        <p:nvSpPr>
          <p:cNvPr id="27" name="TextBox 26"/>
          <p:cNvSpPr txBox="1"/>
          <p:nvPr/>
        </p:nvSpPr>
        <p:spPr>
          <a:xfrm>
            <a:off x="4297680" y="3429000"/>
            <a:ext cx="3566160" cy="457200"/>
          </a:xfrm>
          <a:prstGeom prst="rect">
            <a:avLst/>
          </a:prstGeom>
          <a:noFill/>
        </p:spPr>
        <p:txBody>
          <a:bodyPr wrap="square">
            <a:spAutoFit/>
          </a:bodyPr>
          <a:lstStyle/>
          <a:p>
            <a:pPr>
              <a:spcAft>
                <a:spcPts val="1200"/>
              </a:spcAft>
              <a:defRPr sz="2000" b="1">
                <a:solidFill>
                  <a:srgbClr val="167D8D"/>
                </a:solidFill>
                <a:latin typeface="Aptos"/>
              </a:defRPr>
            </a:pPr>
            <a:r>
              <a:t>Protokolliert</a:t>
            </a:r>
          </a:p>
        </p:txBody>
      </p:sp>
      <p:sp>
        <p:nvSpPr>
          <p:cNvPr id="28" name="TextBox 27"/>
          <p:cNvSpPr txBox="1"/>
          <p:nvPr/>
        </p:nvSpPr>
        <p:spPr>
          <a:xfrm>
            <a:off x="4297680" y="3931920"/>
            <a:ext cx="3566160" cy="1280160"/>
          </a:xfrm>
          <a:prstGeom prst="rect">
            <a:avLst/>
          </a:prstGeom>
          <a:noFill/>
        </p:spPr>
        <p:txBody>
          <a:bodyPr wrap="square">
            <a:spAutoFit/>
          </a:bodyPr>
          <a:lstStyle/>
          <a:p>
            <a:pPr>
              <a:spcAft>
                <a:spcPts val="1200"/>
              </a:spcAft>
              <a:defRPr sz="1600" b="0">
                <a:solidFill>
                  <a:srgbClr val="17364A"/>
                </a:solidFill>
                <a:latin typeface="Aptos"/>
              </a:defRPr>
            </a:pPr>
            <a:r>
              <a:t>Pro Tag Zeilen vor und nach dem Filter, Dauer und Fehler in Logfile und Tabelle ingest_log.</a:t>
            </a:r>
          </a:p>
        </p:txBody>
      </p:sp>
      <p:sp>
        <p:nvSpPr>
          <p:cNvPr id="29" name="TextBox 28"/>
          <p:cNvSpPr txBox="1"/>
          <p:nvPr/>
        </p:nvSpPr>
        <p:spPr>
          <a:xfrm>
            <a:off x="8092440" y="3429000"/>
            <a:ext cx="3566160" cy="457200"/>
          </a:xfrm>
          <a:prstGeom prst="rect">
            <a:avLst/>
          </a:prstGeom>
          <a:noFill/>
        </p:spPr>
        <p:txBody>
          <a:bodyPr wrap="square">
            <a:spAutoFit/>
          </a:bodyPr>
          <a:lstStyle/>
          <a:p>
            <a:pPr>
              <a:spcAft>
                <a:spcPts val="1200"/>
              </a:spcAft>
              <a:defRPr sz="2000" b="1">
                <a:solidFill>
                  <a:srgbClr val="167D8D"/>
                </a:solidFill>
                <a:latin typeface="Aptos"/>
              </a:defRPr>
            </a:pPr>
            <a:r>
              <a:t>Zeitzonen-sicher</a:t>
            </a:r>
          </a:p>
        </p:txBody>
      </p:sp>
      <p:sp>
        <p:nvSpPr>
          <p:cNvPr id="30" name="TextBox 29"/>
          <p:cNvSpPr txBox="1"/>
          <p:nvPr/>
        </p:nvSpPr>
        <p:spPr>
          <a:xfrm>
            <a:off x="8092440" y="3931920"/>
            <a:ext cx="3566160" cy="1280160"/>
          </a:xfrm>
          <a:prstGeom prst="rect">
            <a:avLst/>
          </a:prstGeom>
          <a:noFill/>
        </p:spPr>
        <p:txBody>
          <a:bodyPr wrap="square">
            <a:spAutoFit/>
          </a:bodyPr>
          <a:lstStyle/>
          <a:p>
            <a:pPr>
              <a:spcAft>
                <a:spcPts val="1200"/>
              </a:spcAft>
              <a:defRPr sz="1600" b="0">
                <a:solidFill>
                  <a:srgbClr val="17364A"/>
                </a:solidFill>
                <a:latin typeface="Aptos"/>
              </a:defRPr>
            </a:pPr>
            <a:r>
              <a:t>Alle Zeiten als TIMESTAMPTZ (ISO 8601 mit Zeitzone), Sommerzeit korrekt.</a:t>
            </a:r>
          </a:p>
        </p:txBody>
      </p:sp>
      <p:sp>
        <p:nvSpPr>
          <p:cNvPr id="31" name="TextBox 30"/>
          <p:cNvSpPr txBox="1"/>
          <p:nvPr/>
        </p:nvSpPr>
        <p:spPr>
          <a:xfrm>
            <a:off x="502920" y="5577840"/>
            <a:ext cx="11155680" cy="457200"/>
          </a:xfrm>
          <a:prstGeom prst="rect">
            <a:avLst/>
          </a:prstGeom>
          <a:noFill/>
        </p:spPr>
        <p:txBody>
          <a:bodyPr wrap="square">
            <a:spAutoFit/>
          </a:bodyPr>
          <a:lstStyle/>
          <a:p>
            <a:pPr>
              <a:spcAft>
                <a:spcPts val="1200"/>
              </a:spcAft>
              <a:defRPr sz="1300" b="0">
                <a:solidFill>
                  <a:srgbClr val="53616B"/>
                </a:solidFill>
                <a:latin typeface="Consolas"/>
              </a:defRPr>
            </a:pPr>
            <a:r>
              <a:t>python src/ingest_istdaten.py --start 2026-01-01 --end 2026-03-31 --stops data/stammdaten/haltestellen_ostschweiz.csv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19" name="Picture 18"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Von 215 Mio. auf 17 Mio. Zeilen</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9</a:t>
            </a:r>
          </a:p>
        </p:txBody>
      </p:sp>
      <p:sp>
        <p:nvSpPr>
          <p:cNvPr id="6" name="Rounded Rectangle 5"/>
          <p:cNvSpPr/>
          <p:nvPr/>
        </p:nvSpPr>
        <p:spPr>
          <a:xfrm>
            <a:off x="502920" y="1234440"/>
            <a:ext cx="3611880" cy="18288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3200400" cy="822960"/>
          </a:xfrm>
          <a:prstGeom prst="rect">
            <a:avLst/>
          </a:prstGeom>
          <a:noFill/>
        </p:spPr>
        <p:txBody>
          <a:bodyPr wrap="square">
            <a:spAutoFit/>
          </a:bodyPr>
          <a:lstStyle/>
          <a:p>
            <a:pPr>
              <a:spcAft>
                <a:spcPts val="1200"/>
              </a:spcAft>
              <a:defRPr sz="4000" b="1">
                <a:solidFill>
                  <a:srgbClr val="17364A"/>
                </a:solidFill>
                <a:latin typeface="Aptos"/>
              </a:defRPr>
            </a:pPr>
            <a:r>
              <a:t>215 Mio.</a:t>
            </a:r>
          </a:p>
        </p:txBody>
      </p:sp>
      <p:sp>
        <p:nvSpPr>
          <p:cNvPr id="8" name="TextBox 7"/>
          <p:cNvSpPr txBox="1"/>
          <p:nvPr/>
        </p:nvSpPr>
        <p:spPr>
          <a:xfrm>
            <a:off x="731520" y="2240280"/>
            <a:ext cx="3200400" cy="731520"/>
          </a:xfrm>
          <a:prstGeom prst="rect">
            <a:avLst/>
          </a:prstGeom>
          <a:noFill/>
        </p:spPr>
        <p:txBody>
          <a:bodyPr wrap="square">
            <a:spAutoFit/>
          </a:bodyPr>
          <a:lstStyle/>
          <a:p>
            <a:pPr>
              <a:spcAft>
                <a:spcPts val="1200"/>
              </a:spcAft>
              <a:defRPr sz="1600" b="0">
                <a:solidFill>
                  <a:srgbClr val="53616B"/>
                </a:solidFill>
                <a:latin typeface="Aptos"/>
              </a:defRPr>
            </a:pPr>
            <a:r>
              <a:t>Zeilen roh, 90 Tage, ganze Schweiz</a:t>
            </a:r>
          </a:p>
        </p:txBody>
      </p:sp>
      <p:sp>
        <p:nvSpPr>
          <p:cNvPr id="9" name="Rounded Rectangle 8"/>
          <p:cNvSpPr/>
          <p:nvPr/>
        </p:nvSpPr>
        <p:spPr>
          <a:xfrm>
            <a:off x="4297680" y="1234440"/>
            <a:ext cx="3611880" cy="182880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371600"/>
            <a:ext cx="3200400" cy="822960"/>
          </a:xfrm>
          <a:prstGeom prst="rect">
            <a:avLst/>
          </a:prstGeom>
          <a:noFill/>
        </p:spPr>
        <p:txBody>
          <a:bodyPr wrap="square">
            <a:spAutoFit/>
          </a:bodyPr>
          <a:lstStyle/>
          <a:p>
            <a:pPr>
              <a:spcAft>
                <a:spcPts val="1200"/>
              </a:spcAft>
              <a:defRPr sz="4000" b="1">
                <a:solidFill>
                  <a:srgbClr val="17364A"/>
                </a:solidFill>
                <a:latin typeface="Aptos"/>
              </a:defRPr>
            </a:pPr>
            <a:r>
              <a:t>2587</a:t>
            </a:r>
          </a:p>
        </p:txBody>
      </p:sp>
      <p:sp>
        <p:nvSpPr>
          <p:cNvPr id="11" name="TextBox 10"/>
          <p:cNvSpPr txBox="1"/>
          <p:nvPr/>
        </p:nvSpPr>
        <p:spPr>
          <a:xfrm>
            <a:off x="4526280" y="2240280"/>
            <a:ext cx="3200400" cy="731520"/>
          </a:xfrm>
          <a:prstGeom prst="rect">
            <a:avLst/>
          </a:prstGeom>
          <a:noFill/>
        </p:spPr>
        <p:txBody>
          <a:bodyPr wrap="square">
            <a:spAutoFit/>
          </a:bodyPr>
          <a:lstStyle/>
          <a:p>
            <a:pPr>
              <a:spcAft>
                <a:spcPts val="1200"/>
              </a:spcAft>
              <a:defRPr sz="1600" b="0">
                <a:solidFill>
                  <a:srgbClr val="53616B"/>
                </a:solidFill>
                <a:latin typeface="Aptos"/>
              </a:defRPr>
            </a:pPr>
            <a:r>
              <a:t>Haltestellen in SG, TG, AR und AI</a:t>
            </a:r>
          </a:p>
        </p:txBody>
      </p:sp>
      <p:sp>
        <p:nvSpPr>
          <p:cNvPr id="12" name="Rounded Rectangle 11"/>
          <p:cNvSpPr/>
          <p:nvPr/>
        </p:nvSpPr>
        <p:spPr>
          <a:xfrm>
            <a:off x="8092440" y="1234440"/>
            <a:ext cx="3611880" cy="1828800"/>
          </a:xfrm>
          <a:prstGeom prst="roundRect">
            <a:avLst>
              <a:gd name="adj" fmla="val 6000"/>
            </a:avLst>
          </a:prstGeom>
          <a:solidFill>
            <a:srgbClr val="173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371600"/>
            <a:ext cx="3200400" cy="822960"/>
          </a:xfrm>
          <a:prstGeom prst="rect">
            <a:avLst/>
          </a:prstGeom>
          <a:noFill/>
        </p:spPr>
        <p:txBody>
          <a:bodyPr wrap="square">
            <a:spAutoFit/>
          </a:bodyPr>
          <a:lstStyle/>
          <a:p>
            <a:pPr>
              <a:spcAft>
                <a:spcPts val="1200"/>
              </a:spcAft>
              <a:defRPr sz="4000" b="1">
                <a:solidFill>
                  <a:srgbClr val="FFFFFF"/>
                </a:solidFill>
                <a:latin typeface="Aptos"/>
              </a:defRPr>
            </a:pPr>
            <a:r>
              <a:t>17,07 Mio.</a:t>
            </a:r>
          </a:p>
        </p:txBody>
      </p:sp>
      <p:sp>
        <p:nvSpPr>
          <p:cNvPr id="14" name="TextBox 13"/>
          <p:cNvSpPr txBox="1"/>
          <p:nvPr/>
        </p:nvSpPr>
        <p:spPr>
          <a:xfrm>
            <a:off x="8321040" y="2240280"/>
            <a:ext cx="3200400" cy="731520"/>
          </a:xfrm>
          <a:prstGeom prst="rect">
            <a:avLst/>
          </a:prstGeom>
          <a:noFill/>
        </p:spPr>
        <p:txBody>
          <a:bodyPr wrap="square">
            <a:spAutoFit/>
          </a:bodyPr>
          <a:lstStyle/>
          <a:p>
            <a:pPr>
              <a:spcAft>
                <a:spcPts val="1200"/>
              </a:spcAft>
              <a:defRPr sz="1600" b="0">
                <a:solidFill>
                  <a:srgbClr val="FFFFFF"/>
                </a:solidFill>
                <a:latin typeface="Aptos"/>
              </a:defRPr>
            </a:pPr>
            <a:r>
              <a:t>Halte in der Datenbank (Bahn 1,75, Bus 15,32)</a:t>
            </a:r>
          </a:p>
        </p:txBody>
      </p:sp>
      <p:sp>
        <p:nvSpPr>
          <p:cNvPr id="15" name="TextBox 14"/>
          <p:cNvSpPr txBox="1"/>
          <p:nvPr/>
        </p:nvSpPr>
        <p:spPr>
          <a:xfrm>
            <a:off x="502920" y="3291840"/>
            <a:ext cx="5486400" cy="457200"/>
          </a:xfrm>
          <a:prstGeom prst="rect">
            <a:avLst/>
          </a:prstGeom>
          <a:noFill/>
        </p:spPr>
        <p:txBody>
          <a:bodyPr wrap="square">
            <a:spAutoFit/>
          </a:bodyPr>
          <a:lstStyle/>
          <a:p>
            <a:pPr>
              <a:spcAft>
                <a:spcPts val="1200"/>
              </a:spcAft>
              <a:defRPr sz="2000" b="1">
                <a:solidFill>
                  <a:srgbClr val="167D8D"/>
                </a:solidFill>
                <a:latin typeface="Aptos"/>
              </a:defRPr>
            </a:pPr>
            <a:r>
              <a:t>Beim Laden bereinigt</a:t>
            </a:r>
          </a:p>
        </p:txBody>
      </p:sp>
      <p:sp>
        <p:nvSpPr>
          <p:cNvPr id="16" name="TextBox 15"/>
          <p:cNvSpPr txBox="1"/>
          <p:nvPr/>
        </p:nvSpPr>
        <p:spPr>
          <a:xfrm>
            <a:off x="502920" y="3794760"/>
            <a:ext cx="5486400" cy="2011680"/>
          </a:xfrm>
          <a:prstGeom prst="rect">
            <a:avLst/>
          </a:prstGeom>
          <a:noFill/>
        </p:spPr>
        <p:txBody>
          <a:bodyPr wrap="square">
            <a:spAutoFit/>
          </a:bodyPr>
          <a:lstStyle/>
          <a:p>
            <a:pPr>
              <a:spcAft>
                <a:spcPts val="600"/>
              </a:spcAft>
              <a:defRPr sz="1600" b="0">
                <a:solidFill>
                  <a:srgbClr val="17364A"/>
                </a:solidFill>
                <a:latin typeface="Aptos"/>
              </a:defRPr>
            </a:pPr>
            <a:r>
              <a:t>• Exakte Duplikate entfernt, gemessener Wert vor Prognose</a:t>
            </a:r>
          </a:p>
          <a:p>
            <a:pPr>
              <a:spcAft>
                <a:spcPts val="600"/>
              </a:spcAft>
              <a:defRPr sz="1600" b="0">
                <a:solidFill>
                  <a:srgbClr val="17364A"/>
                </a:solidFill>
                <a:latin typeface="Aptos"/>
              </a:defRPr>
            </a:pPr>
            <a:r>
              <a:t>• 9-stellige BPUIC auf die 7-stellige Haltestelle gekürzt</a:t>
            </a:r>
          </a:p>
          <a:p>
            <a:pPr>
              <a:spcAft>
                <a:spcPts val="600"/>
              </a:spcAft>
              <a:defRPr sz="1600" b="0">
                <a:solidFill>
                  <a:srgbClr val="17364A"/>
                </a:solidFill>
                <a:latin typeface="Aptos"/>
              </a:defRPr>
            </a:pPr>
            <a:r>
              <a:t>• Lokalzeit in TIMESTAMPTZ (Europe/Zurich) umgewandelt</a:t>
            </a:r>
          </a:p>
        </p:txBody>
      </p:sp>
      <p:sp>
        <p:nvSpPr>
          <p:cNvPr id="17" name="TextBox 16"/>
          <p:cNvSpPr txBox="1"/>
          <p:nvPr/>
        </p:nvSpPr>
        <p:spPr>
          <a:xfrm>
            <a:off x="6263640" y="3291840"/>
            <a:ext cx="5486400" cy="457200"/>
          </a:xfrm>
          <a:prstGeom prst="rect">
            <a:avLst/>
          </a:prstGeom>
          <a:noFill/>
        </p:spPr>
        <p:txBody>
          <a:bodyPr wrap="square">
            <a:spAutoFit/>
          </a:bodyPr>
          <a:lstStyle/>
          <a:p>
            <a:pPr>
              <a:spcAft>
                <a:spcPts val="1200"/>
              </a:spcAft>
              <a:defRPr sz="2000" b="1">
                <a:solidFill>
                  <a:srgbClr val="167D8D"/>
                </a:solidFill>
                <a:latin typeface="Aptos"/>
              </a:defRPr>
            </a:pPr>
            <a:r>
              <a:t>Offengelegt für Paket C</a:t>
            </a:r>
          </a:p>
        </p:txBody>
      </p:sp>
      <p:sp>
        <p:nvSpPr>
          <p:cNvPr id="18" name="TextBox 17"/>
          <p:cNvSpPr txBox="1"/>
          <p:nvPr/>
        </p:nvSpPr>
        <p:spPr>
          <a:xfrm>
            <a:off x="6263640" y="3794760"/>
            <a:ext cx="5486400" cy="2011680"/>
          </a:xfrm>
          <a:prstGeom prst="rect">
            <a:avLst/>
          </a:prstGeom>
          <a:noFill/>
        </p:spPr>
        <p:txBody>
          <a:bodyPr wrap="square">
            <a:spAutoFit/>
          </a:bodyPr>
          <a:lstStyle/>
          <a:p>
            <a:pPr>
              <a:spcAft>
                <a:spcPts val="600"/>
              </a:spcAft>
              <a:defRPr sz="1600" b="0">
                <a:solidFill>
                  <a:srgbClr val="17364A"/>
                </a:solidFill>
                <a:latin typeface="Aptos"/>
              </a:defRPr>
            </a:pPr>
            <a:r>
              <a:t>• Ankunft echt gemessen (REAL): Bahn 89,7 %, Bus 65,9 %</a:t>
            </a:r>
          </a:p>
          <a:p>
            <a:pPr>
              <a:spcAft>
                <a:spcPts val="600"/>
              </a:spcAft>
              <a:defRPr sz="1600" b="0">
                <a:solidFill>
                  <a:srgbClr val="17364A"/>
                </a:solidFill>
                <a:latin typeface="Aptos"/>
              </a:defRPr>
            </a:pPr>
            <a:r>
              <a:t>• Unplausible Ist-Zeiten (z. B. genau 1 Tag daneben) bleiben roh</a:t>
            </a:r>
          </a:p>
          <a:p>
            <a:pPr>
              <a:spcAft>
                <a:spcPts val="600"/>
              </a:spcAft>
              <a:defRPr sz="1600" b="0">
                <a:solidFill>
                  <a:srgbClr val="17364A"/>
                </a:solidFill>
                <a:latin typeface="Aptos"/>
              </a:defRPr>
            </a:pPr>
            <a:r>
              <a:t>• Status jeder Zeit (REAL, PROGNOSE, GESCHAETZT, UNBEKANNT, leer) wird mitgeführt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8" name="Picture 7"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Storage: DuckDB – analytisch, eine Datei, kein Server</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10</a:t>
            </a:r>
          </a:p>
        </p:txBody>
      </p:sp>
      <p:graphicFrame>
        <p:nvGraphicFramePr>
          <p:cNvPr id="6" name="Table 5"/>
          <p:cNvGraphicFramePr>
            <a:graphicFrameLocks noGrp="1"/>
          </p:cNvGraphicFramePr>
          <p:nvPr/>
        </p:nvGraphicFramePr>
        <p:xfrm>
          <a:off x="502920" y="1234440"/>
          <a:ext cx="11155680" cy="2880360"/>
        </p:xfrm>
        <a:graphic>
          <a:graphicData uri="http://schemas.openxmlformats.org/drawingml/2006/table">
            <a:tbl>
              <a:tblPr firstRow="1" bandRow="1">
                <a:tableStyleId>{5C22544A-7EE6-4342-B048-85BDC9FD1C3A}</a:tableStyleId>
              </a:tblPr>
              <a:tblGrid>
                <a:gridCol w="3840480"/>
                <a:gridCol w="1828800"/>
                <a:gridCol w="1828800"/>
                <a:gridCol w="1828800"/>
                <a:gridCol w="1828800"/>
              </a:tblGrid>
              <a:tr h="411480">
                <a:tc>
                  <a:txBody>
                    <a:bodyPr/>
                    <a:lstStyle/>
                    <a:p>
                      <a:pPr>
                        <a:defRPr sz="1600" b="1">
                          <a:solidFill>
                            <a:srgbClr val="FFFFFF"/>
                          </a:solidFill>
                          <a:latin typeface="Aptos"/>
                        </a:defRPr>
                      </a:pPr>
                      <a:r>
                        <a:t>Kriterium</a:t>
                      </a:r>
                    </a:p>
                  </a:txBody>
                  <a:tcPr>
                    <a:solidFill>
                      <a:srgbClr val="17364A"/>
                    </a:solidFill>
                  </a:tcPr>
                </a:tc>
                <a:tc>
                  <a:txBody>
                    <a:bodyPr/>
                    <a:lstStyle/>
                    <a:p>
                      <a:pPr>
                        <a:defRPr sz="1600" b="1">
                          <a:solidFill>
                            <a:srgbClr val="FFFFFF"/>
                          </a:solidFill>
                          <a:latin typeface="Aptos"/>
                        </a:defRPr>
                      </a:pPr>
                      <a:r>
                        <a:t>DuckDB</a:t>
                      </a:r>
                    </a:p>
                  </a:txBody>
                  <a:tcPr>
                    <a:solidFill>
                      <a:srgbClr val="17364A"/>
                    </a:solidFill>
                  </a:tcPr>
                </a:tc>
                <a:tc>
                  <a:txBody>
                    <a:bodyPr/>
                    <a:lstStyle/>
                    <a:p>
                      <a:pPr>
                        <a:defRPr sz="1600" b="1">
                          <a:solidFill>
                            <a:srgbClr val="FFFFFF"/>
                          </a:solidFill>
                          <a:latin typeface="Aptos"/>
                        </a:defRPr>
                      </a:pPr>
                      <a:r>
                        <a:t>SQLite</a:t>
                      </a:r>
                    </a:p>
                  </a:txBody>
                  <a:tcPr>
                    <a:solidFill>
                      <a:srgbClr val="17364A"/>
                    </a:solidFill>
                  </a:tcPr>
                </a:tc>
                <a:tc>
                  <a:txBody>
                    <a:bodyPr/>
                    <a:lstStyle/>
                    <a:p>
                      <a:pPr>
                        <a:defRPr sz="1600" b="1">
                          <a:solidFill>
                            <a:srgbClr val="FFFFFF"/>
                          </a:solidFill>
                          <a:latin typeface="Aptos"/>
                        </a:defRPr>
                      </a:pPr>
                      <a:r>
                        <a:t>PostgreSQL</a:t>
                      </a:r>
                    </a:p>
                  </a:txBody>
                  <a:tcPr>
                    <a:solidFill>
                      <a:srgbClr val="17364A"/>
                    </a:solidFill>
                  </a:tcPr>
                </a:tc>
                <a:tc>
                  <a:txBody>
                    <a:bodyPr/>
                    <a:lstStyle/>
                    <a:p>
                      <a:pPr>
                        <a:defRPr sz="1600" b="1">
                          <a:solidFill>
                            <a:srgbClr val="FFFFFF"/>
                          </a:solidFill>
                          <a:latin typeface="Aptos"/>
                        </a:defRPr>
                      </a:pPr>
                      <a:r>
                        <a:t>MongoDB</a:t>
                      </a:r>
                    </a:p>
                  </a:txBody>
                  <a:tcPr>
                    <a:solidFill>
                      <a:srgbClr val="17364A"/>
                    </a:solidFill>
                  </a:tcPr>
                </a:tc>
              </a:tr>
              <a:tr h="411480">
                <a:tc>
                  <a:txBody>
                    <a:bodyPr/>
                    <a:lstStyle/>
                    <a:p>
                      <a:pPr>
                        <a:defRPr sz="1600" b="0">
                          <a:solidFill>
                            <a:srgbClr val="17364A"/>
                          </a:solidFill>
                          <a:latin typeface="Aptos"/>
                        </a:defRPr>
                      </a:pPr>
                      <a:r>
                        <a:t>Analytische Abfragen (Joins, GROUP BY)</a:t>
                      </a:r>
                    </a:p>
                  </a:txBody>
                  <a:tcPr>
                    <a:solidFill>
                      <a:srgbClr val="FFFFFF"/>
                    </a:solidFill>
                  </a:tcPr>
                </a:tc>
                <a:tc>
                  <a:txBody>
                    <a:bodyPr/>
                    <a:lstStyle/>
                    <a:p>
                      <a:pPr>
                        <a:defRPr sz="1600" b="0">
                          <a:solidFill>
                            <a:srgbClr val="17364A"/>
                          </a:solidFill>
                          <a:latin typeface="Aptos"/>
                        </a:defRPr>
                      </a:pPr>
                      <a:r>
                        <a:t>sehr gut</a:t>
                      </a:r>
                    </a:p>
                  </a:txBody>
                  <a:tcPr>
                    <a:solidFill>
                      <a:srgbClr val="FFFFFF"/>
                    </a:solidFill>
                  </a:tcPr>
                </a:tc>
                <a:tc>
                  <a:txBody>
                    <a:bodyPr/>
                    <a:lstStyle/>
                    <a:p>
                      <a:pPr>
                        <a:defRPr sz="1600" b="0">
                          <a:solidFill>
                            <a:srgbClr val="17364A"/>
                          </a:solidFill>
                          <a:latin typeface="Aptos"/>
                        </a:defRPr>
                      </a:pPr>
                      <a:r>
                        <a:t>mässig</a:t>
                      </a:r>
                    </a:p>
                  </a:txBody>
                  <a:tcPr>
                    <a:solidFill>
                      <a:srgbClr val="FFFFFF"/>
                    </a:solidFill>
                  </a:tcPr>
                </a:tc>
                <a:tc>
                  <a:txBody>
                    <a:bodyPr/>
                    <a:lstStyle/>
                    <a:p>
                      <a:pPr>
                        <a:defRPr sz="1600" b="0">
                          <a:solidFill>
                            <a:srgbClr val="17364A"/>
                          </a:solidFill>
                          <a:latin typeface="Aptos"/>
                        </a:defRPr>
                      </a:pPr>
                      <a:r>
                        <a:t>gut</a:t>
                      </a:r>
                    </a:p>
                  </a:txBody>
                  <a:tcPr>
                    <a:solidFill>
                      <a:srgbClr val="FFFFFF"/>
                    </a:solidFill>
                  </a:tcPr>
                </a:tc>
                <a:tc>
                  <a:txBody>
                    <a:bodyPr/>
                    <a:lstStyle/>
                    <a:p>
                      <a:pPr>
                        <a:defRPr sz="1600" b="0">
                          <a:solidFill>
                            <a:srgbClr val="17364A"/>
                          </a:solidFill>
                          <a:latin typeface="Aptos"/>
                        </a:defRPr>
                      </a:pPr>
                      <a:r>
                        <a:t>mässig</a:t>
                      </a:r>
                    </a:p>
                  </a:txBody>
                  <a:tcPr>
                    <a:solidFill>
                      <a:srgbClr val="FFFFFF"/>
                    </a:solidFill>
                  </a:tcPr>
                </a:tc>
              </a:tr>
              <a:tr h="411480">
                <a:tc>
                  <a:txBody>
                    <a:bodyPr/>
                    <a:lstStyle/>
                    <a:p>
                      <a:pPr>
                        <a:defRPr sz="1600" b="0">
                          <a:solidFill>
                            <a:srgbClr val="17364A"/>
                          </a:solidFill>
                          <a:latin typeface="Aptos"/>
                        </a:defRPr>
                      </a:pPr>
                      <a:r>
                        <a:t>CSV streamend einlesen</a:t>
                      </a:r>
                    </a:p>
                  </a:txBody>
                  <a:tcPr>
                    <a:solidFill>
                      <a:srgbClr val="EEF4F6"/>
                    </a:solidFill>
                  </a:tcPr>
                </a:tc>
                <a:tc>
                  <a:txBody>
                    <a:bodyPr/>
                    <a:lstStyle/>
                    <a:p>
                      <a:pPr>
                        <a:defRPr sz="1600" b="0">
                          <a:solidFill>
                            <a:srgbClr val="17364A"/>
                          </a:solidFill>
                          <a:latin typeface="Aptos"/>
                        </a:defRPr>
                      </a:pPr>
                      <a:r>
                        <a:t>sehr gut</a:t>
                      </a:r>
                    </a:p>
                  </a:txBody>
                  <a:tcPr>
                    <a:solidFill>
                      <a:srgbClr val="EEF4F6"/>
                    </a:solidFill>
                  </a:tcPr>
                </a:tc>
                <a:tc>
                  <a:txBody>
                    <a:bodyPr/>
                    <a:lstStyle/>
                    <a:p>
                      <a:pPr>
                        <a:defRPr sz="1600" b="0">
                          <a:solidFill>
                            <a:srgbClr val="17364A"/>
                          </a:solidFill>
                          <a:latin typeface="Aptos"/>
                        </a:defRPr>
                      </a:pPr>
                      <a:r>
                        <a:t>mässig</a:t>
                      </a:r>
                    </a:p>
                  </a:txBody>
                  <a:tcPr>
                    <a:solidFill>
                      <a:srgbClr val="EEF4F6"/>
                    </a:solidFill>
                  </a:tcPr>
                </a:tc>
                <a:tc>
                  <a:txBody>
                    <a:bodyPr/>
                    <a:lstStyle/>
                    <a:p>
                      <a:pPr>
                        <a:defRPr sz="1600" b="0">
                          <a:solidFill>
                            <a:srgbClr val="17364A"/>
                          </a:solidFill>
                          <a:latin typeface="Aptos"/>
                        </a:defRPr>
                      </a:pPr>
                      <a:r>
                        <a:t>gut</a:t>
                      </a:r>
                    </a:p>
                  </a:txBody>
                  <a:tcPr>
                    <a:solidFill>
                      <a:srgbClr val="EEF4F6"/>
                    </a:solidFill>
                  </a:tcPr>
                </a:tc>
                <a:tc>
                  <a:txBody>
                    <a:bodyPr/>
                    <a:lstStyle/>
                    <a:p>
                      <a:pPr>
                        <a:defRPr sz="1600" b="0">
                          <a:solidFill>
                            <a:srgbClr val="17364A"/>
                          </a:solidFill>
                          <a:latin typeface="Aptos"/>
                        </a:defRPr>
                      </a:pPr>
                      <a:r>
                        <a:t>mässig</a:t>
                      </a:r>
                    </a:p>
                  </a:txBody>
                  <a:tcPr>
                    <a:solidFill>
                      <a:srgbClr val="EEF4F6"/>
                    </a:solidFill>
                  </a:tcPr>
                </a:tc>
              </a:tr>
              <a:tr h="411480">
                <a:tc>
                  <a:txBody>
                    <a:bodyPr/>
                    <a:lstStyle/>
                    <a:p>
                      <a:pPr>
                        <a:defRPr sz="1600" b="0">
                          <a:solidFill>
                            <a:srgbClr val="17364A"/>
                          </a:solidFill>
                          <a:latin typeface="Aptos"/>
                        </a:defRPr>
                      </a:pPr>
                      <a:r>
                        <a:t>Zeitzonen (TIMESTAMPTZ)</a:t>
                      </a:r>
                    </a:p>
                  </a:txBody>
                  <a:tcPr>
                    <a:solidFill>
                      <a:srgbClr val="FFFFFF"/>
                    </a:solidFill>
                  </a:tcPr>
                </a:tc>
                <a:tc>
                  <a:txBody>
                    <a:bodyPr/>
                    <a:lstStyle/>
                    <a:p>
                      <a:pPr>
                        <a:defRPr sz="1600" b="0">
                          <a:solidFill>
                            <a:srgbClr val="17364A"/>
                          </a:solidFill>
                          <a:latin typeface="Aptos"/>
                        </a:defRPr>
                      </a:pPr>
                      <a:r>
                        <a:t>gut</a:t>
                      </a:r>
                    </a:p>
                  </a:txBody>
                  <a:tcPr>
                    <a:solidFill>
                      <a:srgbClr val="FFFFFF"/>
                    </a:solidFill>
                  </a:tcPr>
                </a:tc>
                <a:tc>
                  <a:txBody>
                    <a:bodyPr/>
                    <a:lstStyle/>
                    <a:p>
                      <a:pPr>
                        <a:defRPr sz="1600" b="0">
                          <a:solidFill>
                            <a:srgbClr val="17364A"/>
                          </a:solidFill>
                          <a:latin typeface="Aptos"/>
                        </a:defRPr>
                      </a:pPr>
                      <a:r>
                        <a:t>schwach</a:t>
                      </a:r>
                    </a:p>
                  </a:txBody>
                  <a:tcPr>
                    <a:solidFill>
                      <a:srgbClr val="FFFFFF"/>
                    </a:solidFill>
                  </a:tcPr>
                </a:tc>
                <a:tc>
                  <a:txBody>
                    <a:bodyPr/>
                    <a:lstStyle/>
                    <a:p>
                      <a:pPr>
                        <a:defRPr sz="1600" b="0">
                          <a:solidFill>
                            <a:srgbClr val="17364A"/>
                          </a:solidFill>
                          <a:latin typeface="Aptos"/>
                        </a:defRPr>
                      </a:pPr>
                      <a:r>
                        <a:t>sehr gut</a:t>
                      </a:r>
                    </a:p>
                  </a:txBody>
                  <a:tcPr>
                    <a:solidFill>
                      <a:srgbClr val="FFFFFF"/>
                    </a:solidFill>
                  </a:tcPr>
                </a:tc>
                <a:tc>
                  <a:txBody>
                    <a:bodyPr/>
                    <a:lstStyle/>
                    <a:p>
                      <a:pPr>
                        <a:defRPr sz="1600" b="0">
                          <a:solidFill>
                            <a:srgbClr val="17364A"/>
                          </a:solidFill>
                          <a:latin typeface="Aptos"/>
                        </a:defRPr>
                      </a:pPr>
                      <a:r>
                        <a:t>mässig</a:t>
                      </a:r>
                    </a:p>
                  </a:txBody>
                  <a:tcPr>
                    <a:solidFill>
                      <a:srgbClr val="FFFFFF"/>
                    </a:solidFill>
                  </a:tcPr>
                </a:tc>
              </a:tr>
              <a:tr h="411480">
                <a:tc>
                  <a:txBody>
                    <a:bodyPr/>
                    <a:lstStyle/>
                    <a:p>
                      <a:pPr>
                        <a:defRPr sz="1600" b="0">
                          <a:solidFill>
                            <a:srgbClr val="17364A"/>
                          </a:solidFill>
                          <a:latin typeface="Aptos"/>
                        </a:defRPr>
                      </a:pPr>
                      <a:r>
                        <a:t>Skalierung auf mehr Kantone</a:t>
                      </a:r>
                    </a:p>
                  </a:txBody>
                  <a:tcPr>
                    <a:solidFill>
                      <a:srgbClr val="EEF4F6"/>
                    </a:solidFill>
                  </a:tcPr>
                </a:tc>
                <a:tc>
                  <a:txBody>
                    <a:bodyPr/>
                    <a:lstStyle/>
                    <a:p>
                      <a:pPr>
                        <a:defRPr sz="1600" b="0">
                          <a:solidFill>
                            <a:srgbClr val="17364A"/>
                          </a:solidFill>
                          <a:latin typeface="Aptos"/>
                        </a:defRPr>
                      </a:pPr>
                      <a:r>
                        <a:t>gut</a:t>
                      </a:r>
                    </a:p>
                  </a:txBody>
                  <a:tcPr>
                    <a:solidFill>
                      <a:srgbClr val="EEF4F6"/>
                    </a:solidFill>
                  </a:tcPr>
                </a:tc>
                <a:tc>
                  <a:txBody>
                    <a:bodyPr/>
                    <a:lstStyle/>
                    <a:p>
                      <a:pPr>
                        <a:defRPr sz="1600" b="0">
                          <a:solidFill>
                            <a:srgbClr val="17364A"/>
                          </a:solidFill>
                          <a:latin typeface="Aptos"/>
                        </a:defRPr>
                      </a:pPr>
                      <a:r>
                        <a:t>schwach</a:t>
                      </a:r>
                    </a:p>
                  </a:txBody>
                  <a:tcPr>
                    <a:solidFill>
                      <a:srgbClr val="EEF4F6"/>
                    </a:solidFill>
                  </a:tcPr>
                </a:tc>
                <a:tc>
                  <a:txBody>
                    <a:bodyPr/>
                    <a:lstStyle/>
                    <a:p>
                      <a:pPr>
                        <a:defRPr sz="1600" b="0">
                          <a:solidFill>
                            <a:srgbClr val="17364A"/>
                          </a:solidFill>
                          <a:latin typeface="Aptos"/>
                        </a:defRPr>
                      </a:pPr>
                      <a:r>
                        <a:t>sehr gut</a:t>
                      </a:r>
                    </a:p>
                  </a:txBody>
                  <a:tcPr>
                    <a:solidFill>
                      <a:srgbClr val="EEF4F6"/>
                    </a:solidFill>
                  </a:tcPr>
                </a:tc>
                <a:tc>
                  <a:txBody>
                    <a:bodyPr/>
                    <a:lstStyle/>
                    <a:p>
                      <a:pPr>
                        <a:defRPr sz="1600" b="0">
                          <a:solidFill>
                            <a:srgbClr val="17364A"/>
                          </a:solidFill>
                          <a:latin typeface="Aptos"/>
                        </a:defRPr>
                      </a:pPr>
                      <a:r>
                        <a:t>gut</a:t>
                      </a:r>
                    </a:p>
                  </a:txBody>
                  <a:tcPr>
                    <a:solidFill>
                      <a:srgbClr val="EEF4F6"/>
                    </a:solidFill>
                  </a:tcPr>
                </a:tc>
              </a:tr>
              <a:tr h="411480">
                <a:tc>
                  <a:txBody>
                    <a:bodyPr/>
                    <a:lstStyle/>
                    <a:p>
                      <a:pPr>
                        <a:defRPr sz="1600" b="0">
                          <a:solidFill>
                            <a:srgbClr val="17364A"/>
                          </a:solidFill>
                          <a:latin typeface="Aptos"/>
                        </a:defRPr>
                      </a:pPr>
                      <a:r>
                        <a:t>Setup für die Gruppe</a:t>
                      </a:r>
                    </a:p>
                  </a:txBody>
                  <a:tcPr>
                    <a:solidFill>
                      <a:srgbClr val="FFFFFF"/>
                    </a:solidFill>
                  </a:tcPr>
                </a:tc>
                <a:tc>
                  <a:txBody>
                    <a:bodyPr/>
                    <a:lstStyle/>
                    <a:p>
                      <a:pPr>
                        <a:defRPr sz="1600" b="0">
                          <a:solidFill>
                            <a:srgbClr val="17364A"/>
                          </a:solidFill>
                          <a:latin typeface="Aptos"/>
                        </a:defRPr>
                      </a:pPr>
                      <a:r>
                        <a:t>sehr gering</a:t>
                      </a:r>
                    </a:p>
                  </a:txBody>
                  <a:tcPr>
                    <a:solidFill>
                      <a:srgbClr val="FFFFFF"/>
                    </a:solidFill>
                  </a:tcPr>
                </a:tc>
                <a:tc>
                  <a:txBody>
                    <a:bodyPr/>
                    <a:lstStyle/>
                    <a:p>
                      <a:pPr>
                        <a:defRPr sz="1600" b="0">
                          <a:solidFill>
                            <a:srgbClr val="17364A"/>
                          </a:solidFill>
                          <a:latin typeface="Aptos"/>
                        </a:defRPr>
                      </a:pPr>
                      <a:r>
                        <a:t>sehr gering</a:t>
                      </a:r>
                    </a:p>
                  </a:txBody>
                  <a:tcPr>
                    <a:solidFill>
                      <a:srgbClr val="FFFFFF"/>
                    </a:solidFill>
                  </a:tcPr>
                </a:tc>
                <a:tc>
                  <a:txBody>
                    <a:bodyPr/>
                    <a:lstStyle/>
                    <a:p>
                      <a:pPr>
                        <a:defRPr sz="1600" b="0">
                          <a:solidFill>
                            <a:srgbClr val="17364A"/>
                          </a:solidFill>
                          <a:latin typeface="Aptos"/>
                        </a:defRPr>
                      </a:pPr>
                      <a:r>
                        <a:t>hoch (Server)</a:t>
                      </a:r>
                    </a:p>
                  </a:txBody>
                  <a:tcPr>
                    <a:solidFill>
                      <a:srgbClr val="FFFFFF"/>
                    </a:solidFill>
                  </a:tcPr>
                </a:tc>
                <a:tc>
                  <a:txBody>
                    <a:bodyPr/>
                    <a:lstStyle/>
                    <a:p>
                      <a:pPr>
                        <a:defRPr sz="1600" b="0">
                          <a:solidFill>
                            <a:srgbClr val="17364A"/>
                          </a:solidFill>
                          <a:latin typeface="Aptos"/>
                        </a:defRPr>
                      </a:pPr>
                      <a:r>
                        <a:t>hoch (Server)</a:t>
                      </a:r>
                    </a:p>
                  </a:txBody>
                  <a:tcPr>
                    <a:solidFill>
                      <a:srgbClr val="FFFFFF"/>
                    </a:solidFill>
                  </a:tcPr>
                </a:tc>
              </a:tr>
              <a:tr h="411480">
                <a:tc>
                  <a:txBody>
                    <a:bodyPr/>
                    <a:lstStyle/>
                    <a:p>
                      <a:pPr>
                        <a:defRPr sz="1600" b="0">
                          <a:solidFill>
                            <a:srgbClr val="17364A"/>
                          </a:solidFill>
                          <a:latin typeface="Aptos"/>
                        </a:defRPr>
                      </a:pPr>
                      <a:r>
                        <a:t>Viele gleichzeitige Nutzer</a:t>
                      </a:r>
                    </a:p>
                  </a:txBody>
                  <a:tcPr>
                    <a:solidFill>
                      <a:srgbClr val="EEF4F6"/>
                    </a:solidFill>
                  </a:tcPr>
                </a:tc>
                <a:tc>
                  <a:txBody>
                    <a:bodyPr/>
                    <a:lstStyle/>
                    <a:p>
                      <a:pPr>
                        <a:defRPr sz="1600" b="0">
                          <a:solidFill>
                            <a:srgbClr val="17364A"/>
                          </a:solidFill>
                          <a:latin typeface="Aptos"/>
                        </a:defRPr>
                      </a:pPr>
                      <a:r>
                        <a:t>mässig</a:t>
                      </a:r>
                    </a:p>
                  </a:txBody>
                  <a:tcPr>
                    <a:solidFill>
                      <a:srgbClr val="EEF4F6"/>
                    </a:solidFill>
                  </a:tcPr>
                </a:tc>
                <a:tc>
                  <a:txBody>
                    <a:bodyPr/>
                    <a:lstStyle/>
                    <a:p>
                      <a:pPr>
                        <a:defRPr sz="1600" b="0">
                          <a:solidFill>
                            <a:srgbClr val="17364A"/>
                          </a:solidFill>
                          <a:latin typeface="Aptos"/>
                        </a:defRPr>
                      </a:pPr>
                      <a:r>
                        <a:t>mässig</a:t>
                      </a:r>
                    </a:p>
                  </a:txBody>
                  <a:tcPr>
                    <a:solidFill>
                      <a:srgbClr val="EEF4F6"/>
                    </a:solidFill>
                  </a:tcPr>
                </a:tc>
                <a:tc>
                  <a:txBody>
                    <a:bodyPr/>
                    <a:lstStyle/>
                    <a:p>
                      <a:pPr>
                        <a:defRPr sz="1600" b="0">
                          <a:solidFill>
                            <a:srgbClr val="17364A"/>
                          </a:solidFill>
                          <a:latin typeface="Aptos"/>
                        </a:defRPr>
                      </a:pPr>
                      <a:r>
                        <a:t>sehr gut</a:t>
                      </a:r>
                    </a:p>
                  </a:txBody>
                  <a:tcPr>
                    <a:solidFill>
                      <a:srgbClr val="EEF4F6"/>
                    </a:solidFill>
                  </a:tcPr>
                </a:tc>
                <a:tc>
                  <a:txBody>
                    <a:bodyPr/>
                    <a:lstStyle/>
                    <a:p>
                      <a:pPr>
                        <a:defRPr sz="1600" b="0">
                          <a:solidFill>
                            <a:srgbClr val="17364A"/>
                          </a:solidFill>
                          <a:latin typeface="Aptos"/>
                        </a:defRPr>
                      </a:pPr>
                      <a:r>
                        <a:t>gut</a:t>
                      </a:r>
                    </a:p>
                  </a:txBody>
                  <a:tcPr>
                    <a:solidFill>
                      <a:srgbClr val="EEF4F6"/>
                    </a:solidFill>
                  </a:tcPr>
                </a:tc>
              </a:tr>
            </a:tbl>
          </a:graphicData>
        </a:graphic>
      </p:graphicFrame>
      <p:sp>
        <p:nvSpPr>
          <p:cNvPr id="7" name="TextBox 6"/>
          <p:cNvSpPr txBox="1"/>
          <p:nvPr/>
        </p:nvSpPr>
        <p:spPr>
          <a:xfrm>
            <a:off x="502920" y="4572000"/>
            <a:ext cx="11155680" cy="1097280"/>
          </a:xfrm>
          <a:prstGeom prst="rect">
            <a:avLst/>
          </a:prstGeom>
          <a:noFill/>
        </p:spPr>
        <p:txBody>
          <a:bodyPr wrap="square">
            <a:spAutoFit/>
          </a:bodyPr>
          <a:lstStyle/>
          <a:p>
            <a:pPr>
              <a:spcAft>
                <a:spcPts val="1200"/>
              </a:spcAft>
              <a:defRPr sz="1900" b="1">
                <a:solidFill>
                  <a:srgbClr val="167D8D"/>
                </a:solidFill>
                <a:latin typeface="Aptos"/>
              </a:defRPr>
            </a:pPr>
            <a:r>
              <a:t>Entscheid: DuckDB für Teil 1. Für das Dashboard in Teil 2 ist ein Wechsel auf PostgreSQL möglich, weil das Schema Standard-SQL ist.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32" name="Picture 31"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Datenmodell: Halt und Wetter über die Haltestelle verknüpft</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11</a:t>
            </a:r>
          </a:p>
        </p:txBody>
      </p:sp>
      <p:sp>
        <p:nvSpPr>
          <p:cNvPr id="6" name="Rounded Rectangle 5"/>
          <p:cNvSpPr/>
          <p:nvPr/>
        </p:nvSpPr>
        <p:spPr>
          <a:xfrm>
            <a:off x="502920" y="1371600"/>
            <a:ext cx="2514600" cy="1737360"/>
          </a:xfrm>
          <a:prstGeom prst="roundRect">
            <a:avLst>
              <a:gd name="adj" fmla="val 6000"/>
            </a:avLst>
          </a:prstGeom>
          <a:solidFill>
            <a:srgbClr val="173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2286000" cy="457200"/>
          </a:xfrm>
          <a:prstGeom prst="rect">
            <a:avLst/>
          </a:prstGeom>
          <a:noFill/>
        </p:spPr>
        <p:txBody>
          <a:bodyPr wrap="square">
            <a:spAutoFit/>
          </a:bodyPr>
          <a:lstStyle/>
          <a:p>
            <a:pPr>
              <a:spcAft>
                <a:spcPts val="1200"/>
              </a:spcAft>
              <a:defRPr sz="1400" b="1">
                <a:solidFill>
                  <a:srgbClr val="FFFFFF"/>
                </a:solidFill>
                <a:latin typeface="Consolas"/>
              </a:defRPr>
            </a:pPr>
            <a:r>
              <a:t>halt</a:t>
            </a:r>
          </a:p>
        </p:txBody>
      </p:sp>
      <p:sp>
        <p:nvSpPr>
          <p:cNvPr id="8" name="TextBox 7"/>
          <p:cNvSpPr txBox="1"/>
          <p:nvPr/>
        </p:nvSpPr>
        <p:spPr>
          <a:xfrm>
            <a:off x="640080" y="2011680"/>
            <a:ext cx="2286000" cy="1005840"/>
          </a:xfrm>
          <a:prstGeom prst="rect">
            <a:avLst/>
          </a:prstGeom>
          <a:noFill/>
        </p:spPr>
        <p:txBody>
          <a:bodyPr wrap="square">
            <a:spAutoFit/>
          </a:bodyPr>
          <a:lstStyle/>
          <a:p>
            <a:pPr>
              <a:spcAft>
                <a:spcPts val="400"/>
              </a:spcAft>
              <a:defRPr sz="1400" b="0">
                <a:solidFill>
                  <a:srgbClr val="FFFFFF"/>
                </a:solidFill>
                <a:latin typeface="Aptos"/>
              </a:defRPr>
            </a:pPr>
            <a:r>
              <a:t>Halt einer Fahrt: Soll, Ist, Status, Verspätung · 17,07 Mio.</a:t>
            </a:r>
          </a:p>
        </p:txBody>
      </p:sp>
      <p:cxnSp>
        <p:nvCxnSpPr>
          <p:cNvPr id="9" name="Connector 8"/>
          <p:cNvCxnSpPr/>
          <p:nvPr/>
        </p:nvCxnSpPr>
        <p:spPr>
          <a:xfrm>
            <a:off x="3035808" y="2240280"/>
            <a:ext cx="329183"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83280" y="1371600"/>
            <a:ext cx="251460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508760"/>
            <a:ext cx="2286000" cy="457200"/>
          </a:xfrm>
          <a:prstGeom prst="rect">
            <a:avLst/>
          </a:prstGeom>
          <a:noFill/>
        </p:spPr>
        <p:txBody>
          <a:bodyPr wrap="square">
            <a:spAutoFit/>
          </a:bodyPr>
          <a:lstStyle/>
          <a:p>
            <a:pPr>
              <a:spcAft>
                <a:spcPts val="1200"/>
              </a:spcAft>
              <a:defRPr sz="1400" b="1">
                <a:solidFill>
                  <a:srgbClr val="167D8D"/>
                </a:solidFill>
                <a:latin typeface="Consolas"/>
              </a:defRPr>
            </a:pPr>
            <a:r>
              <a:t>haltestelle</a:t>
            </a:r>
          </a:p>
        </p:txBody>
      </p:sp>
      <p:sp>
        <p:nvSpPr>
          <p:cNvPr id="12" name="TextBox 11"/>
          <p:cNvSpPr txBox="1"/>
          <p:nvPr/>
        </p:nvSpPr>
        <p:spPr>
          <a:xfrm>
            <a:off x="3520440" y="2011680"/>
            <a:ext cx="2286000" cy="1005840"/>
          </a:xfrm>
          <a:prstGeom prst="rect">
            <a:avLst/>
          </a:prstGeom>
          <a:noFill/>
        </p:spPr>
        <p:txBody>
          <a:bodyPr wrap="square">
            <a:spAutoFit/>
          </a:bodyPr>
          <a:lstStyle/>
          <a:p>
            <a:pPr>
              <a:spcAft>
                <a:spcPts val="400"/>
              </a:spcAft>
              <a:defRPr sz="1400" b="0">
                <a:solidFill>
                  <a:srgbClr val="17364A"/>
                </a:solidFill>
                <a:latin typeface="Aptos"/>
              </a:defRPr>
            </a:pPr>
            <a:r>
              <a:t>2587 Haltestellen mit Kanton und Koordinaten</a:t>
            </a:r>
          </a:p>
        </p:txBody>
      </p:sp>
      <p:cxnSp>
        <p:nvCxnSpPr>
          <p:cNvPr id="13" name="Connector 12"/>
          <p:cNvCxnSpPr/>
          <p:nvPr/>
        </p:nvCxnSpPr>
        <p:spPr>
          <a:xfrm>
            <a:off x="5916168" y="2240280"/>
            <a:ext cx="329184"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63640" y="1371600"/>
            <a:ext cx="251460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08760"/>
            <a:ext cx="2286000" cy="457200"/>
          </a:xfrm>
          <a:prstGeom prst="rect">
            <a:avLst/>
          </a:prstGeom>
          <a:noFill/>
        </p:spPr>
        <p:txBody>
          <a:bodyPr wrap="square">
            <a:spAutoFit/>
          </a:bodyPr>
          <a:lstStyle/>
          <a:p>
            <a:pPr>
              <a:spcAft>
                <a:spcPts val="1200"/>
              </a:spcAft>
              <a:defRPr sz="1400" b="1">
                <a:solidFill>
                  <a:srgbClr val="167D8D"/>
                </a:solidFill>
                <a:latin typeface="Consolas"/>
              </a:defRPr>
            </a:pPr>
            <a:r>
              <a:t>haltestelle_station</a:t>
            </a:r>
          </a:p>
        </p:txBody>
      </p:sp>
      <p:sp>
        <p:nvSpPr>
          <p:cNvPr id="16" name="TextBox 15"/>
          <p:cNvSpPr txBox="1"/>
          <p:nvPr/>
        </p:nvSpPr>
        <p:spPr>
          <a:xfrm>
            <a:off x="6400800" y="2011680"/>
            <a:ext cx="2286000" cy="1005840"/>
          </a:xfrm>
          <a:prstGeom prst="rect">
            <a:avLst/>
          </a:prstGeom>
          <a:noFill/>
        </p:spPr>
        <p:txBody>
          <a:bodyPr wrap="square">
            <a:spAutoFit/>
          </a:bodyPr>
          <a:lstStyle/>
          <a:p>
            <a:pPr>
              <a:spcAft>
                <a:spcPts val="400"/>
              </a:spcAft>
              <a:defRPr sz="1400" b="0">
                <a:solidFill>
                  <a:srgbClr val="17364A"/>
                </a:solidFill>
                <a:latin typeface="Aptos"/>
              </a:defRPr>
            </a:pPr>
            <a:r>
              <a:t>nächste Wetterstation pro Haltestelle (C)</a:t>
            </a:r>
          </a:p>
        </p:txBody>
      </p:sp>
      <p:cxnSp>
        <p:nvCxnSpPr>
          <p:cNvPr id="17" name="Connector 16"/>
          <p:cNvCxnSpPr/>
          <p:nvPr/>
        </p:nvCxnSpPr>
        <p:spPr>
          <a:xfrm>
            <a:off x="8796528" y="2240280"/>
            <a:ext cx="329184" cy="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144000" y="1371600"/>
            <a:ext cx="2514600" cy="173736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1508760"/>
            <a:ext cx="2286000" cy="457200"/>
          </a:xfrm>
          <a:prstGeom prst="rect">
            <a:avLst/>
          </a:prstGeom>
          <a:noFill/>
        </p:spPr>
        <p:txBody>
          <a:bodyPr wrap="square">
            <a:spAutoFit/>
          </a:bodyPr>
          <a:lstStyle/>
          <a:p>
            <a:pPr>
              <a:spcAft>
                <a:spcPts val="1200"/>
              </a:spcAft>
              <a:defRPr sz="1400" b="1">
                <a:solidFill>
                  <a:srgbClr val="167D8D"/>
                </a:solidFill>
                <a:latin typeface="Consolas"/>
              </a:defRPr>
            </a:pPr>
            <a:r>
              <a:t>wetterstation</a:t>
            </a:r>
          </a:p>
        </p:txBody>
      </p:sp>
      <p:sp>
        <p:nvSpPr>
          <p:cNvPr id="20" name="TextBox 19"/>
          <p:cNvSpPr txBox="1"/>
          <p:nvPr/>
        </p:nvSpPr>
        <p:spPr>
          <a:xfrm>
            <a:off x="9281160" y="2011680"/>
            <a:ext cx="2286000" cy="1005840"/>
          </a:xfrm>
          <a:prstGeom prst="rect">
            <a:avLst/>
          </a:prstGeom>
          <a:noFill/>
        </p:spPr>
        <p:txBody>
          <a:bodyPr wrap="square">
            <a:spAutoFit/>
          </a:bodyPr>
          <a:lstStyle/>
          <a:p>
            <a:pPr>
              <a:spcAft>
                <a:spcPts val="400"/>
              </a:spcAft>
              <a:defRPr sz="1400" b="0">
                <a:solidFill>
                  <a:srgbClr val="17364A"/>
                </a:solidFill>
                <a:latin typeface="Aptos"/>
              </a:defRPr>
            </a:pPr>
            <a:r>
              <a:t>MeteoSchweiz-Stationen mit Höhe (C)</a:t>
            </a:r>
          </a:p>
        </p:txBody>
      </p:sp>
      <p:sp>
        <p:nvSpPr>
          <p:cNvPr id="21" name="TextBox 20"/>
          <p:cNvSpPr txBox="1"/>
          <p:nvPr/>
        </p:nvSpPr>
        <p:spPr>
          <a:xfrm>
            <a:off x="1737360" y="3154680"/>
            <a:ext cx="2743200" cy="365760"/>
          </a:xfrm>
          <a:prstGeom prst="rect">
            <a:avLst/>
          </a:prstGeom>
          <a:noFill/>
        </p:spPr>
        <p:txBody>
          <a:bodyPr wrap="square">
            <a:spAutoFit/>
          </a:bodyPr>
          <a:lstStyle/>
          <a:p>
            <a:pPr>
              <a:spcAft>
                <a:spcPts val="1200"/>
              </a:spcAft>
              <a:defRPr sz="1200" b="0">
                <a:solidFill>
                  <a:srgbClr val="53616B"/>
                </a:solidFill>
                <a:latin typeface="Consolas"/>
              </a:defRPr>
            </a:pPr>
            <a:r>
              <a:t>bpuic_haltestelle = bpuic</a:t>
            </a:r>
          </a:p>
        </p:txBody>
      </p:sp>
      <p:sp>
        <p:nvSpPr>
          <p:cNvPr id="22" name="TextBox 21"/>
          <p:cNvSpPr txBox="1"/>
          <p:nvPr/>
        </p:nvSpPr>
        <p:spPr>
          <a:xfrm>
            <a:off x="5577840" y="3154680"/>
            <a:ext cx="2743200" cy="365760"/>
          </a:xfrm>
          <a:prstGeom prst="rect">
            <a:avLst/>
          </a:prstGeom>
          <a:noFill/>
        </p:spPr>
        <p:txBody>
          <a:bodyPr wrap="square">
            <a:spAutoFit/>
          </a:bodyPr>
          <a:lstStyle/>
          <a:p>
            <a:pPr>
              <a:spcAft>
                <a:spcPts val="1200"/>
              </a:spcAft>
              <a:defRPr sz="1200" b="0">
                <a:solidFill>
                  <a:srgbClr val="53616B"/>
                </a:solidFill>
                <a:latin typeface="Consolas"/>
              </a:defRPr>
            </a:pPr>
            <a:r>
              <a:t>bpuic</a:t>
            </a:r>
          </a:p>
        </p:txBody>
      </p:sp>
      <p:sp>
        <p:nvSpPr>
          <p:cNvPr id="23" name="TextBox 22"/>
          <p:cNvSpPr txBox="1"/>
          <p:nvPr/>
        </p:nvSpPr>
        <p:spPr>
          <a:xfrm>
            <a:off x="8458200" y="3154680"/>
            <a:ext cx="2743200" cy="365760"/>
          </a:xfrm>
          <a:prstGeom prst="rect">
            <a:avLst/>
          </a:prstGeom>
          <a:noFill/>
        </p:spPr>
        <p:txBody>
          <a:bodyPr wrap="square">
            <a:spAutoFit/>
          </a:bodyPr>
          <a:lstStyle/>
          <a:p>
            <a:pPr>
              <a:spcAft>
                <a:spcPts val="1200"/>
              </a:spcAft>
              <a:defRPr sz="1200" b="0">
                <a:solidFill>
                  <a:srgbClr val="53616B"/>
                </a:solidFill>
                <a:latin typeface="Consolas"/>
              </a:defRPr>
            </a:pPr>
            <a:r>
              <a:t>station_abk</a:t>
            </a:r>
          </a:p>
        </p:txBody>
      </p:sp>
      <p:sp>
        <p:nvSpPr>
          <p:cNvPr id="24" name="Rounded Rectangle 23"/>
          <p:cNvSpPr/>
          <p:nvPr/>
        </p:nvSpPr>
        <p:spPr>
          <a:xfrm>
            <a:off x="502920" y="3840480"/>
            <a:ext cx="2514600" cy="15544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977639"/>
            <a:ext cx="2286000" cy="457200"/>
          </a:xfrm>
          <a:prstGeom prst="rect">
            <a:avLst/>
          </a:prstGeom>
          <a:noFill/>
        </p:spPr>
        <p:txBody>
          <a:bodyPr wrap="square">
            <a:spAutoFit/>
          </a:bodyPr>
          <a:lstStyle/>
          <a:p>
            <a:pPr>
              <a:spcAft>
                <a:spcPts val="1200"/>
              </a:spcAft>
              <a:defRPr sz="1600" b="1">
                <a:solidFill>
                  <a:srgbClr val="167D8D"/>
                </a:solidFill>
                <a:latin typeface="Consolas"/>
              </a:defRPr>
            </a:pPr>
            <a:r>
              <a:t>ingest_log</a:t>
            </a:r>
          </a:p>
        </p:txBody>
      </p:sp>
      <p:sp>
        <p:nvSpPr>
          <p:cNvPr id="26" name="TextBox 25"/>
          <p:cNvSpPr txBox="1"/>
          <p:nvPr/>
        </p:nvSpPr>
        <p:spPr>
          <a:xfrm>
            <a:off x="640080" y="4480560"/>
            <a:ext cx="2286000" cy="914400"/>
          </a:xfrm>
          <a:prstGeom prst="rect">
            <a:avLst/>
          </a:prstGeom>
          <a:noFill/>
        </p:spPr>
        <p:txBody>
          <a:bodyPr wrap="square">
            <a:spAutoFit/>
          </a:bodyPr>
          <a:lstStyle/>
          <a:p>
            <a:pPr>
              <a:spcAft>
                <a:spcPts val="400"/>
              </a:spcAft>
              <a:defRPr sz="1400" b="0">
                <a:solidFill>
                  <a:srgbClr val="17364A"/>
                </a:solidFill>
                <a:latin typeface="Aptos"/>
              </a:defRPr>
            </a:pPr>
            <a:r>
              <a:t>Pro Tag: Status, Zeilen vor/nach Filter, Dauer, Fehler</a:t>
            </a:r>
          </a:p>
        </p:txBody>
      </p:sp>
      <p:sp>
        <p:nvSpPr>
          <p:cNvPr id="27" name="Rounded Rectangle 26"/>
          <p:cNvSpPr/>
          <p:nvPr/>
        </p:nvSpPr>
        <p:spPr>
          <a:xfrm>
            <a:off x="9098280" y="3840480"/>
            <a:ext cx="2514600" cy="15544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40" y="3977639"/>
            <a:ext cx="2286000" cy="457200"/>
          </a:xfrm>
          <a:prstGeom prst="rect">
            <a:avLst/>
          </a:prstGeom>
          <a:noFill/>
        </p:spPr>
        <p:txBody>
          <a:bodyPr wrap="square">
            <a:spAutoFit/>
          </a:bodyPr>
          <a:lstStyle/>
          <a:p>
            <a:pPr>
              <a:spcAft>
                <a:spcPts val="1200"/>
              </a:spcAft>
              <a:defRPr sz="1600" b="1">
                <a:solidFill>
                  <a:srgbClr val="167D8D"/>
                </a:solidFill>
                <a:latin typeface="Consolas"/>
              </a:defRPr>
            </a:pPr>
            <a:r>
              <a:t>wettermessung</a:t>
            </a:r>
          </a:p>
        </p:txBody>
      </p:sp>
      <p:sp>
        <p:nvSpPr>
          <p:cNvPr id="29" name="TextBox 28"/>
          <p:cNvSpPr txBox="1"/>
          <p:nvPr/>
        </p:nvSpPr>
        <p:spPr>
          <a:xfrm>
            <a:off x="9235440" y="4480560"/>
            <a:ext cx="2286000" cy="914400"/>
          </a:xfrm>
          <a:prstGeom prst="rect">
            <a:avLst/>
          </a:prstGeom>
          <a:noFill/>
        </p:spPr>
        <p:txBody>
          <a:bodyPr wrap="square">
            <a:spAutoFit/>
          </a:bodyPr>
          <a:lstStyle/>
          <a:p>
            <a:pPr>
              <a:spcAft>
                <a:spcPts val="400"/>
              </a:spcAft>
              <a:defRPr sz="1400" b="0">
                <a:solidFill>
                  <a:srgbClr val="17364A"/>
                </a:solidFill>
                <a:latin typeface="Aptos"/>
              </a:defRPr>
            </a:pPr>
            <a:r>
              <a:t>Messwert pro Station und Stunde (UTC) (C)</a:t>
            </a:r>
          </a:p>
        </p:txBody>
      </p:sp>
      <p:cxnSp>
        <p:nvCxnSpPr>
          <p:cNvPr id="30" name="Connector 29"/>
          <p:cNvCxnSpPr/>
          <p:nvPr/>
        </p:nvCxnSpPr>
        <p:spPr>
          <a:xfrm>
            <a:off x="10351008" y="3108960"/>
            <a:ext cx="0" cy="731520"/>
          </a:xfrm>
          <a:prstGeom prst="line">
            <a:avLst/>
          </a:prstGeom>
          <a:ln w="25400">
            <a:solidFill>
              <a:srgbClr val="167D8D"/>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291840" y="4114800"/>
            <a:ext cx="5577840" cy="1280160"/>
          </a:xfrm>
          <a:prstGeom prst="rect">
            <a:avLst/>
          </a:prstGeom>
          <a:noFill/>
        </p:spPr>
        <p:txBody>
          <a:bodyPr wrap="square">
            <a:spAutoFit/>
          </a:bodyPr>
          <a:lstStyle/>
          <a:p>
            <a:pPr>
              <a:spcAft>
                <a:spcPts val="1200"/>
              </a:spcAft>
              <a:defRPr sz="1600" b="0">
                <a:solidFill>
                  <a:srgbClr val="53616B"/>
                </a:solidFill>
                <a:latin typeface="Aptos"/>
              </a:defRPr>
            </a:pPr>
            <a:r>
              <a:t>Alle Zeiten TIMESTAMPTZ · Schlüssel und Spaltennamen mit Paket C abgestimmt · Indizes auf Soll-Zeit und Haltestelle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8" name="Picture 7"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Skalierbarkeit: gleicher Code, längere Haltestellenliste</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Aladin · Paket B | Quellen: SBB/SKI (2026), swisstopo (2026),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12</a:t>
            </a:r>
          </a:p>
        </p:txBody>
      </p:sp>
      <p:graphicFrame>
        <p:nvGraphicFramePr>
          <p:cNvPr id="6" name="Table 5"/>
          <p:cNvGraphicFramePr>
            <a:graphicFrameLocks noGrp="1"/>
          </p:cNvGraphicFramePr>
          <p:nvPr/>
        </p:nvGraphicFramePr>
        <p:xfrm>
          <a:off x="502920" y="1234440"/>
          <a:ext cx="11155680" cy="1645920"/>
        </p:xfrm>
        <a:graphic>
          <a:graphicData uri="http://schemas.openxmlformats.org/drawingml/2006/table">
            <a:tbl>
              <a:tblPr firstRow="1" bandRow="1">
                <a:tableStyleId>{5C22544A-7EE6-4342-B048-85BDC9FD1C3A}</a:tableStyleId>
              </a:tblPr>
              <a:tblGrid>
                <a:gridCol w="4206240"/>
                <a:gridCol w="1737360"/>
                <a:gridCol w="1737360"/>
                <a:gridCol w="1737360"/>
                <a:gridCol w="1737360"/>
              </a:tblGrid>
              <a:tr h="411480">
                <a:tc>
                  <a:txBody>
                    <a:bodyPr/>
                    <a:lstStyle/>
                    <a:p>
                      <a:pPr>
                        <a:defRPr sz="1700" b="1">
                          <a:solidFill>
                            <a:srgbClr val="FFFFFF"/>
                          </a:solidFill>
                          <a:latin typeface="Aptos"/>
                        </a:defRPr>
                      </a:pPr>
                      <a:r>
                        <a:t>Umfang</a:t>
                      </a:r>
                    </a:p>
                  </a:txBody>
                  <a:tcPr>
                    <a:solidFill>
                      <a:srgbClr val="17364A"/>
                    </a:solidFill>
                  </a:tcPr>
                </a:tc>
                <a:tc>
                  <a:txBody>
                    <a:bodyPr/>
                    <a:lstStyle/>
                    <a:p>
                      <a:pPr>
                        <a:defRPr sz="1700" b="1">
                          <a:solidFill>
                            <a:srgbClr val="FFFFFF"/>
                          </a:solidFill>
                          <a:latin typeface="Aptos"/>
                        </a:defRPr>
                      </a:pPr>
                      <a:r>
                        <a:t>Zeilen</a:t>
                      </a:r>
                    </a:p>
                  </a:txBody>
                  <a:tcPr>
                    <a:solidFill>
                      <a:srgbClr val="17364A"/>
                    </a:solidFill>
                  </a:tcPr>
                </a:tc>
                <a:tc>
                  <a:txBody>
                    <a:bodyPr/>
                    <a:lstStyle/>
                    <a:p>
                      <a:pPr>
                        <a:defRPr sz="1700" b="1">
                          <a:solidFill>
                            <a:srgbClr val="FFFFFF"/>
                          </a:solidFill>
                          <a:latin typeface="Aptos"/>
                        </a:defRPr>
                      </a:pPr>
                      <a:r>
                        <a:t>DuckDB</a:t>
                      </a:r>
                    </a:p>
                  </a:txBody>
                  <a:tcPr>
                    <a:solidFill>
                      <a:srgbClr val="17364A"/>
                    </a:solidFill>
                  </a:tcPr>
                </a:tc>
                <a:tc>
                  <a:txBody>
                    <a:bodyPr/>
                    <a:lstStyle/>
                    <a:p>
                      <a:pPr>
                        <a:defRPr sz="1700" b="1">
                          <a:solidFill>
                            <a:srgbClr val="FFFFFF"/>
                          </a:solidFill>
                          <a:latin typeface="Aptos"/>
                        </a:defRPr>
                      </a:pPr>
                      <a:r>
                        <a:t>Parquet</a:t>
                      </a:r>
                    </a:p>
                  </a:txBody>
                  <a:tcPr>
                    <a:solidFill>
                      <a:srgbClr val="17364A"/>
                    </a:solidFill>
                  </a:tcPr>
                </a:tc>
                <a:tc>
                  <a:txBody>
                    <a:bodyPr/>
                    <a:lstStyle/>
                    <a:p>
                      <a:pPr>
                        <a:defRPr sz="1700" b="1">
                          <a:solidFill>
                            <a:srgbClr val="FFFFFF"/>
                          </a:solidFill>
                          <a:latin typeface="Aptos"/>
                        </a:defRPr>
                      </a:pPr>
                      <a:r>
                        <a:t>Laufzeit</a:t>
                      </a:r>
                    </a:p>
                  </a:txBody>
                  <a:tcPr>
                    <a:solidFill>
                      <a:srgbClr val="17364A"/>
                    </a:solidFill>
                  </a:tcPr>
                </a:tc>
              </a:tr>
              <a:tr h="411480">
                <a:tc>
                  <a:txBody>
                    <a:bodyPr/>
                    <a:lstStyle/>
                    <a:p>
                      <a:pPr>
                        <a:defRPr sz="1700" b="0">
                          <a:solidFill>
                            <a:srgbClr val="17364A"/>
                          </a:solidFill>
                          <a:latin typeface="Aptos"/>
                        </a:defRPr>
                      </a:pPr>
                      <a:r>
                        <a:t>1 Tag, ganze Schweiz (gemessen)</a:t>
                      </a:r>
                    </a:p>
                  </a:txBody>
                  <a:tcPr>
                    <a:solidFill>
                      <a:srgbClr val="FFFFFF"/>
                    </a:solidFill>
                  </a:tcPr>
                </a:tc>
                <a:tc>
                  <a:txBody>
                    <a:bodyPr/>
                    <a:lstStyle/>
                    <a:p>
                      <a:pPr>
                        <a:defRPr sz="1700" b="0">
                          <a:solidFill>
                            <a:srgbClr val="17364A"/>
                          </a:solidFill>
                          <a:latin typeface="Aptos"/>
                        </a:defRPr>
                      </a:pPr>
                      <a:r>
                        <a:t>2,34 Mio.</a:t>
                      </a:r>
                    </a:p>
                  </a:txBody>
                  <a:tcPr>
                    <a:solidFill>
                      <a:srgbClr val="FFFFFF"/>
                    </a:solidFill>
                  </a:tcPr>
                </a:tc>
                <a:tc>
                  <a:txBody>
                    <a:bodyPr/>
                    <a:lstStyle/>
                    <a:p>
                      <a:pPr>
                        <a:defRPr sz="1700" b="0">
                          <a:solidFill>
                            <a:srgbClr val="17364A"/>
                          </a:solidFill>
                          <a:latin typeface="Aptos"/>
                        </a:defRPr>
                      </a:pPr>
                      <a:r>
                        <a:t>375 MB</a:t>
                      </a:r>
                    </a:p>
                  </a:txBody>
                  <a:tcPr>
                    <a:solidFill>
                      <a:srgbClr val="FFFFFF"/>
                    </a:solidFill>
                  </a:tcPr>
                </a:tc>
                <a:tc>
                  <a:txBody>
                    <a:bodyPr/>
                    <a:lstStyle/>
                    <a:p>
                      <a:pPr>
                        <a:defRPr sz="1700" b="0">
                          <a:solidFill>
                            <a:srgbClr val="17364A"/>
                          </a:solidFill>
                          <a:latin typeface="Aptos"/>
                        </a:defRPr>
                      </a:pPr>
                      <a:r>
                        <a:t>ca. 45 MB</a:t>
                      </a:r>
                    </a:p>
                  </a:txBody>
                  <a:tcPr>
                    <a:solidFill>
                      <a:srgbClr val="FFFFFF"/>
                    </a:solidFill>
                  </a:tcPr>
                </a:tc>
                <a:tc>
                  <a:txBody>
                    <a:bodyPr/>
                    <a:lstStyle/>
                    <a:p>
                      <a:pPr>
                        <a:defRPr sz="1700" b="0">
                          <a:solidFill>
                            <a:srgbClr val="17364A"/>
                          </a:solidFill>
                          <a:latin typeface="Aptos"/>
                        </a:defRPr>
                      </a:pPr>
                      <a:r>
                        <a:t>43 s</a:t>
                      </a:r>
                    </a:p>
                  </a:txBody>
                  <a:tcPr>
                    <a:solidFill>
                      <a:srgbClr val="FFFFFF"/>
                    </a:solidFill>
                  </a:tcPr>
                </a:tc>
              </a:tr>
              <a:tr h="411480">
                <a:tc>
                  <a:txBody>
                    <a:bodyPr/>
                    <a:lstStyle/>
                    <a:p>
                      <a:pPr>
                        <a:defRPr sz="1700" b="1">
                          <a:solidFill>
                            <a:srgbClr val="FFFFFF"/>
                          </a:solidFill>
                          <a:latin typeface="Aptos"/>
                        </a:defRPr>
                      </a:pPr>
                      <a:r>
                        <a:t>90 Tage, Ostschweiz (gemessen)</a:t>
                      </a:r>
                    </a:p>
                  </a:txBody>
                  <a:tcPr>
                    <a:solidFill>
                      <a:srgbClr val="167D8D"/>
                    </a:solidFill>
                  </a:tcPr>
                </a:tc>
                <a:tc>
                  <a:txBody>
                    <a:bodyPr/>
                    <a:lstStyle/>
                    <a:p>
                      <a:pPr>
                        <a:defRPr sz="1700" b="1">
                          <a:solidFill>
                            <a:srgbClr val="FFFFFF"/>
                          </a:solidFill>
                          <a:latin typeface="Aptos"/>
                        </a:defRPr>
                      </a:pPr>
                      <a:r>
                        <a:t>17,07 Mio.</a:t>
                      </a:r>
                    </a:p>
                  </a:txBody>
                  <a:tcPr>
                    <a:solidFill>
                      <a:srgbClr val="167D8D"/>
                    </a:solidFill>
                  </a:tcPr>
                </a:tc>
                <a:tc>
                  <a:txBody>
                    <a:bodyPr/>
                    <a:lstStyle/>
                    <a:p>
                      <a:pPr>
                        <a:defRPr sz="1700" b="1">
                          <a:solidFill>
                            <a:srgbClr val="FFFFFF"/>
                          </a:solidFill>
                          <a:latin typeface="Aptos"/>
                        </a:defRPr>
                      </a:pPr>
                      <a:r>
                        <a:t>2,6 GB</a:t>
                      </a:r>
                    </a:p>
                  </a:txBody>
                  <a:tcPr>
                    <a:solidFill>
                      <a:srgbClr val="167D8D"/>
                    </a:solidFill>
                  </a:tcPr>
                </a:tc>
                <a:tc>
                  <a:txBody>
                    <a:bodyPr/>
                    <a:lstStyle/>
                    <a:p>
                      <a:pPr>
                        <a:defRPr sz="1700" b="1">
                          <a:solidFill>
                            <a:srgbClr val="FFFFFF"/>
                          </a:solidFill>
                          <a:latin typeface="Aptos"/>
                        </a:defRPr>
                      </a:pPr>
                      <a:r>
                        <a:t>305 MB</a:t>
                      </a:r>
                    </a:p>
                  </a:txBody>
                  <a:tcPr>
                    <a:solidFill>
                      <a:srgbClr val="167D8D"/>
                    </a:solidFill>
                  </a:tcPr>
                </a:tc>
                <a:tc>
                  <a:txBody>
                    <a:bodyPr/>
                    <a:lstStyle/>
                    <a:p>
                      <a:pPr>
                        <a:defRPr sz="1700" b="1">
                          <a:solidFill>
                            <a:srgbClr val="FFFFFF"/>
                          </a:solidFill>
                          <a:latin typeface="Aptos"/>
                        </a:defRPr>
                      </a:pPr>
                      <a:r>
                        <a:t>ca. 16 Min.</a:t>
                      </a:r>
                    </a:p>
                  </a:txBody>
                  <a:tcPr>
                    <a:solidFill>
                      <a:srgbClr val="167D8D"/>
                    </a:solidFill>
                  </a:tcPr>
                </a:tc>
              </a:tr>
              <a:tr h="411480">
                <a:tc>
                  <a:txBody>
                    <a:bodyPr/>
                    <a:lstStyle/>
                    <a:p>
                      <a:pPr>
                        <a:defRPr sz="1700" b="0">
                          <a:solidFill>
                            <a:srgbClr val="17364A"/>
                          </a:solidFill>
                          <a:latin typeface="Aptos"/>
                        </a:defRPr>
                      </a:pPr>
                      <a:r>
                        <a:t>90 Tage, ganze Schweiz (hochgerechnet)</a:t>
                      </a:r>
                    </a:p>
                  </a:txBody>
                  <a:tcPr>
                    <a:solidFill>
                      <a:srgbClr val="FFFFFF"/>
                    </a:solidFill>
                  </a:tcPr>
                </a:tc>
                <a:tc>
                  <a:txBody>
                    <a:bodyPr/>
                    <a:lstStyle/>
                    <a:p>
                      <a:pPr>
                        <a:defRPr sz="1700" b="0">
                          <a:solidFill>
                            <a:srgbClr val="17364A"/>
                          </a:solidFill>
                          <a:latin typeface="Aptos"/>
                        </a:defRPr>
                      </a:pPr>
                      <a:r>
                        <a:t>ca. 210 Mio.</a:t>
                      </a:r>
                    </a:p>
                  </a:txBody>
                  <a:tcPr>
                    <a:solidFill>
                      <a:srgbClr val="FFFFFF"/>
                    </a:solidFill>
                  </a:tcPr>
                </a:tc>
                <a:tc>
                  <a:txBody>
                    <a:bodyPr/>
                    <a:lstStyle/>
                    <a:p>
                      <a:pPr>
                        <a:defRPr sz="1700" b="0">
                          <a:solidFill>
                            <a:srgbClr val="17364A"/>
                          </a:solidFill>
                          <a:latin typeface="Aptos"/>
                        </a:defRPr>
                      </a:pPr>
                      <a:r>
                        <a:t>ca. 34 GB</a:t>
                      </a:r>
                    </a:p>
                  </a:txBody>
                  <a:tcPr>
                    <a:solidFill>
                      <a:srgbClr val="FFFFFF"/>
                    </a:solidFill>
                  </a:tcPr>
                </a:tc>
                <a:tc>
                  <a:txBody>
                    <a:bodyPr/>
                    <a:lstStyle/>
                    <a:p>
                      <a:pPr>
                        <a:defRPr sz="1700" b="0">
                          <a:solidFill>
                            <a:srgbClr val="17364A"/>
                          </a:solidFill>
                          <a:latin typeface="Aptos"/>
                        </a:defRPr>
                      </a:pPr>
                      <a:r>
                        <a:t>ca. 4 GB</a:t>
                      </a:r>
                    </a:p>
                  </a:txBody>
                  <a:tcPr>
                    <a:solidFill>
                      <a:srgbClr val="FFFFFF"/>
                    </a:solidFill>
                  </a:tcPr>
                </a:tc>
                <a:tc>
                  <a:txBody>
                    <a:bodyPr/>
                    <a:lstStyle/>
                    <a:p>
                      <a:pPr>
                        <a:defRPr sz="1700" b="0">
                          <a:solidFill>
                            <a:srgbClr val="17364A"/>
                          </a:solidFill>
                          <a:latin typeface="Aptos"/>
                        </a:defRPr>
                      </a:pPr>
                      <a:r>
                        <a:t>ca. 1 h</a:t>
                      </a:r>
                    </a:p>
                  </a:txBody>
                  <a:tcPr>
                    <a:solidFill>
                      <a:srgbClr val="FFFFFF"/>
                    </a:solidFill>
                  </a:tcPr>
                </a:tc>
              </a:tr>
            </a:tbl>
          </a:graphicData>
        </a:graphic>
      </p:graphicFrame>
      <p:sp>
        <p:nvSpPr>
          <p:cNvPr id="7" name="TextBox 6"/>
          <p:cNvSpPr txBox="1"/>
          <p:nvPr/>
        </p:nvSpPr>
        <p:spPr>
          <a:xfrm>
            <a:off x="502920" y="3383280"/>
            <a:ext cx="11155680" cy="2194560"/>
          </a:xfrm>
          <a:prstGeom prst="rect">
            <a:avLst/>
          </a:prstGeom>
          <a:noFill/>
        </p:spPr>
        <p:txBody>
          <a:bodyPr wrap="square">
            <a:spAutoFit/>
          </a:bodyPr>
          <a:lstStyle/>
          <a:p>
            <a:pPr>
              <a:spcAft>
                <a:spcPts val="1000"/>
              </a:spcAft>
              <a:defRPr sz="1800" b="0">
                <a:solidFill>
                  <a:srgbClr val="17364A"/>
                </a:solidFill>
                <a:latin typeface="Aptos"/>
              </a:defRPr>
            </a:pPr>
            <a:r>
              <a:t>• Speicherbedarf beim Laden hängt nicht von der Dateigrösse ab, weil streamend gelesen wird.</a:t>
            </a:r>
          </a:p>
          <a:p>
            <a:pPr>
              <a:spcAft>
                <a:spcPts val="1000"/>
              </a:spcAft>
              <a:defRPr sz="1800" b="0">
                <a:solidFill>
                  <a:srgbClr val="17364A"/>
                </a:solidFill>
                <a:latin typeface="Aptos"/>
              </a:defRPr>
            </a:pPr>
            <a:r>
              <a:t>• Mehr Kantone: nur die Haltestellenliste erweitern, Code und Schema bleiben gleich.</a:t>
            </a:r>
          </a:p>
          <a:p>
            <a:pPr>
              <a:spcAft>
                <a:spcPts val="1000"/>
              </a:spcAft>
              <a:defRPr sz="1800" b="0">
                <a:solidFill>
                  <a:srgbClr val="17364A"/>
                </a:solidFill>
                <a:latin typeface="Aptos"/>
              </a:defRPr>
            </a:pPr>
            <a:r>
              <a:t>• Grenze: DuckDB erlaubt nur einen schreibenden Prozess; für Teil 2 ist PostgreSQL die nächste Stufe.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11" name="Picture 10"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Wetterdaten passend zu jedem Halt</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Enis · Paket C | Quellen: MeteoSchweiz (2026), SBB/SKI (2026), swisstopo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13</a:t>
            </a:r>
          </a:p>
        </p:txBody>
      </p:sp>
      <p:sp>
        <p:nvSpPr>
          <p:cNvPr id="6" name="TextBox 5"/>
          <p:cNvSpPr txBox="1"/>
          <p:nvPr/>
        </p:nvSpPr>
        <p:spPr>
          <a:xfrm>
            <a:off x="502920" y="1234440"/>
            <a:ext cx="5394960" cy="548640"/>
          </a:xfrm>
          <a:prstGeom prst="rect">
            <a:avLst/>
          </a:prstGeom>
          <a:noFill/>
        </p:spPr>
        <p:txBody>
          <a:bodyPr wrap="square">
            <a:spAutoFit/>
          </a:bodyPr>
          <a:lstStyle/>
          <a:p>
            <a:pPr>
              <a:spcAft>
                <a:spcPts val="1200"/>
              </a:spcAft>
              <a:defRPr sz="2900" b="1">
                <a:solidFill>
                  <a:srgbClr val="167D8D"/>
                </a:solidFill>
                <a:latin typeface="Aptos"/>
              </a:defRPr>
            </a:pPr>
            <a:r>
              <a:t>13 Stationen · 10 geeignet</a:t>
            </a:r>
          </a:p>
        </p:txBody>
      </p:sp>
      <p:sp>
        <p:nvSpPr>
          <p:cNvPr id="7" name="TextBox 6"/>
          <p:cNvSpPr txBox="1"/>
          <p:nvPr/>
        </p:nvSpPr>
        <p:spPr>
          <a:xfrm>
            <a:off x="502920" y="2011680"/>
            <a:ext cx="5303520" cy="3566160"/>
          </a:xfrm>
          <a:prstGeom prst="rect">
            <a:avLst/>
          </a:prstGeom>
          <a:noFill/>
        </p:spPr>
        <p:txBody>
          <a:bodyPr wrap="square">
            <a:spAutoFit/>
          </a:bodyPr>
          <a:lstStyle/>
          <a:p>
            <a:pPr>
              <a:spcAft>
                <a:spcPts val="1200"/>
              </a:spcAft>
              <a:defRPr sz="2300" b="0">
                <a:solidFill>
                  <a:srgbClr val="17364A"/>
                </a:solidFill>
                <a:latin typeface="Aptos"/>
              </a:defRPr>
            </a:pPr>
            <a:r>
              <a:t>MeteoSchweiz SwissMetNet, Januar–März 2026</a:t>
            </a:r>
          </a:p>
          <a:p>
            <a:pPr>
              <a:spcAft>
                <a:spcPts val="1200"/>
              </a:spcAft>
              <a:defRPr sz="2300" b="0">
                <a:solidFill>
                  <a:srgbClr val="17364A"/>
                </a:solidFill>
                <a:latin typeface="Aptos"/>
              </a:defRPr>
            </a:pPr>
            <a:r>
              <a:t>Stundenwerte: Niederschlag und Temperatur; Wind und Schnee soweit verfügbar</a:t>
            </a:r>
          </a:p>
          <a:p>
            <a:pPr>
              <a:spcAft>
                <a:spcPts val="1200"/>
              </a:spcAft>
              <a:defRPr sz="2300" b="0">
                <a:solidFill>
                  <a:srgbClr val="17364A"/>
                </a:solidFill>
                <a:latin typeface="Aptos"/>
              </a:defRPr>
            </a:pPr>
            <a:r>
              <a:t>QUI, SCM und STK fehlen die Kernparameter</a:t>
            </a:r>
          </a:p>
        </p:txBody>
      </p:sp>
      <p:sp>
        <p:nvSpPr>
          <p:cNvPr id="8" name="TextBox 7"/>
          <p:cNvSpPr txBox="1"/>
          <p:nvPr/>
        </p:nvSpPr>
        <p:spPr>
          <a:xfrm>
            <a:off x="6400800" y="1234440"/>
            <a:ext cx="5212080" cy="548640"/>
          </a:xfrm>
          <a:prstGeom prst="rect">
            <a:avLst/>
          </a:prstGeom>
          <a:noFill/>
        </p:spPr>
        <p:txBody>
          <a:bodyPr wrap="square">
            <a:spAutoFit/>
          </a:bodyPr>
          <a:lstStyle/>
          <a:p>
            <a:pPr>
              <a:spcAft>
                <a:spcPts val="1200"/>
              </a:spcAft>
              <a:defRPr sz="2700" b="1">
                <a:solidFill>
                  <a:srgbClr val="167D8D"/>
                </a:solidFill>
                <a:latin typeface="Aptos"/>
              </a:defRPr>
            </a:pPr>
            <a:r>
              <a:t>2’540 Haltestellen zugeordnet</a:t>
            </a:r>
          </a:p>
        </p:txBody>
      </p:sp>
      <p:sp>
        <p:nvSpPr>
          <p:cNvPr id="9" name="TextBox 8"/>
          <p:cNvSpPr txBox="1"/>
          <p:nvPr/>
        </p:nvSpPr>
        <p:spPr>
          <a:xfrm>
            <a:off x="6400800" y="2011680"/>
            <a:ext cx="5212080" cy="3566160"/>
          </a:xfrm>
          <a:prstGeom prst="rect">
            <a:avLst/>
          </a:prstGeom>
          <a:noFill/>
        </p:spPr>
        <p:txBody>
          <a:bodyPr wrap="square">
            <a:spAutoFit/>
          </a:bodyPr>
          <a:lstStyle/>
          <a:p>
            <a:pPr>
              <a:spcAft>
                <a:spcPts val="1200"/>
              </a:spcAft>
              <a:defRPr sz="2300" b="0">
                <a:solidFill>
                  <a:srgbClr val="17364A"/>
                </a:solidFill>
                <a:latin typeface="Aptos"/>
              </a:defRPr>
            </a:pPr>
            <a:r>
              <a:t>Nächste geeignete Station: höchstens 30 km und 500 m Höhenunterschied</a:t>
            </a:r>
          </a:p>
          <a:p>
            <a:pPr>
              <a:spcAft>
                <a:spcPts val="1200"/>
              </a:spcAft>
              <a:defRPr sz="2300" b="0">
                <a:solidFill>
                  <a:srgbClr val="17364A"/>
                </a:solidFill>
                <a:latin typeface="Aptos"/>
              </a:defRPr>
            </a:pPr>
            <a:r>
              <a:t>Geländehöhen mit swisstopo ergänzt; 47 Haltestellen ohne passende Station</a:t>
            </a:r>
          </a:p>
          <a:p>
            <a:pPr>
              <a:spcAft>
                <a:spcPts val="1200"/>
              </a:spcAft>
              <a:defRPr sz="2300" b="0">
                <a:solidFill>
                  <a:srgbClr val="17364A"/>
                </a:solidFill>
                <a:latin typeface="Aptos"/>
              </a:defRPr>
            </a:pPr>
            <a:r>
              <a:t>Join nach Soll-Ankunft und Wetterintervall in UTC</a:t>
            </a:r>
          </a:p>
        </p:txBody>
      </p:sp>
      <p:sp>
        <p:nvSpPr>
          <p:cNvPr id="10" name="TextBox 9"/>
          <p:cNvSpPr txBox="1"/>
          <p:nvPr/>
        </p:nvSpPr>
        <p:spPr>
          <a:xfrm>
            <a:off x="502920" y="5669280"/>
            <a:ext cx="10972800" cy="457200"/>
          </a:xfrm>
          <a:prstGeom prst="rect">
            <a:avLst/>
          </a:prstGeom>
          <a:noFill/>
        </p:spPr>
        <p:txBody>
          <a:bodyPr wrap="square">
            <a:spAutoFit/>
          </a:bodyPr>
          <a:lstStyle/>
          <a:p>
            <a:pPr>
              <a:spcAft>
                <a:spcPts val="1200"/>
              </a:spcAft>
              <a:defRPr sz="2200" b="1">
                <a:solidFill>
                  <a:srgbClr val="167D8D"/>
                </a:solidFill>
                <a:latin typeface="Aptos"/>
              </a:defRPr>
            </a:pPr>
            <a:r>
              <a:t>Bestehende Basis: Python + DuckDB + Parquet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9" name="Picture 8" descr="hintergrund_inhalt.png"/>
          <p:cNvPicPr>
            <a:picLocks noChangeAspect="1"/>
          </p:cNvPicPr>
          <p:nvPr/>
        </p:nvPicPr>
        <p:blipFill>
          <a:blip r:embed="rId4"/>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Bereinigung: von 17,07 auf 11,63 Mio. Halte</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Enis · Paket C | Quellen: MeteoSchweiz (2026), SBB/SKI (2026), swisstopo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14</a:t>
            </a:r>
          </a:p>
        </p:txBody>
      </p:sp>
      <p:sp>
        <p:nvSpPr>
          <p:cNvPr id="6" name="TextBox 5"/>
          <p:cNvSpPr txBox="1"/>
          <p:nvPr/>
        </p:nvSpPr>
        <p:spPr>
          <a:xfrm>
            <a:off x="502920" y="1280160"/>
            <a:ext cx="4114800" cy="3383280"/>
          </a:xfrm>
          <a:prstGeom prst="rect">
            <a:avLst/>
          </a:prstGeom>
          <a:noFill/>
        </p:spPr>
        <p:txBody>
          <a:bodyPr wrap="square">
            <a:spAutoFit/>
          </a:bodyPr>
          <a:lstStyle/>
          <a:p>
            <a:pPr>
              <a:spcAft>
                <a:spcPts val="1200"/>
              </a:spcAft>
              <a:defRPr sz="2200" b="0">
                <a:solidFill>
                  <a:srgbClr val="17364A"/>
                </a:solidFill>
                <a:latin typeface="Aptos"/>
              </a:defRPr>
            </a:pPr>
            <a:r>
              <a:t>Nur gemessene Ankünfte (REAL)</a:t>
            </a:r>
          </a:p>
          <a:p>
            <a:pPr>
              <a:spcAft>
                <a:spcPts val="1200"/>
              </a:spcAft>
              <a:defRPr sz="2200" b="0">
                <a:solidFill>
                  <a:srgbClr val="17364A"/>
                </a:solidFill>
                <a:latin typeface="Aptos"/>
              </a:defRPr>
            </a:pPr>
            <a:r>
              <a:t>Keine Ausfälle oder Durchfahrten</a:t>
            </a:r>
          </a:p>
          <a:p>
            <a:pPr>
              <a:spcAft>
                <a:spcPts val="1200"/>
              </a:spcAft>
              <a:defRPr sz="2200" b="0">
                <a:solidFill>
                  <a:srgbClr val="17364A"/>
                </a:solidFill>
                <a:latin typeface="Aptos"/>
              </a:defRPr>
            </a:pPr>
            <a:r>
              <a:t>Plausibilität: −10 bis +60 Minuten</a:t>
            </a:r>
          </a:p>
          <a:p>
            <a:pPr>
              <a:spcAft>
                <a:spcPts val="1200"/>
              </a:spcAft>
              <a:defRPr sz="2200" b="0">
                <a:solidFill>
                  <a:srgbClr val="17364A"/>
                </a:solidFill>
                <a:latin typeface="Aptos"/>
              </a:defRPr>
            </a:pPr>
            <a:r>
              <a:t>Verspätet: mindestens 3 Minuten</a:t>
            </a:r>
          </a:p>
        </p:txBody>
      </p:sp>
      <p:pic>
        <p:nvPicPr>
          <p:cNvPr id="7" name="Picture 6" descr="verspaetungsverteilung.png"/>
          <p:cNvPicPr>
            <a:picLocks noChangeAspect="1"/>
          </p:cNvPicPr>
          <p:nvPr/>
        </p:nvPicPr>
        <p:blipFill>
          <a:blip r:embed="rId2"/>
          <a:stretch>
            <a:fillRect/>
          </a:stretch>
        </p:blipFill>
        <p:spPr>
          <a:xfrm>
            <a:off x="4617720" y="1280160"/>
            <a:ext cx="7178040" cy="3589020"/>
          </a:xfrm>
          <a:prstGeom prst="rect">
            <a:avLst/>
          </a:prstGeom>
        </p:spPr>
      </p:pic>
      <p:sp>
        <p:nvSpPr>
          <p:cNvPr id="8" name="TextBox 7"/>
          <p:cNvSpPr txBox="1"/>
          <p:nvPr/>
        </p:nvSpPr>
        <p:spPr>
          <a:xfrm>
            <a:off x="502920" y="5212080"/>
            <a:ext cx="10972800" cy="822960"/>
          </a:xfrm>
          <a:prstGeom prst="rect">
            <a:avLst/>
          </a:prstGeom>
          <a:noFill/>
        </p:spPr>
        <p:txBody>
          <a:bodyPr wrap="square">
            <a:spAutoFit/>
          </a:bodyPr>
          <a:lstStyle/>
          <a:p>
            <a:pPr>
              <a:spcAft>
                <a:spcPts val="1200"/>
              </a:spcAft>
              <a:defRPr sz="2000" b="0">
                <a:solidFill>
                  <a:srgbClr val="53616B"/>
                </a:solidFill>
                <a:latin typeface="Aptos"/>
              </a:defRPr>
            </a:pPr>
            <a:r>
              <a:t>Ankunftsstatus REAL vor Bereinigung: Bahn 89,72 % · Bus 65,94 %</a:t>
            </a:r>
          </a:p>
          <a:p>
            <a:pPr>
              <a:spcAft>
                <a:spcPts val="1200"/>
              </a:spcAft>
              <a:defRPr sz="2000" b="0">
                <a:solidFill>
                  <a:srgbClr val="53616B"/>
                </a:solidFill>
                <a:latin typeface="Aptos"/>
              </a:defRPr>
            </a:pPr>
            <a:r>
              <a:t>Unterschiedliche Messabdeckung bleibt eine Grenze des Vergleichs.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10" name="Picture 9" descr="hintergrund_inhalt.png"/>
          <p:cNvPicPr>
            <a:picLocks noChangeAspect="1"/>
          </p:cNvPicPr>
          <p:nvPr/>
        </p:nvPicPr>
        <p:blipFill>
          <a:blip r:embed="rId4"/>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H1: Bei starkem Niederschlag etwas mehr Verspätung</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Enis · Paket C | Quellen: MeteoSchweiz (2026), SBB/SKI (2026), swisstopo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15</a:t>
            </a:r>
          </a:p>
        </p:txBody>
      </p:sp>
      <p:sp>
        <p:nvSpPr>
          <p:cNvPr id="6" name="TextBox 5"/>
          <p:cNvSpPr txBox="1"/>
          <p:nvPr/>
        </p:nvSpPr>
        <p:spPr>
          <a:xfrm>
            <a:off x="502920" y="1188720"/>
            <a:ext cx="11155680" cy="685800"/>
          </a:xfrm>
          <a:prstGeom prst="rect">
            <a:avLst/>
          </a:prstGeom>
          <a:noFill/>
        </p:spPr>
        <p:txBody>
          <a:bodyPr wrap="square">
            <a:spAutoFit/>
          </a:bodyPr>
          <a:lstStyle/>
          <a:p>
            <a:pPr>
              <a:spcAft>
                <a:spcPts val="1200"/>
              </a:spcAft>
              <a:defRPr sz="2700" b="1">
                <a:solidFill>
                  <a:srgbClr val="167D8D"/>
                </a:solidFill>
                <a:latin typeface="Aptos"/>
              </a:defRPr>
            </a:pPr>
            <a:r>
              <a:t>+13,2 Sekunden im Mittel · 12,36 % → 15,50 % verspätete Halte</a:t>
            </a:r>
          </a:p>
        </p:txBody>
      </p:sp>
      <p:pic>
        <p:nvPicPr>
          <p:cNvPr id="7" name="Picture 6" descr="wetter_verkehrsmittel.png"/>
          <p:cNvPicPr>
            <a:picLocks noChangeAspect="1"/>
          </p:cNvPicPr>
          <p:nvPr/>
        </p:nvPicPr>
        <p:blipFill>
          <a:blip r:embed="rId2"/>
          <a:stretch>
            <a:fillRect/>
          </a:stretch>
        </p:blipFill>
        <p:spPr>
          <a:xfrm>
            <a:off x="457200" y="2240280"/>
            <a:ext cx="8046720" cy="3218688"/>
          </a:xfrm>
          <a:prstGeom prst="rect">
            <a:avLst/>
          </a:prstGeom>
        </p:spPr>
      </p:pic>
      <p:sp>
        <p:nvSpPr>
          <p:cNvPr id="8" name="TextBox 7"/>
          <p:cNvSpPr txBox="1"/>
          <p:nvPr/>
        </p:nvSpPr>
        <p:spPr>
          <a:xfrm>
            <a:off x="8732520" y="2194560"/>
            <a:ext cx="2971800" cy="3474720"/>
          </a:xfrm>
          <a:prstGeom prst="rect">
            <a:avLst/>
          </a:prstGeom>
          <a:noFill/>
        </p:spPr>
        <p:txBody>
          <a:bodyPr wrap="square">
            <a:spAutoFit/>
          </a:bodyPr>
          <a:lstStyle/>
          <a:p>
            <a:pPr>
              <a:spcAft>
                <a:spcPts val="1200"/>
              </a:spcAft>
              <a:defRPr sz="1800" b="0">
                <a:solidFill>
                  <a:srgbClr val="17364A"/>
                </a:solidFill>
                <a:latin typeface="Aptos"/>
              </a:defRPr>
            </a:pPr>
            <a:r>
              <a:t>Stark: &gt; 1,7 mm/h</a:t>
            </a:r>
          </a:p>
          <a:p>
            <a:pPr>
              <a:spcAft>
                <a:spcPts val="1200"/>
              </a:spcAft>
              <a:defRPr sz="1800" b="0">
                <a:solidFill>
                  <a:srgbClr val="17364A"/>
                </a:solidFill>
                <a:latin typeface="Aptos"/>
              </a:defRPr>
            </a:pPr>
            <a:r>
              <a:t>Kleiner Effekt: r = 0,070</a:t>
            </a:r>
          </a:p>
          <a:p>
            <a:pPr>
              <a:spcAft>
                <a:spcPts val="1200"/>
              </a:spcAft>
              <a:defRPr sz="1800" b="0">
                <a:solidFill>
                  <a:srgbClr val="17364A"/>
                </a:solidFill>
                <a:latin typeface="Aptos"/>
              </a:defRPr>
            </a:pPr>
            <a:r>
              <a:t>p &lt; 0,001</a:t>
            </a:r>
          </a:p>
          <a:p>
            <a:pPr>
              <a:spcAft>
                <a:spcPts val="1200"/>
              </a:spcAft>
              <a:defRPr sz="1800" b="0">
                <a:solidFill>
                  <a:srgbClr val="17364A"/>
                </a:solidFill>
                <a:latin typeface="Aptos"/>
              </a:defRPr>
            </a:pPr>
            <a:r>
              <a:t>H2 nicht gestützt: absolut gleicher Effekt (+0,21 Min.), relativ bei der Bahn eher stärker</a:t>
            </a:r>
          </a:p>
        </p:txBody>
      </p:sp>
      <p:sp>
        <p:nvSpPr>
          <p:cNvPr id="9" name="TextBox 8"/>
          <p:cNvSpPr txBox="1"/>
          <p:nvPr/>
        </p:nvSpPr>
        <p:spPr>
          <a:xfrm>
            <a:off x="502920" y="5897880"/>
            <a:ext cx="10972800" cy="320040"/>
          </a:xfrm>
          <a:prstGeom prst="rect">
            <a:avLst/>
          </a:prstGeom>
          <a:noFill/>
        </p:spPr>
        <p:txBody>
          <a:bodyPr wrap="square">
            <a:spAutoFit/>
          </a:bodyPr>
          <a:lstStyle/>
          <a:p>
            <a:pPr>
              <a:spcAft>
                <a:spcPts val="1200"/>
              </a:spcAft>
              <a:defRPr sz="1500" b="0">
                <a:solidFill>
                  <a:srgbClr val="53616B"/>
                </a:solidFill>
                <a:latin typeface="Aptos"/>
              </a:defRPr>
            </a:pPr>
            <a:r>
              <a:t>Abgestuft trocken → mässig → stark: Bus 1,45 → 1,61 → 1,69 Min. · Bahn 0,83 → 1,04 → 1,07 Min. (H1-Test: stark gegen sonst)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9" name="Picture 8" descr="hintergrund_inhalt.png"/>
          <p:cNvPicPr>
            <a:picLocks noChangeAspect="1"/>
          </p:cNvPicPr>
          <p:nvPr/>
        </p:nvPicPr>
        <p:blipFill>
          <a:blip r:embed="rId4"/>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H3: Die Hauptverkehrszeit verstärkt den Effekt nicht</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Enis · Paket C | Quellen: MeteoSchweiz (2026), SBB/SKI (2026), swisstopo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16</a:t>
            </a:r>
          </a:p>
        </p:txBody>
      </p:sp>
      <p:pic>
        <p:nvPicPr>
          <p:cNvPr id="6" name="Picture 5" descr="wetter_hvz.png"/>
          <p:cNvPicPr>
            <a:picLocks noChangeAspect="1"/>
          </p:cNvPicPr>
          <p:nvPr/>
        </p:nvPicPr>
        <p:blipFill>
          <a:blip r:embed="rId2"/>
          <a:stretch>
            <a:fillRect/>
          </a:stretch>
        </p:blipFill>
        <p:spPr>
          <a:xfrm>
            <a:off x="502920" y="1280160"/>
            <a:ext cx="7635240" cy="4362994"/>
          </a:xfrm>
          <a:prstGeom prst="rect">
            <a:avLst/>
          </a:prstGeom>
        </p:spPr>
      </p:pic>
      <p:sp>
        <p:nvSpPr>
          <p:cNvPr id="7" name="TextBox 6"/>
          <p:cNvSpPr txBox="1"/>
          <p:nvPr/>
        </p:nvSpPr>
        <p:spPr>
          <a:xfrm>
            <a:off x="8366760" y="1508760"/>
            <a:ext cx="3291840" cy="3474720"/>
          </a:xfrm>
          <a:prstGeom prst="rect">
            <a:avLst/>
          </a:prstGeom>
          <a:noFill/>
        </p:spPr>
        <p:txBody>
          <a:bodyPr wrap="square">
            <a:spAutoFit/>
          </a:bodyPr>
          <a:lstStyle/>
          <a:p>
            <a:pPr>
              <a:spcAft>
                <a:spcPts val="1200"/>
              </a:spcAft>
              <a:defRPr sz="2200" b="0">
                <a:solidFill>
                  <a:srgbClr val="17364A"/>
                </a:solidFill>
                <a:latin typeface="Aptos"/>
              </a:defRPr>
            </a:pPr>
            <a:r>
              <a:t>Wettereffekt stark vs, sonst:</a:t>
            </a:r>
          </a:p>
          <a:p>
            <a:pPr>
              <a:spcAft>
                <a:spcPts val="1200"/>
              </a:spcAft>
              <a:defRPr sz="2200" b="0">
                <a:solidFill>
                  <a:srgbClr val="17364A"/>
                </a:solidFill>
                <a:latin typeface="Aptos"/>
              </a:defRPr>
            </a:pPr>
            <a:r>
              <a:t>HVZ: +0,208 Minuten</a:t>
            </a:r>
          </a:p>
          <a:p>
            <a:pPr>
              <a:spcAft>
                <a:spcPts val="1200"/>
              </a:spcAft>
              <a:defRPr sz="2200" b="0">
                <a:solidFill>
                  <a:srgbClr val="17364A"/>
                </a:solidFill>
                <a:latin typeface="Aptos"/>
              </a:defRPr>
            </a:pPr>
            <a:r>
              <a:t>NVZ: +0,268 Minuten</a:t>
            </a:r>
          </a:p>
          <a:p>
            <a:pPr>
              <a:spcAft>
                <a:spcPts val="1200"/>
              </a:spcAft>
              <a:defRPr sz="2200" b="0">
                <a:solidFill>
                  <a:srgbClr val="17364A"/>
                </a:solidFill>
                <a:latin typeface="Aptos"/>
              </a:defRPr>
            </a:pPr>
            <a:r>
              <a:t>Interaktion: -0,060 Minuten</a:t>
            </a:r>
          </a:p>
          <a:p>
            <a:pPr>
              <a:spcAft>
                <a:spcPts val="1200"/>
              </a:spcAft>
              <a:defRPr sz="2200" b="0">
                <a:solidFill>
                  <a:srgbClr val="17364A"/>
                </a:solidFill>
                <a:latin typeface="Aptos"/>
              </a:defRPr>
            </a:pPr>
            <a:r>
              <a:t>H3 nicht gestützt</a:t>
            </a:r>
          </a:p>
        </p:txBody>
      </p:sp>
      <p:sp>
        <p:nvSpPr>
          <p:cNvPr id="8" name="TextBox 7"/>
          <p:cNvSpPr txBox="1"/>
          <p:nvPr/>
        </p:nvSpPr>
        <p:spPr>
          <a:xfrm>
            <a:off x="502920" y="5852160"/>
            <a:ext cx="10972800" cy="365760"/>
          </a:xfrm>
          <a:prstGeom prst="rect">
            <a:avLst/>
          </a:prstGeom>
          <a:noFill/>
        </p:spPr>
        <p:txBody>
          <a:bodyPr wrap="square">
            <a:spAutoFit/>
          </a:bodyPr>
          <a:lstStyle/>
          <a:p>
            <a:pPr>
              <a:spcAft>
                <a:spcPts val="1200"/>
              </a:spcAft>
              <a:defRPr sz="2100" b="1">
                <a:solidFill>
                  <a:srgbClr val="167D8D"/>
                </a:solidFill>
                <a:latin typeface="Aptos"/>
              </a:defRPr>
            </a:pPr>
            <a:r>
              <a:t>Höheres Verspätungsniveau in der HVZ ≠ stärkerer Wettereffekt.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9" name="Picture 8"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Ein kleiner Zusammenhang – mit klaren Grenzen</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Enis · Paket C | Quellen: MeteoSchweiz (2026), SBB/SKI (2026), swisstopo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17</a:t>
            </a:r>
          </a:p>
        </p:txBody>
      </p:sp>
      <p:sp>
        <p:nvSpPr>
          <p:cNvPr id="6" name="TextBox 5"/>
          <p:cNvSpPr txBox="1"/>
          <p:nvPr/>
        </p:nvSpPr>
        <p:spPr>
          <a:xfrm>
            <a:off x="502920" y="1280160"/>
            <a:ext cx="5394960" cy="3383280"/>
          </a:xfrm>
          <a:prstGeom prst="rect">
            <a:avLst/>
          </a:prstGeom>
          <a:noFill/>
        </p:spPr>
        <p:txBody>
          <a:bodyPr wrap="square">
            <a:spAutoFit/>
          </a:bodyPr>
          <a:lstStyle/>
          <a:p>
            <a:pPr>
              <a:spcAft>
                <a:spcPts val="1200"/>
              </a:spcAft>
              <a:defRPr sz="2100" b="0">
                <a:solidFill>
                  <a:srgbClr val="17364A"/>
                </a:solidFill>
                <a:latin typeface="Aptos"/>
              </a:defRPr>
            </a:pPr>
            <a:r>
              <a:t>Beobachteter Zusammenhang, keine Kausalität</a:t>
            </a:r>
          </a:p>
          <a:p>
            <a:pPr>
              <a:spcAft>
                <a:spcPts val="1200"/>
              </a:spcAft>
              <a:defRPr sz="2100" b="0">
                <a:solidFill>
                  <a:srgbClr val="17364A"/>
                </a:solidFill>
                <a:latin typeface="Aptos"/>
              </a:defRPr>
            </a:pPr>
            <a:r>
              <a:t>Nur ein Winterquartal; weitere Ursachen fehlen</a:t>
            </a:r>
          </a:p>
          <a:p>
            <a:pPr>
              <a:spcAft>
                <a:spcPts val="1200"/>
              </a:spcAft>
              <a:defRPr sz="2100" b="0">
                <a:solidFill>
                  <a:srgbClr val="17364A"/>
                </a:solidFill>
                <a:latin typeface="Aptos"/>
              </a:defRPr>
            </a:pPr>
            <a:r>
              <a:t>Halte derselben Fahrt sind nicht unabhängig</a:t>
            </a:r>
          </a:p>
          <a:p>
            <a:pPr>
              <a:spcAft>
                <a:spcPts val="1200"/>
              </a:spcAft>
              <a:defRPr sz="2100" b="0">
                <a:solidFill>
                  <a:srgbClr val="17364A"/>
                </a:solidFill>
                <a:latin typeface="Aptos"/>
              </a:defRPr>
            </a:pPr>
            <a:r>
              <a:t>Ausfälle ausgeschlossen: Effekt eher unterschätzt</a:t>
            </a:r>
          </a:p>
        </p:txBody>
      </p:sp>
      <p:sp>
        <p:nvSpPr>
          <p:cNvPr id="7" name="TextBox 6"/>
          <p:cNvSpPr txBox="1"/>
          <p:nvPr/>
        </p:nvSpPr>
        <p:spPr>
          <a:xfrm>
            <a:off x="6400800" y="1280160"/>
            <a:ext cx="5257800" cy="3383280"/>
          </a:xfrm>
          <a:prstGeom prst="rect">
            <a:avLst/>
          </a:prstGeom>
          <a:noFill/>
        </p:spPr>
        <p:txBody>
          <a:bodyPr wrap="square">
            <a:spAutoFit/>
          </a:bodyPr>
          <a:lstStyle/>
          <a:p>
            <a:pPr>
              <a:spcAft>
                <a:spcPts val="1200"/>
              </a:spcAft>
              <a:defRPr sz="2100" b="0">
                <a:solidFill>
                  <a:srgbClr val="17364A"/>
                </a:solidFill>
                <a:latin typeface="Aptos"/>
              </a:defRPr>
            </a:pPr>
            <a:r>
              <a:t>Wetterstation liegt nicht direkt am Halt</a:t>
            </a:r>
          </a:p>
          <a:p>
            <a:pPr>
              <a:spcAft>
                <a:spcPts val="1200"/>
              </a:spcAft>
              <a:defRPr sz="2100" b="0">
                <a:solidFill>
                  <a:srgbClr val="17364A"/>
                </a:solidFill>
                <a:latin typeface="Aptos"/>
              </a:defRPr>
            </a:pPr>
            <a:r>
              <a:t>Unterschiedliche REAL-Abdeckung bei Bahn und Bus</a:t>
            </a:r>
          </a:p>
          <a:p>
            <a:pPr>
              <a:spcAft>
                <a:spcPts val="1200"/>
              </a:spcAft>
              <a:defRPr sz="2100" b="0">
                <a:solidFill>
                  <a:srgbClr val="17364A"/>
                </a:solidFill>
                <a:latin typeface="Aptos"/>
              </a:defRPr>
            </a:pPr>
            <a:r>
              <a:t>Schneedecke und Frostniederschlag sind keine einheitliche Schneefallmessung</a:t>
            </a:r>
          </a:p>
          <a:p>
            <a:pPr>
              <a:spcAft>
                <a:spcPts val="1200"/>
              </a:spcAft>
              <a:defRPr sz="2100" b="0">
                <a:solidFill>
                  <a:srgbClr val="17364A"/>
                </a:solidFill>
                <a:latin typeface="Aptos"/>
              </a:defRPr>
            </a:pPr>
            <a:r>
              <a:t>47 Haltestellen ab ca. 1000 m ohne Station, gerade dort zählt Schnee</a:t>
            </a:r>
          </a:p>
        </p:txBody>
      </p:sp>
      <p:sp>
        <p:nvSpPr>
          <p:cNvPr id="8" name="TextBox 7"/>
          <p:cNvSpPr txBox="1"/>
          <p:nvPr/>
        </p:nvSpPr>
        <p:spPr>
          <a:xfrm>
            <a:off x="502920" y="5303520"/>
            <a:ext cx="10972800" cy="822960"/>
          </a:xfrm>
          <a:prstGeom prst="rect">
            <a:avLst/>
          </a:prstGeom>
          <a:noFill/>
        </p:spPr>
        <p:txBody>
          <a:bodyPr wrap="square">
            <a:spAutoFit/>
          </a:bodyPr>
          <a:lstStyle/>
          <a:p>
            <a:pPr>
              <a:spcAft>
                <a:spcPts val="1200"/>
              </a:spcAft>
              <a:defRPr sz="2300" b="1">
                <a:solidFill>
                  <a:srgbClr val="167D8D"/>
                </a:solidFill>
                <a:latin typeface="Aptos"/>
              </a:defRPr>
            </a:pPr>
            <a:r>
              <a:t>Für Teil 2 vorbereitet: bereinigte Halte + Stundenaggregation</a:t>
            </a:r>
          </a:p>
          <a:p>
            <a:pPr>
              <a:spcAft>
                <a:spcPts val="1200"/>
              </a:spcAft>
              <a:defRPr sz="2300" b="1">
                <a:solidFill>
                  <a:srgbClr val="167D8D"/>
                </a:solidFill>
                <a:latin typeface="Aptos"/>
              </a:defRPr>
            </a:pPr>
            <a:r>
              <a:t>Nachvollziehbar in ausgeführten Notebooks und DuckDB/Parquet.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16" name="Picture 15" descr="hintergrund_inhal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Ausblick: Teil 2</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18</a:t>
            </a:r>
          </a:p>
        </p:txBody>
      </p:sp>
      <p:sp>
        <p:nvSpPr>
          <p:cNvPr id="6" name="Rounded Rectangle 5"/>
          <p:cNvSpPr/>
          <p:nvPr/>
        </p:nvSpPr>
        <p:spPr>
          <a:xfrm>
            <a:off x="502920" y="1371600"/>
            <a:ext cx="361188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00200"/>
            <a:ext cx="3200400" cy="548640"/>
          </a:xfrm>
          <a:prstGeom prst="rect">
            <a:avLst/>
          </a:prstGeom>
          <a:noFill/>
        </p:spPr>
        <p:txBody>
          <a:bodyPr wrap="square">
            <a:spAutoFit/>
          </a:bodyPr>
          <a:lstStyle/>
          <a:p>
            <a:pPr>
              <a:spcAft>
                <a:spcPts val="1200"/>
              </a:spcAft>
              <a:defRPr sz="2600" b="1" i="0">
                <a:solidFill>
                  <a:srgbClr val="167D8D"/>
                </a:solidFill>
                <a:latin typeface="Aptos"/>
              </a:defRPr>
            </a:pPr>
            <a:r>
              <a:t>Transformation</a:t>
            </a:r>
          </a:p>
        </p:txBody>
      </p:sp>
      <p:sp>
        <p:nvSpPr>
          <p:cNvPr id="8" name="TextBox 7"/>
          <p:cNvSpPr txBox="1"/>
          <p:nvPr/>
        </p:nvSpPr>
        <p:spPr>
          <a:xfrm>
            <a:off x="731520" y="2377440"/>
            <a:ext cx="3200400" cy="1737360"/>
          </a:xfrm>
          <a:prstGeom prst="rect">
            <a:avLst/>
          </a:prstGeom>
          <a:noFill/>
        </p:spPr>
        <p:txBody>
          <a:bodyPr wrap="square">
            <a:spAutoFit/>
          </a:bodyPr>
          <a:lstStyle/>
          <a:p>
            <a:pPr>
              <a:spcAft>
                <a:spcPts val="1200"/>
              </a:spcAft>
              <a:defRPr sz="2000" b="0" i="0">
                <a:solidFill>
                  <a:srgbClr val="17364A"/>
                </a:solidFill>
                <a:latin typeface="Aptos"/>
              </a:defRPr>
            </a:pPr>
            <a:r>
              <a:t>Feedback aus Teil 1 einarbeiten, finale Antwort auf die Forschungsfrage</a:t>
            </a:r>
          </a:p>
        </p:txBody>
      </p:sp>
      <p:sp>
        <p:nvSpPr>
          <p:cNvPr id="9" name="Rounded Rectangle 8"/>
          <p:cNvSpPr/>
          <p:nvPr/>
        </p:nvSpPr>
        <p:spPr>
          <a:xfrm>
            <a:off x="4297680" y="1371600"/>
            <a:ext cx="361188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600200"/>
            <a:ext cx="3200400" cy="548640"/>
          </a:xfrm>
          <a:prstGeom prst="rect">
            <a:avLst/>
          </a:prstGeom>
          <a:noFill/>
        </p:spPr>
        <p:txBody>
          <a:bodyPr wrap="square">
            <a:spAutoFit/>
          </a:bodyPr>
          <a:lstStyle/>
          <a:p>
            <a:pPr>
              <a:spcAft>
                <a:spcPts val="1200"/>
              </a:spcAft>
              <a:defRPr sz="2600" b="1" i="0">
                <a:solidFill>
                  <a:srgbClr val="167D8D"/>
                </a:solidFill>
                <a:latin typeface="Aptos"/>
              </a:defRPr>
            </a:pPr>
            <a:r>
              <a:t>Serving</a:t>
            </a:r>
          </a:p>
        </p:txBody>
      </p:sp>
      <p:sp>
        <p:nvSpPr>
          <p:cNvPr id="11" name="TextBox 10"/>
          <p:cNvSpPr txBox="1"/>
          <p:nvPr/>
        </p:nvSpPr>
        <p:spPr>
          <a:xfrm>
            <a:off x="4526280" y="2377440"/>
            <a:ext cx="3200400" cy="1737360"/>
          </a:xfrm>
          <a:prstGeom prst="rect">
            <a:avLst/>
          </a:prstGeom>
          <a:noFill/>
        </p:spPr>
        <p:txBody>
          <a:bodyPr wrap="square">
            <a:spAutoFit/>
          </a:bodyPr>
          <a:lstStyle/>
          <a:p>
            <a:pPr>
              <a:spcAft>
                <a:spcPts val="1200"/>
              </a:spcAft>
              <a:defRPr sz="2000" b="0" i="0">
                <a:solidFill>
                  <a:srgbClr val="17364A"/>
                </a:solidFill>
                <a:latin typeface="Aptos"/>
              </a:defRPr>
            </a:pPr>
            <a:r>
              <a:t>Web-Dashboard mit Karte, Zeitreihen und Wetterfiltern</a:t>
            </a:r>
          </a:p>
        </p:txBody>
      </p:sp>
      <p:sp>
        <p:nvSpPr>
          <p:cNvPr id="12" name="Rounded Rectangle 11"/>
          <p:cNvSpPr/>
          <p:nvPr/>
        </p:nvSpPr>
        <p:spPr>
          <a:xfrm>
            <a:off x="8092440" y="1371600"/>
            <a:ext cx="361188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600200"/>
            <a:ext cx="3200400" cy="548640"/>
          </a:xfrm>
          <a:prstGeom prst="rect">
            <a:avLst/>
          </a:prstGeom>
          <a:noFill/>
        </p:spPr>
        <p:txBody>
          <a:bodyPr wrap="square">
            <a:spAutoFit/>
          </a:bodyPr>
          <a:lstStyle/>
          <a:p>
            <a:pPr>
              <a:spcAft>
                <a:spcPts val="1200"/>
              </a:spcAft>
              <a:defRPr sz="2600" b="1" i="0">
                <a:solidFill>
                  <a:srgbClr val="167D8D"/>
                </a:solidFill>
                <a:latin typeface="Aptos"/>
              </a:defRPr>
            </a:pPr>
            <a:r>
              <a:t>Skalierung</a:t>
            </a:r>
          </a:p>
        </p:txBody>
      </p:sp>
      <p:sp>
        <p:nvSpPr>
          <p:cNvPr id="14" name="TextBox 13"/>
          <p:cNvSpPr txBox="1"/>
          <p:nvPr/>
        </p:nvSpPr>
        <p:spPr>
          <a:xfrm>
            <a:off x="8321040" y="2377440"/>
            <a:ext cx="3200400" cy="1737360"/>
          </a:xfrm>
          <a:prstGeom prst="rect">
            <a:avLst/>
          </a:prstGeom>
          <a:noFill/>
        </p:spPr>
        <p:txBody>
          <a:bodyPr wrap="square">
            <a:spAutoFit/>
          </a:bodyPr>
          <a:lstStyle/>
          <a:p>
            <a:pPr>
              <a:spcAft>
                <a:spcPts val="1200"/>
              </a:spcAft>
              <a:defRPr sz="2000" b="0" i="0">
                <a:solidFill>
                  <a:srgbClr val="17364A"/>
                </a:solidFill>
                <a:latin typeface="Aptos"/>
              </a:defRPr>
            </a:pPr>
            <a:r>
              <a:t>Mehr Kantone, Deutschschweiz oder ganze Schweiz, falls die Pipeline stabil läuft</a:t>
            </a:r>
          </a:p>
        </p:txBody>
      </p:sp>
      <p:sp>
        <p:nvSpPr>
          <p:cNvPr id="15" name="TextBox 14"/>
          <p:cNvSpPr txBox="1"/>
          <p:nvPr/>
        </p:nvSpPr>
        <p:spPr>
          <a:xfrm>
            <a:off x="502920" y="4937760"/>
            <a:ext cx="11155680" cy="548640"/>
          </a:xfrm>
          <a:prstGeom prst="rect">
            <a:avLst/>
          </a:prstGeom>
          <a:noFill/>
        </p:spPr>
        <p:txBody>
          <a:bodyPr wrap="square">
            <a:spAutoFit/>
          </a:bodyPr>
          <a:lstStyle/>
          <a:p>
            <a:pPr>
              <a:spcAft>
                <a:spcPts val="1200"/>
              </a:spcAft>
              <a:defRPr sz="1900" b="1" i="0">
                <a:solidFill>
                  <a:srgbClr val="167D8D"/>
                </a:solidFill>
                <a:latin typeface="Aptos"/>
              </a:defRPr>
            </a:pPr>
            <a:r>
              <a:t>Fragen und Diskussion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13" name="Picture 12" descr="hintergrund_inhalt.png"/>
          <p:cNvPicPr>
            <a:picLocks noChangeAspect="1"/>
          </p:cNvPicPr>
          <p:nvPr/>
        </p:nvPicPr>
        <p:blipFill>
          <a:blip r:embed="rId8"/>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Quellen (Anhang)</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19</a:t>
            </a:r>
          </a:p>
        </p:txBody>
      </p:sp>
      <p:sp>
        <p:nvSpPr>
          <p:cNvPr id="6" name="TextBox 5"/>
          <p:cNvSpPr txBox="1"/>
          <p:nvPr/>
        </p:nvSpPr>
        <p:spPr>
          <a:xfrm>
            <a:off x="502920" y="1188720"/>
            <a:ext cx="11155680" cy="685800"/>
          </a:xfrm>
          <a:prstGeom prst="rect">
            <a:avLst/>
          </a:prstGeom>
          <a:noFill/>
        </p:spPr>
        <p:txBody>
          <a:bodyPr wrap="square">
            <a:spAutoFit/>
          </a:bodyPr>
          <a:lstStyle/>
          <a:p>
            <a:pPr>
              <a:spcAft>
                <a:spcPts val="200"/>
              </a:spcAft>
              <a:defRPr sz="1400" b="0" i="0">
                <a:solidFill>
                  <a:srgbClr val="17364A"/>
                </a:solidFill>
                <a:latin typeface="Aptos"/>
              </a:defRPr>
            </a:pPr>
            <a:r>
              <a:t>SBB AG, Geschäftsstelle Systemaufgaben Kundeninformation. (2026). Ist-Daten v2 [Datensatz]. Open-Data-Plattform Mobilität Schweiz.</a:t>
            </a:r>
          </a:p>
          <a:p>
            <a:pPr>
              <a:spcAft>
                <a:spcPts val="200"/>
              </a:spcAft>
              <a:defRPr sz="1400" b="0" i="0">
                <a:solidFill>
                  <a:srgbClr val="17364A"/>
                </a:solidFill>
                <a:latin typeface="Aptos"/>
              </a:defRPr>
            </a:pPr>
            <a:r>
              <a:rPr>
                <a:hlinkClick r:id="rId2"/>
              </a:rPr>
              <a:t>https://archive.opentransportdata.swiss/actual_data_archive.htm</a:t>
            </a:r>
          </a:p>
        </p:txBody>
      </p:sp>
      <p:sp>
        <p:nvSpPr>
          <p:cNvPr id="7" name="TextBox 6"/>
          <p:cNvSpPr txBox="1"/>
          <p:nvPr/>
        </p:nvSpPr>
        <p:spPr>
          <a:xfrm>
            <a:off x="502920" y="1920240"/>
            <a:ext cx="11155680" cy="685800"/>
          </a:xfrm>
          <a:prstGeom prst="rect">
            <a:avLst/>
          </a:prstGeom>
          <a:noFill/>
        </p:spPr>
        <p:txBody>
          <a:bodyPr wrap="square">
            <a:spAutoFit/>
          </a:bodyPr>
          <a:lstStyle/>
          <a:p>
            <a:pPr>
              <a:spcAft>
                <a:spcPts val="200"/>
              </a:spcAft>
              <a:defRPr sz="1400" b="0" i="0">
                <a:solidFill>
                  <a:srgbClr val="17364A"/>
                </a:solidFill>
                <a:latin typeface="Aptos"/>
              </a:defRPr>
            </a:pPr>
            <a:r>
              <a:t>SBB AG, Geschäftsstelle Systemaufgaben Kundeninformation. (2026). Fahrplan 2026 (GTFS) [Datensatz]. Open-Data-Plattform Mobilität Schweiz.</a:t>
            </a:r>
          </a:p>
          <a:p>
            <a:pPr>
              <a:spcAft>
                <a:spcPts val="200"/>
              </a:spcAft>
              <a:defRPr sz="1400" b="0" i="0">
                <a:solidFill>
                  <a:srgbClr val="17364A"/>
                </a:solidFill>
                <a:latin typeface="Aptos"/>
              </a:defRPr>
            </a:pPr>
            <a:r>
              <a:rPr>
                <a:hlinkClick r:id="rId3"/>
              </a:rPr>
              <a:t>https://archive.opentransportdata.swiss/timetable_gtfs.htm</a:t>
            </a:r>
          </a:p>
        </p:txBody>
      </p:sp>
      <p:sp>
        <p:nvSpPr>
          <p:cNvPr id="8" name="TextBox 7"/>
          <p:cNvSpPr txBox="1"/>
          <p:nvPr/>
        </p:nvSpPr>
        <p:spPr>
          <a:xfrm>
            <a:off x="502920" y="2651760"/>
            <a:ext cx="11155680" cy="685800"/>
          </a:xfrm>
          <a:prstGeom prst="rect">
            <a:avLst/>
          </a:prstGeom>
          <a:noFill/>
        </p:spPr>
        <p:txBody>
          <a:bodyPr wrap="square">
            <a:spAutoFit/>
          </a:bodyPr>
          <a:lstStyle/>
          <a:p>
            <a:pPr>
              <a:spcAft>
                <a:spcPts val="200"/>
              </a:spcAft>
              <a:defRPr sz="1400" b="0" i="0">
                <a:solidFill>
                  <a:srgbClr val="17364A"/>
                </a:solidFill>
                <a:latin typeface="Aptos"/>
              </a:defRPr>
            </a:pPr>
            <a:r>
              <a:t>Bundesamt für Landestopografie swisstopo. (2026). swissBOUNDARIES3D [Datensatz].</a:t>
            </a:r>
          </a:p>
          <a:p>
            <a:pPr>
              <a:spcAft>
                <a:spcPts val="200"/>
              </a:spcAft>
              <a:defRPr sz="1400" b="0" i="0">
                <a:solidFill>
                  <a:srgbClr val="17364A"/>
                </a:solidFill>
                <a:latin typeface="Aptos"/>
              </a:defRPr>
            </a:pPr>
            <a:r>
              <a:rPr>
                <a:hlinkClick r:id="rId4"/>
              </a:rPr>
              <a:t>https://www.swisstopo.admin.ch</a:t>
            </a:r>
          </a:p>
        </p:txBody>
      </p:sp>
      <p:sp>
        <p:nvSpPr>
          <p:cNvPr id="9" name="TextBox 8"/>
          <p:cNvSpPr txBox="1"/>
          <p:nvPr/>
        </p:nvSpPr>
        <p:spPr>
          <a:xfrm>
            <a:off x="502920" y="3383280"/>
            <a:ext cx="11155680" cy="685800"/>
          </a:xfrm>
          <a:prstGeom prst="rect">
            <a:avLst/>
          </a:prstGeom>
          <a:noFill/>
        </p:spPr>
        <p:txBody>
          <a:bodyPr wrap="square">
            <a:spAutoFit/>
          </a:bodyPr>
          <a:lstStyle/>
          <a:p>
            <a:pPr>
              <a:spcAft>
                <a:spcPts val="200"/>
              </a:spcAft>
              <a:defRPr sz="1400" b="0" i="0">
                <a:solidFill>
                  <a:srgbClr val="17364A"/>
                </a:solidFill>
                <a:latin typeface="Aptos"/>
              </a:defRPr>
            </a:pPr>
            <a:r>
              <a:t>SBB AG. (o. J.). So misst die SBB die Pünktlichkeit [Webseite].</a:t>
            </a:r>
          </a:p>
          <a:p>
            <a:pPr>
              <a:spcAft>
                <a:spcPts val="200"/>
              </a:spcAft>
              <a:defRPr sz="1400" b="0" i="0">
                <a:solidFill>
                  <a:srgbClr val="17364A"/>
                </a:solidFill>
                <a:latin typeface="Aptos"/>
              </a:defRPr>
            </a:pPr>
            <a:r>
              <a:rPr>
                <a:hlinkClick r:id="rId5"/>
              </a:rPr>
              <a:t>https://company.sbb.ch/de/unternehmen/verantwortung/kunden/puenktlichkeit.html</a:t>
            </a:r>
          </a:p>
        </p:txBody>
      </p:sp>
      <p:sp>
        <p:nvSpPr>
          <p:cNvPr id="10" name="TextBox 9"/>
          <p:cNvSpPr txBox="1"/>
          <p:nvPr/>
        </p:nvSpPr>
        <p:spPr>
          <a:xfrm>
            <a:off x="502920" y="4114800"/>
            <a:ext cx="11155680" cy="685800"/>
          </a:xfrm>
          <a:prstGeom prst="rect">
            <a:avLst/>
          </a:prstGeom>
          <a:noFill/>
        </p:spPr>
        <p:txBody>
          <a:bodyPr wrap="square">
            <a:spAutoFit/>
          </a:bodyPr>
          <a:lstStyle/>
          <a:p>
            <a:pPr>
              <a:spcAft>
                <a:spcPts val="200"/>
              </a:spcAft>
              <a:defRPr sz="1400" b="0" i="0">
                <a:solidFill>
                  <a:srgbClr val="17364A"/>
                </a:solidFill>
                <a:latin typeface="Aptos"/>
              </a:defRPr>
            </a:pPr>
            <a:r>
              <a:t>DuckDB Foundation. (2026). DuckDB documentation.</a:t>
            </a:r>
          </a:p>
          <a:p>
            <a:pPr>
              <a:spcAft>
                <a:spcPts val="200"/>
              </a:spcAft>
              <a:defRPr sz="1400" b="0" i="0">
                <a:solidFill>
                  <a:srgbClr val="17364A"/>
                </a:solidFill>
                <a:latin typeface="Aptos"/>
              </a:defRPr>
            </a:pPr>
            <a:r>
              <a:rPr>
                <a:hlinkClick r:id="rId6"/>
              </a:rPr>
              <a:t>https://duckdb.org/docs/</a:t>
            </a:r>
          </a:p>
        </p:txBody>
      </p:sp>
      <p:sp>
        <p:nvSpPr>
          <p:cNvPr id="11" name="TextBox 10"/>
          <p:cNvSpPr txBox="1"/>
          <p:nvPr/>
        </p:nvSpPr>
        <p:spPr>
          <a:xfrm>
            <a:off x="502920" y="4846320"/>
            <a:ext cx="11155680" cy="685800"/>
          </a:xfrm>
          <a:prstGeom prst="rect">
            <a:avLst/>
          </a:prstGeom>
          <a:noFill/>
        </p:spPr>
        <p:txBody>
          <a:bodyPr wrap="square">
            <a:spAutoFit/>
          </a:bodyPr>
          <a:lstStyle/>
          <a:p>
            <a:pPr>
              <a:spcAft>
                <a:spcPts val="200"/>
              </a:spcAft>
              <a:defRPr sz="1400" b="0" i="0">
                <a:solidFill>
                  <a:srgbClr val="17364A"/>
                </a:solidFill>
                <a:latin typeface="Aptos"/>
              </a:defRPr>
            </a:pPr>
            <a:r>
              <a:t>Reis, J., &amp; Housley, M. (2022). Fundamentals of data engineering. O’Reilly Media.</a:t>
            </a:r>
          </a:p>
        </p:txBody>
      </p:sp>
      <p:sp>
        <p:nvSpPr>
          <p:cNvPr id="12" name="TextBox 11"/>
          <p:cNvSpPr txBox="1"/>
          <p:nvPr/>
        </p:nvSpPr>
        <p:spPr>
          <a:xfrm>
            <a:off x="502920" y="5577840"/>
            <a:ext cx="11155680" cy="685800"/>
          </a:xfrm>
          <a:prstGeom prst="rect">
            <a:avLst/>
          </a:prstGeom>
          <a:noFill/>
        </p:spPr>
        <p:txBody>
          <a:bodyPr wrap="square">
            <a:spAutoFit/>
          </a:bodyPr>
          <a:lstStyle/>
          <a:p>
            <a:pPr>
              <a:spcAft>
                <a:spcPts val="200"/>
              </a:spcAft>
              <a:defRPr sz="1400" b="0" i="0">
                <a:solidFill>
                  <a:srgbClr val="17364A"/>
                </a:solidFill>
                <a:latin typeface="Aptos"/>
              </a:defRPr>
            </a:pPr>
            <a:r>
              <a:t>Weitere Quellen (MeteoSchweiz, swisstopo Höhendienst, SciPy, statsmodels): siehe Folie Quellen von Paket C und README.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10" name="Picture 9" descr="hintergrund_inhalt.png"/>
          <p:cNvPicPr>
            <a:picLocks noChangeAspect="1"/>
          </p:cNvPicPr>
          <p:nvPr/>
        </p:nvPicPr>
        <p:blipFill>
          <a:blip r:embed="rId7"/>
          <a:stretch>
            <a:fillRect/>
          </a:stretch>
        </p:blipFill>
        <p:spPr>
          <a:xfrm>
            <a:off x="0" y="0"/>
            <a:ext cx="12191695" cy="6858000"/>
          </a:xfrm>
          <a:prstGeom prst="rect">
            <a:avLst/>
          </a:prstGeom>
        </p:spPr>
      </p:pic>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Quellen (Anhang)</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Enis · Paket C | Quellen: MeteoSchweiz (2026), SBB/SKI (2026), swisstopo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20</a:t>
            </a:r>
          </a:p>
        </p:txBody>
      </p:sp>
      <p:sp>
        <p:nvSpPr>
          <p:cNvPr id="6" name="TextBox 5"/>
          <p:cNvSpPr txBox="1"/>
          <p:nvPr/>
        </p:nvSpPr>
        <p:spPr>
          <a:xfrm>
            <a:off x="502920" y="1234440"/>
            <a:ext cx="11155680" cy="1005840"/>
          </a:xfrm>
          <a:prstGeom prst="rect">
            <a:avLst/>
          </a:prstGeom>
          <a:noFill/>
        </p:spPr>
        <p:txBody>
          <a:bodyPr wrap="square">
            <a:spAutoFit/>
          </a:bodyPr>
          <a:lstStyle/>
          <a:p>
            <a:pPr>
              <a:spcAft>
                <a:spcPts val="1200"/>
              </a:spcAft>
              <a:defRPr sz="1600" b="0">
                <a:solidFill>
                  <a:srgbClr val="17364A"/>
                </a:solidFill>
                <a:latin typeface="Aptos"/>
              </a:defRPr>
            </a:pPr>
            <a:r>
              <a:t>Bundesamt für Meteorologie und Klimatologie MeteoSchweiz. (2026). Automatische Wetterstationen: Messwerte [Datensatz]. Quelle: MeteoSchweiz.</a:t>
            </a:r>
          </a:p>
          <a:p>
            <a:pPr>
              <a:spcAft>
                <a:spcPts val="1200"/>
              </a:spcAft>
              <a:defRPr sz="1600" b="0">
                <a:solidFill>
                  <a:srgbClr val="17364A"/>
                </a:solidFill>
                <a:latin typeface="Aptos"/>
              </a:defRPr>
            </a:pPr>
            <a:r>
              <a:rPr>
                <a:hlinkClick r:id="rId2"/>
              </a:rPr>
              <a:t>https://data.geo.admin.ch/api/stac/v1/collections/ch.meteoschweiz.ogd-smn</a:t>
            </a:r>
          </a:p>
        </p:txBody>
      </p:sp>
      <p:sp>
        <p:nvSpPr>
          <p:cNvPr id="7" name="TextBox 6"/>
          <p:cNvSpPr txBox="1"/>
          <p:nvPr/>
        </p:nvSpPr>
        <p:spPr>
          <a:xfrm>
            <a:off x="502920" y="2404872"/>
            <a:ext cx="11155680" cy="1005840"/>
          </a:xfrm>
          <a:prstGeom prst="rect">
            <a:avLst/>
          </a:prstGeom>
          <a:noFill/>
        </p:spPr>
        <p:txBody>
          <a:bodyPr wrap="square">
            <a:spAutoFit/>
          </a:bodyPr>
          <a:lstStyle/>
          <a:p>
            <a:pPr>
              <a:spcAft>
                <a:spcPts val="1200"/>
              </a:spcAft>
              <a:defRPr sz="1600" b="0">
                <a:solidFill>
                  <a:srgbClr val="17364A"/>
                </a:solidFill>
                <a:latin typeface="Aptos"/>
              </a:defRPr>
            </a:pPr>
            <a:r>
              <a:t>SBB AG, Geschäftsstelle Systemaufgaben Kundeninformation. (2026). Ist-Daten v2 [Datensatz]. Open-Data-Plattform Mobilität Schweiz.</a:t>
            </a:r>
          </a:p>
          <a:p>
            <a:pPr>
              <a:spcAft>
                <a:spcPts val="1200"/>
              </a:spcAft>
              <a:defRPr sz="1600" b="0">
                <a:solidFill>
                  <a:srgbClr val="17364A"/>
                </a:solidFill>
                <a:latin typeface="Aptos"/>
              </a:defRPr>
            </a:pPr>
            <a:r>
              <a:rPr>
                <a:hlinkClick r:id="rId3"/>
              </a:rPr>
              <a:t>https://archive.opentransportdata.swiss/actual_data_archive.htm</a:t>
            </a:r>
          </a:p>
        </p:txBody>
      </p:sp>
      <p:sp>
        <p:nvSpPr>
          <p:cNvPr id="8" name="TextBox 7"/>
          <p:cNvSpPr txBox="1"/>
          <p:nvPr/>
        </p:nvSpPr>
        <p:spPr>
          <a:xfrm>
            <a:off x="502920" y="3575304"/>
            <a:ext cx="11155680" cy="1005840"/>
          </a:xfrm>
          <a:prstGeom prst="rect">
            <a:avLst/>
          </a:prstGeom>
          <a:noFill/>
        </p:spPr>
        <p:txBody>
          <a:bodyPr wrap="square">
            <a:spAutoFit/>
          </a:bodyPr>
          <a:lstStyle/>
          <a:p>
            <a:pPr>
              <a:spcAft>
                <a:spcPts val="1200"/>
              </a:spcAft>
              <a:defRPr sz="1600" b="0">
                <a:solidFill>
                  <a:srgbClr val="17364A"/>
                </a:solidFill>
                <a:latin typeface="Aptos"/>
              </a:defRPr>
            </a:pPr>
            <a:r>
              <a:t>Bundesamt für Landestopografie swisstopo. (2026). Height: GeoAdmin API [Höhendienst].</a:t>
            </a:r>
          </a:p>
          <a:p>
            <a:pPr>
              <a:spcAft>
                <a:spcPts val="1200"/>
              </a:spcAft>
              <a:defRPr sz="1600" b="0">
                <a:solidFill>
                  <a:srgbClr val="17364A"/>
                </a:solidFill>
                <a:latin typeface="Aptos"/>
              </a:defRPr>
            </a:pPr>
            <a:r>
              <a:rPr>
                <a:hlinkClick r:id="rId4"/>
              </a:rPr>
              <a:t>https://api3.geo.admin.ch/services/sdiservices.html#height</a:t>
            </a:r>
          </a:p>
        </p:txBody>
      </p:sp>
      <p:sp>
        <p:nvSpPr>
          <p:cNvPr id="9" name="TextBox 8"/>
          <p:cNvSpPr txBox="1"/>
          <p:nvPr/>
        </p:nvSpPr>
        <p:spPr>
          <a:xfrm>
            <a:off x="502920" y="4745736"/>
            <a:ext cx="11155680" cy="1005840"/>
          </a:xfrm>
          <a:prstGeom prst="rect">
            <a:avLst/>
          </a:prstGeom>
          <a:noFill/>
        </p:spPr>
        <p:txBody>
          <a:bodyPr wrap="square">
            <a:spAutoFit/>
          </a:bodyPr>
          <a:lstStyle/>
          <a:p>
            <a:pPr>
              <a:spcAft>
                <a:spcPts val="1200"/>
              </a:spcAft>
              <a:defRPr sz="1600" b="0">
                <a:solidFill>
                  <a:srgbClr val="17364A"/>
                </a:solidFill>
                <a:latin typeface="Aptos"/>
              </a:defRPr>
            </a:pPr>
            <a:r>
              <a:t>The SciPy community. (2026). scipy.stats.mannwhitneyu. Seabold, S., &amp; Perktold, J. (2010). Statsmodels: Econometric and statistical modeling with Python. Proceedings of the 9th Python in Science Conference.</a:t>
            </a:r>
          </a:p>
          <a:p>
            <a:pPr>
              <a:spcAft>
                <a:spcPts val="1200"/>
              </a:spcAft>
              <a:defRPr sz="1600" b="0">
                <a:solidFill>
                  <a:srgbClr val="17364A"/>
                </a:solidFill>
                <a:latin typeface="Aptos"/>
              </a:defRPr>
            </a:pPr>
            <a:r>
              <a:rPr>
                <a:hlinkClick r:id="rId5"/>
              </a:rPr>
              <a:t>https://www.statsmodels.org/stable/regression.html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Beeinflusst das Wetter die Pünktlichkeit des öV? (Gruppe 4)</dc:title>
  <dc:subject>Projektarbeit Teil 1, Data Engineering HS26</dc:subject>
  <dc:creator>Timon, Aladin, Enis · Gruppe 4</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